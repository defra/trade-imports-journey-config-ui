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109728" cy="210312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258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configuration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service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2788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1B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proposal: replace the field config service with commodity-keyed journey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1B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- executable as a specification of the journey itself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B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IPAFFS  ·  Replacing field config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am proposing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1005840"/>
          </a:xfrm>
          <a:prstGeom prst="rect">
            <a:avLst/>
          </a:prstGeom>
          <a:solidFill>
            <a:srgbClr val="00307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6128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11612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380744"/>
            <a:ext cx="7086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field config service -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service - or services - that holds commodity-code-keyed variance and the other reference data present on the journey. Journey-owned, normalised, versioned.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0428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23042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523744"/>
            <a:ext cx="7086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holistic, executable model of the journey -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executable specification that can be evaluated without traversing or building the journey - and that can drive the journey itself, mapping into implementation space via Server-Driven UI.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100584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337560"/>
            <a:ext cx="64008" cy="100584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4728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371600" y="34472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3666744"/>
            <a:ext cx="7086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this to the team to spike -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UI for live-animals configuration that allows very, VERY limited extension - using the obligation engine and journey maps to drive the journey.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follows is the evidence: the problem (why replace), journey config (what replaces it), and the obligation engine (how it executes).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config: what it was for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05156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16152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config is the JSON system driving the IPAFFS notification UI today. </a:t>
            </a:r>
            <a:pPr indent="0" marL="0">
              <a:buNone/>
            </a:pPr>
            <a:r>
              <a:rPr lang="en-US" sz="13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certificate type + commodity code it defines which pages appear, which fields each page shows, the allowed values, and the labels - so one frontend can serve thousands of regulatory combinations without bespoke forms.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988820" cy="141732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3,254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rows held in the database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83180" y="2423160"/>
            <a:ext cx="1988820" cy="141732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2" name="Text 10"/>
          <p:cNvSpPr/>
          <p:nvPr/>
        </p:nvSpPr>
        <p:spPr>
          <a:xfrm>
            <a:off x="2720340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286,591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2034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definitions across those rows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423160"/>
            <a:ext cx="1988820" cy="141732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incompatible structural patterns (IMP and CHED)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35140" y="2423160"/>
            <a:ext cx="1988820" cy="141732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8" name="Text 16"/>
          <p:cNvSpPr/>
          <p:nvPr/>
        </p:nvSpPr>
        <p:spPr>
          <a:xfrm>
            <a:off x="6972300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7230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journeys sharing those two patterns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14800"/>
            <a:ext cx="64008" cy="64008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6052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was right.</a:t>
            </a:r>
            <a:pPr indent="0" marL="0">
              <a:buNone/>
            </a:pPr>
            <a:r>
              <a:rPr lang="en-US" sz="12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Let services tailor their own journeys without bespoke frontends. The design failed and the implementation made it worse - the next slide catalogues how.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field config is an antipattern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" cy="86868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0515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Concerns conflated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Presentation, validation and journey logic share one blob. A "validation" change can re-route screens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051560"/>
            <a:ext cx="50292" cy="86868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8" name="Text 6"/>
          <p:cNvSpPr/>
          <p:nvPr/>
        </p:nvSpPr>
        <p:spPr>
          <a:xfrm>
            <a:off x="4828032" y="10515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duplication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Configs are 97-99% identical across CHED types. The variation is storage artefact, not business need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50292" cy="86868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20391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overrides: non-determinism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code lets any journey pretend to be another and reach in to borrow its configuration. The config-to-journey relationship is non-deterministic, and non-determinism is no use in config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1728" y="2039112"/>
            <a:ext cx="50292" cy="86868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20391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incompatible shapes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 is an object keyed by page; CHED an array of pages. Every consumer writes dual-path parsing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50292" cy="86868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302666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 data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47,491 components (16.6%) embed JavaScript strings as field values. No schema catches a rename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81728" y="3026664"/>
            <a:ext cx="50292" cy="86868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302666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redundancy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plants config ships ~85 internal-market variants although only one applies per notification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713232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069080"/>
            <a:ext cx="64008" cy="713232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14800"/>
            <a:ext cx="7818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through-line: </a:t>
            </a:r>
            <a:pPr indent="0" marL="0">
              <a:buNone/>
            </a:pPr>
            <a:r>
              <a:rPr lang="en-US" sz="1150" i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complexity that should have been rules over a small static structure was flattened into thousands of denormalised copies, while the genuinely dynamic parts leaked back into code. The costs of both approaches; the integrity guarantees of neither.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goal, delivered properly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28600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22860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80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source of truth per journey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structure, conditional logic and reference data live in one place, owned by the team that owns the journey. No overrides hiding in handler code; no separate service holding a slice of the form.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228600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97280"/>
            <a:ext cx="64008" cy="22860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280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configure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93008" y="2011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JSON for the data, one small resolver file for the logic, a directory per journey. No JavaScript strings as field values; no incompatible shapes; no per-config duplication.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228600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097280"/>
            <a:ext cx="64008" cy="22860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280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"Complete" is part of the configuration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27648" y="2011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notification is done is not computed somewhere else. The same configuration that says what a journey asks for also says what makes the answer enough.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703320"/>
            <a:ext cx="64008" cy="105156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803904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journey can be seen and tested without being built.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1B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plus a committed scenario set is enough to walk a journey end-to-end and verify every scenario evaluates to submittable. New journeys are reviewed and signed off through configuration and scenarios alone.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idea: collapse, then reason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65960" cy="29718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280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SCATTERED SOURCES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276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config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(thin defaults)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267712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Commodity-code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07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Reference-data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547872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478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logic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code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95728" y="2990088"/>
            <a:ext cx="512064" cy="0"/>
          </a:xfrm>
          <a:prstGeom prst="line">
            <a:avLst/>
          </a:prstGeom>
          <a:noFill/>
          <a:ln w="31750">
            <a:solidFill>
              <a:srgbClr val="00307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286000" y="26700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71800" y="2532888"/>
            <a:ext cx="1783080" cy="914400"/>
          </a:xfrm>
          <a:prstGeom prst="rect">
            <a:avLst/>
          </a:prstGeom>
          <a:solidFill>
            <a:srgbClr val="003078"/>
          </a:solidFill>
          <a:ln/>
        </p:spPr>
      </p:sp>
      <p:sp>
        <p:nvSpPr>
          <p:cNvPr id="18" name="Text 16"/>
          <p:cNvSpPr/>
          <p:nvPr/>
        </p:nvSpPr>
        <p:spPr>
          <a:xfrm>
            <a:off x="2971800" y="253288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(one per journey)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11887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11887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variance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pages appear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0" y="11887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1887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variance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fields appear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 flipH="1" flipV="1">
            <a:off x="3337560" y="2011680"/>
            <a:ext cx="182880" cy="475488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4206240" y="2011680"/>
            <a:ext cx="502920" cy="475488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703320" y="2084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2990088"/>
            <a:ext cx="548640" cy="0"/>
          </a:xfrm>
          <a:prstGeom prst="line">
            <a:avLst/>
          </a:prstGeom>
          <a:noFill/>
          <a:ln w="31750">
            <a:solidFill>
              <a:srgbClr val="0030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13248" y="2532888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D70B8"/>
          </a:solidFill>
          <a:ln/>
        </p:spPr>
      </p:sp>
      <p:sp>
        <p:nvSpPr>
          <p:cNvPr id="28" name="Text 26"/>
          <p:cNvSpPr/>
          <p:nvPr/>
        </p:nvSpPr>
        <p:spPr>
          <a:xfrm>
            <a:off x="5413248" y="2532888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engine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over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04888" y="2990088"/>
            <a:ext cx="530352" cy="0"/>
          </a:xfrm>
          <a:prstGeom prst="line">
            <a:avLst/>
          </a:prstGeom>
          <a:noFill/>
          <a:ln w="31750">
            <a:solidFill>
              <a:srgbClr val="00307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99248" y="2350008"/>
            <a:ext cx="1325880" cy="1280160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31" name="Text 29"/>
          <p:cNvSpPr/>
          <p:nvPr/>
        </p:nvSpPr>
        <p:spPr>
          <a:xfrm>
            <a:off x="7699248" y="2350008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submittability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scattered sources condense into a journey adapter - what the journey requires, what conditions apply, what reference data those conditions read. 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pure-function engine turns that configuration into understanding for any given notification.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configuration, two kinds of variance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88036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288036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variance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pages appear in the journey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35204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0848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CHEDPP GMS declaration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exists in configuration but fires only when a species on the notification has HMI regulatory authority and GMS marketing standard.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35204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9992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CHED-A CPH number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exists but fires only for high-risk-EU consignments.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3977640" cy="288036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1097280"/>
            <a:ext cx="64008" cy="288036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content variance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fields appear on a page already present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011680"/>
            <a:ext cx="35204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56632" y="20848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Animals: permanent address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only for species stored at a fixed place.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35204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56632" y="29992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Plants: variety and class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shown only when both varieties and quality classes are populated.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206240"/>
            <a:ext cx="64008" cy="59436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5196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obligations with optional conditions. </a:t>
            </a:r>
            <a:pPr indent="0" marL="0">
              <a:buNone/>
            </a:pPr>
            <a:r>
              <a:rPr lang="en-US" sz="12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configuration; two kinds of question; the same engine call answers both.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CONFIG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journey adapter is a directory of files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94960" cy="475488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obligations.json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77440" y="1216152"/>
            <a:ext cx="566928" cy="237744"/>
          </a:xfrm>
          <a:prstGeom prst="roundRect">
            <a:avLst>
              <a:gd name="adj" fmla="val 38462"/>
            </a:avLst>
          </a:prstGeom>
          <a:solidFill>
            <a:srgbClr val="00703C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21615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63240" y="10972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notification must contain, conditionally or not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5394960" cy="475488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642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journey.json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77440" y="1783080"/>
            <a:ext cx="566928" cy="237744"/>
          </a:xfrm>
          <a:prstGeom prst="roundRect">
            <a:avLst>
              <a:gd name="adj" fmla="val 38462"/>
            </a:avLst>
          </a:prstGeom>
          <a:solidFill>
            <a:srgbClr val="00703C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17830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16642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tree: sections → screens → fields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5394960" cy="475488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23113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refdata.json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77440" y="2350008"/>
            <a:ext cx="566928" cy="237744"/>
          </a:xfrm>
          <a:prstGeom prst="roundRect">
            <a:avLst>
              <a:gd name="adj" fmla="val 38462"/>
            </a:avLst>
          </a:prstGeom>
          <a:solidFill>
            <a:srgbClr val="00703C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63240" y="22311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Journey-private lookup tables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98064"/>
            <a:ext cx="5394960" cy="475488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79806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resolvers.js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77440" y="2916936"/>
            <a:ext cx="566928" cy="237744"/>
          </a:xfrm>
          <a:prstGeom prst="roundRect">
            <a:avLst>
              <a:gd name="adj" fmla="val 38462"/>
            </a:avLst>
          </a:prstGeom>
          <a:solidFill>
            <a:srgbClr val="F47738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2916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63240" y="27980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that read facts off a notification and apply tests against refdata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364992"/>
            <a:ext cx="5394960" cy="475488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649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566928" cy="237744"/>
          </a:xfrm>
          <a:prstGeom prst="roundRect">
            <a:avLst>
              <a:gd name="adj" fmla="val 38462"/>
            </a:avLst>
          </a:prstGeom>
          <a:solidFill>
            <a:srgbClr val="F47738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34838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33649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Assembles the adapter record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1097280"/>
            <a:ext cx="2560320" cy="224028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1097280"/>
            <a:ext cx="64008" cy="2240280"/>
          </a:xfrm>
          <a:prstGeom prst="rect">
            <a:avLst/>
          </a:prstGeom>
          <a:solidFill>
            <a:srgbClr val="003078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WORKING JOURNEYS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27648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eu-live-animals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27648" y="19293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obligations · 6 sections · 15 screens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27648" y="2468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chedpp-plants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27648" y="27706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obligations · 7 sections · 16 screens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2062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stays declarative; behaviour lives in code where it can be tested.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data files, one small resolver, one assembler - a journey, in one place.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CONFIG · JOURNEY.JSON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tree carries no logic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603504"/>
          </a:xfrm>
          <a:prstGeom prst="rect">
            <a:avLst/>
          </a:prstGeom>
          <a:solidFill>
            <a:srgbClr val="00307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map  </a:t>
            </a:r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sections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41832" y="1700784"/>
            <a:ext cx="0" cy="182880"/>
          </a:xfrm>
          <a:prstGeom prst="line">
            <a:avLst/>
          </a:prstGeom>
          <a:noFill/>
          <a:ln w="15875">
            <a:solidFill>
              <a:srgbClr val="505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83664"/>
            <a:ext cx="3337560" cy="603504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188366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 </a:t>
            </a:r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screens - one task on a task list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61872" y="2395728"/>
            <a:ext cx="0" cy="182880"/>
          </a:xfrm>
          <a:prstGeom prst="line">
            <a:avLst/>
          </a:prstGeom>
          <a:noFill/>
          <a:ln w="15875">
            <a:solidFill>
              <a:srgbClr val="505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578608"/>
            <a:ext cx="3017520" cy="603504"/>
          </a:xfrm>
          <a:prstGeom prst="rect">
            <a:avLst/>
          </a:prstGeom>
          <a:solidFill>
            <a:srgbClr val="4D94CB"/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257860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 </a:t>
            </a:r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fields - one form view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581912" y="3090672"/>
            <a:ext cx="0" cy="182880"/>
          </a:xfrm>
          <a:prstGeom prst="line">
            <a:avLst/>
          </a:prstGeom>
          <a:noFill/>
          <a:ln w="15875">
            <a:solidFill>
              <a:srgbClr val="505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3273552"/>
            <a:ext cx="2697480" cy="603504"/>
          </a:xfrm>
          <a:prstGeom prst="rect">
            <a:avLst/>
          </a:prstGeom>
          <a:solidFill>
            <a:srgbClr val="7FB2DC"/>
          </a:solidFill>
          <a:ln/>
        </p:spPr>
      </p:sp>
      <p:sp>
        <p:nvSpPr>
          <p:cNvPr id="15" name="Text 13"/>
          <p:cNvSpPr/>
          <p:nvPr/>
        </p:nvSpPr>
        <p:spPr>
          <a:xfrm>
            <a:off x="1581912" y="327355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 </a:t>
            </a:r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reference an obligation by id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4114800" cy="2377440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143000"/>
            <a:ext cx="64008" cy="237744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252728"/>
            <a:ext cx="376732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"screens": [{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"origin-screen",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"screenName": "Region of origin",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"fields": [{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"fieldName": "originCountry",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"fieldType": "text",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"label": "Country of origin",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D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"obligationRef": "consignment-origin"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obligationRef is what ties presentation to evaluation.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Hierarchy: each level nests inside the one above.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062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journey.json tells you what is on which screen and how screens group into sections - </a:t>
            </a:r>
            <a:pPr indent="0" marL="0"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whether anything is satisfied, conditional, or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CONFIG · OBLIGATIONS.JSON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Obligations: declarative requirements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22860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07008"/>
            <a:ext cx="376732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"consignment-origin",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"Region of origin",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"rationale": "Origin region drives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 regulatory regime.",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"schemaPaths": [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"origin.country",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"origin.region"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4930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Unconditional. </a:t>
            </a:r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every named path is populated on the notification, the obligation is satisfied.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64008" cy="22860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207008"/>
            <a:ext cx="358444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"transit-routing",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"Transit routing",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"schemaPaths": ["destination.exitBIP"],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D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"condition": 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"fact": "purposeGroup",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"test": "isTransit",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"Active when the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purpose group is a transit purpose."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3493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Conditional. </a:t>
            </a:r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names a fact (extractor) and a test (predicate) by string, resolved against resolvers.js at evaluation time.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062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id-string indirection is deliberate: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JSON files stay declarative; behaviour lives in code where it can be tested.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CONFIG · RESOLVERS.JS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Resolvers: facts and tests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983480" cy="3017520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301752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07008"/>
            <a:ext cx="463600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resolvers =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D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facts: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speciesForCommodity: (n) =&gt;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n?.commodities?.[0]?.species ?? null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D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tests: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requiresGmsDeclaration: (species, refdata) =&gt;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row = refdata.species[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`${species.code}|${species.eppoCode}`]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active =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row?.regulatory_authority === 'HMI' &amp;&amp;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row?.marketing_standard === 'GMS'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{ active, reason: ...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063240" cy="86868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9" name="Shape 7"/>
          <p:cNvSpPr/>
          <p:nvPr/>
        </p:nvSpPr>
        <p:spPr>
          <a:xfrm>
            <a:off x="5623560" y="1097280"/>
            <a:ext cx="64008" cy="86868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11704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(notification) → value. Extractors over the notification. Returning null defers the obligation - "not yet decidable".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2057400"/>
            <a:ext cx="3063240" cy="86868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623560" y="2057400"/>
            <a:ext cx="64008" cy="86868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21305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(factValue, refdata) → { active, reason }. The boolean drives activation; the reason surfaces in the trace.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23560" y="3017520"/>
            <a:ext cx="3063240" cy="109728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623560" y="3017520"/>
            <a:ext cx="64008" cy="109728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Combinators compose tests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· and · not · always · never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requiresOnwardRouting =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or(isTransit, isTranshipment)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composed purely through universal combinators stay kernel-portable; helpers that presuppose a refdata shape are journey-private by definition.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obligation engine: five functions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2316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7764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5486400" cy="475488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23160" y="14630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(notification, adapter)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77640" y="14630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obligations, summary 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938528"/>
            <a:ext cx="5486400" cy="475488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385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evaluateWithTrace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23160" y="1938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(notification, adapter)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77640" y="19385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above, with per-obligation trace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414016"/>
            <a:ext cx="5486400" cy="475488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140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resolveScreens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23160" y="24140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(result, journeyMap)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77640" y="24140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Screen[] with statuses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5486400" cy="475488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88950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rollUpToSections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23160" y="28895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(screens)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77640" y="28895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Section[] with statuses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364992"/>
            <a:ext cx="5486400" cy="475488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6499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combinators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2316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77640" y="33649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or, and, not, always, never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1097280"/>
            <a:ext cx="2468880" cy="621792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1097280"/>
            <a:ext cx="64008" cy="621792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11521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functions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side effects; same inputs, same answer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468880" cy="621792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1874520"/>
            <a:ext cx="64008" cy="621792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192938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@hapi/* imports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Machine-enforced by a module-graph test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2651760"/>
            <a:ext cx="2468880" cy="621792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0" y="2651760"/>
            <a:ext cx="64008" cy="621792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27066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600 lines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files plus types.js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3429000"/>
            <a:ext cx="2468880" cy="621792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7920" y="3429000"/>
            <a:ext cx="64008" cy="621792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40" name="Text 38"/>
          <p:cNvSpPr/>
          <p:nvPr/>
        </p:nvSpPr>
        <p:spPr>
          <a:xfrm>
            <a:off x="6382512" y="34838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Journey-agnostic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journey-specific code lives in engine/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library, not a framework: the engine treats the adapter's obligations, conditions and refdata as inter-related facts and answers questions about a notification.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statuses, one submission rule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91440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91440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26464"/>
            <a:ext cx="256032" cy="256032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1887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satisfied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required schemaPaths are populated on the notification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977640" cy="91440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097280"/>
            <a:ext cx="64008" cy="9144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426464"/>
            <a:ext cx="256032" cy="256032"/>
          </a:xfrm>
          <a:prstGeom prst="ellipse">
            <a:avLst/>
          </a:prstGeom>
          <a:solidFill>
            <a:srgbClr val="D4351C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11887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unsatisfied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required schemaPaths are missing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3977640" cy="91440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148840"/>
            <a:ext cx="64008" cy="914400"/>
          </a:xfrm>
          <a:prstGeom prst="rect">
            <a:avLst/>
          </a:prstGeom>
          <a:solidFill>
            <a:srgbClr val="F477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78024"/>
            <a:ext cx="256032" cy="256032"/>
          </a:xfrm>
          <a:prstGeom prst="ellipse">
            <a:avLst/>
          </a:prstGeom>
          <a:solidFill>
            <a:srgbClr val="F47738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24028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Conditional, and the fact returned null - the rule doesn't yet know whether the obligation applies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2148840"/>
            <a:ext cx="3977640" cy="91440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2148840"/>
            <a:ext cx="64008" cy="914400"/>
          </a:xfrm>
          <a:prstGeom prst="rect">
            <a:avLst/>
          </a:prstGeom>
          <a:solidFill>
            <a:srgbClr val="505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0" y="2478024"/>
            <a:ext cx="256032" cy="256032"/>
          </a:xfrm>
          <a:prstGeom prst="ellipse">
            <a:avLst/>
          </a:prstGeom>
          <a:solidFill>
            <a:srgbClr val="505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224028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Conditional, and the test returned active: false - the obligation does not apply to this notification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383280"/>
            <a:ext cx="64008" cy="13716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493008"/>
            <a:ext cx="7772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notification is submittable when every obligation is satisfied or inactive.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1B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Unsatisfied and deferred obligations both block submission. The same evaluation that gates submission produces the data the task-list view consumes - drift between what is shown and what is accepted is structurally impossible.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evaluation runs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783080" cy="658368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schema-shaped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783080" cy="658368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requirements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1783080" cy="658368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+ tests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22192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1B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Refdata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tables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V="1">
            <a:off x="1344168" y="3584448"/>
            <a:ext cx="0" cy="201168"/>
          </a:xfrm>
          <a:prstGeom prst="line">
            <a:avLst/>
          </a:prstGeom>
          <a:noFill/>
          <a:ln w="15875">
            <a:solidFill>
              <a:srgbClr val="505A5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0" y="1563624"/>
            <a:ext cx="868680" cy="722376"/>
          </a:xfrm>
          <a:prstGeom prst="line">
            <a:avLst/>
          </a:prstGeom>
          <a:noFill/>
          <a:ln w="22225">
            <a:solidFill>
              <a:srgbClr val="0030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86000" y="2386584"/>
            <a:ext cx="868680" cy="82296"/>
          </a:xfrm>
          <a:prstGeom prst="line">
            <a:avLst/>
          </a:prstGeom>
          <a:noFill/>
          <a:ln w="22225">
            <a:solidFill>
              <a:srgbClr val="0030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2286000" y="2697480"/>
            <a:ext cx="868680" cy="512064"/>
          </a:xfrm>
          <a:prstGeom prst="line">
            <a:avLst/>
          </a:prstGeom>
          <a:noFill/>
          <a:ln w="22225">
            <a:solidFill>
              <a:srgbClr val="0030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46120" y="2057400"/>
            <a:ext cx="1600200" cy="914400"/>
          </a:xfrm>
          <a:prstGeom prst="roundRect">
            <a:avLst>
              <a:gd name="adj" fmla="val 15000"/>
            </a:avLst>
          </a:prstGeom>
          <a:solidFill>
            <a:srgbClr val="1D70B8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2057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function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92040" y="2514600"/>
            <a:ext cx="548640" cy="0"/>
          </a:xfrm>
          <a:prstGeom prst="line">
            <a:avLst/>
          </a:prstGeom>
          <a:noFill/>
          <a:ln w="28575">
            <a:solidFill>
              <a:srgbClr val="0030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32120" y="1188720"/>
            <a:ext cx="3246120" cy="2697480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21" name="Shape 19"/>
          <p:cNvSpPr/>
          <p:nvPr/>
        </p:nvSpPr>
        <p:spPr>
          <a:xfrm>
            <a:off x="5532120" y="1188720"/>
            <a:ext cx="64008" cy="269748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2" name="Text 20"/>
          <p:cNvSpPr/>
          <p:nvPr/>
        </p:nvSpPr>
        <p:spPr>
          <a:xfrm>
            <a:off x="5733288" y="1298448"/>
            <a:ext cx="2898648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D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EvaluationResult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notification-type     satisfied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8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consignment-origin    unsatisfied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8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missing: origin.region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transit-routing       inactive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 a transit purpose"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animal-identification deferred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"commodity not yet provided"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8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legal-declaration     unsatisfied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D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satisfied 1 · unsatisfied 2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deferred 1 · inactive 1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28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submittable: false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obligation gets a status and a reason; the trace shows its working.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obligation statuses to a task 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resolveScreens - first matching rule wins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77840" cy="347472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Predicate over the screen's obligations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06240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status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5577840" cy="512064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1907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field's obligation is unsatisfied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837944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D4351C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8379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incomplete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5577840" cy="512064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3113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unsatisfied, any is deferred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2350008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F47738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2350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cannotStartYet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5577840" cy="512064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432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referenced obligation is inactive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286207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505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2862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notApplicable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55264"/>
            <a:ext cx="5577840" cy="512064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5526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- all satisfied, or satisfied + inactive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3374136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00703C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33741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1371600"/>
            <a:ext cx="2377440" cy="2395728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1371600"/>
            <a:ext cx="64008" cy="2395728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50876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rollUpToSections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screens by section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drops notApplicable screens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omits all-notApplicable sections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rolls status by the same first-match discipline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069080"/>
            <a:ext cx="64008" cy="658368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1148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that comes back is what the task-list view renders directly.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follows the engine's output; it does not gate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CONFIG · REFDATA.JSON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Refdata: collapsed into small JSON files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41732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61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× species pairs in the upstream commodity-code microservice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41732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61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5,321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entries actually shipped - only the pairs carrying marketing-standards variance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41732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261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source carried no journey variance: PHSI-only pairs are represented by absence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3977640" cy="123444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788920"/>
            <a:ext cx="64008" cy="123444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0779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 cannot read refdata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passes refdata to resolver functions opaquely. It has no idea what regulatory_authority means - only the journey's tests do.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3977640" cy="123444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2788920"/>
            <a:ext cx="64008" cy="123444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90779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Refdata is journey-private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journeys cannot accidentally couple through shared reference data. Cross-journey state is structurally impossible.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Animals: a routing table keyed by commodity|species with flags driving conditional obligations. Plants: two maps - 521 commodities, 5,321 species entries.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Refdata, facts, tests, obligations - to variance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554480" cy="713232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condition: {fact, test}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1554480" cy="5486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9568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at hand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1554480" cy="105156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697480"/>
            <a:ext cx="64008" cy="105156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706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Refdata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journey-private tables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species[code|eppo] →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 · standard ·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varieties · classes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1051560"/>
            <a:ext cx="3931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70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1161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ENGINE · PURE FUNCTIONS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1600200"/>
            <a:ext cx="1143000" cy="10058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682496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Resolve fact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off the notification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speciesFor…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1600200"/>
            <a:ext cx="1143000" cy="10058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682496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Apply test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value × refdata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requiresGms…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1600200"/>
            <a:ext cx="1143000" cy="10058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682496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Decide status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active? paths filled?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003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obligation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2103120"/>
            <a:ext cx="109728" cy="0"/>
          </a:xfrm>
          <a:prstGeom prst="line">
            <a:avLst/>
          </a:prstGeom>
          <a:noFill/>
          <a:ln w="19050">
            <a:solidFill>
              <a:srgbClr val="505A5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00600" y="2103120"/>
            <a:ext cx="109728" cy="0"/>
          </a:xfrm>
          <a:prstGeom prst="line">
            <a:avLst/>
          </a:prstGeom>
          <a:noFill/>
          <a:ln w="19050">
            <a:solidFill>
              <a:srgbClr val="505A5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19456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 </a:t>
            </a:r>
            <a:pPr algn="ctr" indent="0" marL="0">
              <a:buNone/>
            </a:pPr>
            <a:r>
              <a:rPr lang="en-US" sz="950" b="1" dirty="0">
                <a:solidFill>
                  <a:srgbClr val="00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satisfied</a:t>
            </a:r>
            <a:pPr algn="ctr" indent="0" marL="0">
              <a:buNone/>
            </a:pPr>
            <a:r>
              <a:rPr lang="en-US" sz="95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ctr" indent="0" marL="0">
              <a:buNone/>
            </a:pPr>
            <a:r>
              <a:rPr lang="en-US" sz="950" b="1" dirty="0">
                <a:solidFill>
                  <a:srgbClr val="D43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unsatisfied</a:t>
            </a:r>
            <a:pPr algn="ctr" indent="0" marL="0">
              <a:buNone/>
            </a:pPr>
            <a:r>
              <a:rPr lang="en-US" sz="95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ctr" indent="0" marL="0">
              <a:buNone/>
            </a:pPr>
            <a:r>
              <a:rPr lang="en-US" sz="950" b="1" dirty="0">
                <a:solidFill>
                  <a:srgbClr val="F477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deferred</a:t>
            </a:r>
            <a:pPr algn="ctr" indent="0" marL="0">
              <a:buNone/>
            </a:pPr>
            <a:r>
              <a:rPr lang="en-US" sz="95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ctr" indent="0" marL="0">
              <a:buNone/>
            </a:pPr>
            <a:r>
              <a:rPr lang="en-US" sz="950" b="1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inactive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1371600"/>
            <a:ext cx="2377440" cy="86868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44475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variance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present or dropped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notApplicable → omitted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2743200"/>
            <a:ext cx="2377440" cy="96012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834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variance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shown when active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05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options: varieties · classes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920240" y="1371600"/>
            <a:ext cx="246888" cy="0"/>
          </a:xfrm>
          <a:prstGeom prst="line">
            <a:avLst/>
          </a:prstGeom>
          <a:noFill/>
          <a:ln w="19050">
            <a:solidFill>
              <a:srgbClr val="505A5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1920240" y="2103120"/>
            <a:ext cx="429768" cy="73152"/>
          </a:xfrm>
          <a:prstGeom prst="line">
            <a:avLst/>
          </a:prstGeom>
          <a:noFill/>
          <a:ln w="19050">
            <a:solidFill>
              <a:srgbClr val="505A5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920240" y="3200400"/>
            <a:ext cx="2304288" cy="0"/>
          </a:xfrm>
          <a:prstGeom prst="line">
            <a:avLst/>
          </a:prstGeom>
          <a:noFill/>
          <a:ln w="25400">
            <a:solidFill>
              <a:srgbClr val="1D70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4224528" y="2651760"/>
            <a:ext cx="0" cy="548640"/>
          </a:xfrm>
          <a:prstGeom prst="line">
            <a:avLst/>
          </a:prstGeom>
          <a:noFill/>
          <a:ln w="25400">
            <a:solidFill>
              <a:srgbClr val="1D70B8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2240280" y="29809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consulted by tests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1801368"/>
            <a:ext cx="246888" cy="0"/>
          </a:xfrm>
          <a:prstGeom prst="line">
            <a:avLst/>
          </a:prstGeom>
          <a:noFill/>
          <a:ln w="22225">
            <a:solidFill>
              <a:srgbClr val="505A5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26480" y="3218688"/>
            <a:ext cx="246888" cy="0"/>
          </a:xfrm>
          <a:prstGeom prst="line">
            <a:avLst/>
          </a:prstGeom>
          <a:noFill/>
          <a:ln w="22225">
            <a:solidFill>
              <a:srgbClr val="505A5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143000" y="3749040"/>
            <a:ext cx="0" cy="640080"/>
          </a:xfrm>
          <a:prstGeom prst="line">
            <a:avLst/>
          </a:prstGeom>
          <a:noFill/>
          <a:ln w="19050">
            <a:solidFill>
              <a:srgbClr val="1D70B8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143000" y="4389120"/>
            <a:ext cx="6446520" cy="0"/>
          </a:xfrm>
          <a:prstGeom prst="line">
            <a:avLst/>
          </a:prstGeom>
          <a:noFill/>
          <a:ln w="19050">
            <a:solidFill>
              <a:srgbClr val="1D70B8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7589520" y="3749040"/>
            <a:ext cx="0" cy="640080"/>
          </a:xfrm>
          <a:prstGeom prst="line">
            <a:avLst/>
          </a:prstGeom>
          <a:noFill/>
          <a:ln w="19050">
            <a:solidFill>
              <a:srgbClr val="1D70B8"/>
            </a:solidFill>
            <a:prstDash val="dash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3108960" y="4160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 the field options directly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45902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Refdata never drives variance directly: it informs tests, tests activate obligations, and the engine derives which pages and fields exist from obligation statuses. e.g. the species fact finds the refdata row (HMI + GMS) → the GMS-declaration obligation activates → the screen appears, its options filled from the same row.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frontend/backend seam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566160" cy="27432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- HOW STATE IS SHOWN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3108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1B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727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journey, task list, debug views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2322576"/>
            <a:ext cx="0" cy="219456"/>
          </a:xfrm>
          <a:prstGeom prst="line">
            <a:avLst/>
          </a:prstGeom>
          <a:noFill/>
          <a:ln w="15875">
            <a:solidFill>
              <a:srgbClr val="505A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2578608"/>
            <a:ext cx="3108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1B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7860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Nunjucks templates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GOV.UK Frontend components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01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page sequence, component selection, copy, layout. Never inspects the journey map directly.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12080" y="1097280"/>
            <a:ext cx="3566160" cy="2743200"/>
          </a:xfrm>
          <a:prstGeom prst="rect">
            <a:avLst/>
          </a:prstGeom>
          <a:solidFill>
            <a:srgbClr val="E8F0F7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207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- WHAT IS TRUE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0680" y="1572768"/>
            <a:ext cx="3108960" cy="713232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5727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· resolveScreens · rollUpToSections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2322576"/>
            <a:ext cx="0" cy="219456"/>
          </a:xfrm>
          <a:prstGeom prst="line">
            <a:avLst/>
          </a:prstGeom>
          <a:noFill/>
          <a:ln w="15875">
            <a:solidFill>
              <a:srgbClr val="00307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2578608"/>
            <a:ext cx="3108960" cy="713232"/>
          </a:xfrm>
          <a:prstGeom prst="rect">
            <a:avLst/>
          </a:prstGeom>
          <a:solidFill>
            <a:srgbClr val="003078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57860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adapters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 · journeyMap · refdata · resolvers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0680" y="3401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functions, no Hapi imports. Owns satisfaction, completeness, submittability.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50208" y="129844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journeyKey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77640" y="1783080"/>
            <a:ext cx="1188720" cy="0"/>
          </a:xfrm>
          <a:prstGeom prst="line">
            <a:avLst/>
          </a:prstGeom>
          <a:noFill/>
          <a:ln w="25400">
            <a:solidFill>
              <a:srgbClr val="0B0C0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3977640" y="2103120"/>
            <a:ext cx="1188720" cy="0"/>
          </a:xfrm>
          <a:prstGeom prst="line">
            <a:avLst/>
          </a:prstGeom>
          <a:noFill/>
          <a:ln w="25400">
            <a:solidFill>
              <a:srgbClr val="0B0C0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950208" y="221284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EvaluationResult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Screen[] · Section[]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069080"/>
            <a:ext cx="64008" cy="6858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1480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crossing the seam is exactly the engine's return types - nothing else. </a:t>
            </a:r>
            <a:pPr indent="0" marL="0">
              <a:buNone/>
            </a:pPr>
            <a:r>
              <a:rPr lang="en-US" sz="11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halves run in one process today; the seam is logical, not physical, so it could become an HTTP boundary without restructuring the engine.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spike, tomorrow's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7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SPIKE PROVES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" cy="566928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3716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two journeys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third adapter requires zero engine changes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50292" cy="566928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0299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is structurally impossible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driving the task list is the call gating submission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50292" cy="566928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6883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machine-enforced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 asserts the engine module graph has no @hapi/* dependency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46704"/>
            <a:ext cx="50292" cy="566928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3467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Refdata fits in small files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~6,000 plants entries derived from a 486K-pair source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005072"/>
            <a:ext cx="50292" cy="566928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40050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journey switching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picker swaps the active journey at request time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SERVICE ADDS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50292" cy="713232"/>
          </a:xfrm>
          <a:prstGeom prst="rect">
            <a:avLst/>
          </a:prstGeom>
          <a:solidFill>
            <a:srgbClr val="003078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3716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HTTP boundary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functions become a service API - no change to internals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50292" cy="713232"/>
          </a:xfrm>
          <a:prstGeom prst="rect">
            <a:avLst/>
          </a:prstGeom>
          <a:solidFill>
            <a:srgbClr val="003078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21945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registry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adapters loaded at deploy or runtime, not hardcoded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50292" cy="713232"/>
          </a:xfrm>
          <a:prstGeom prst="rect">
            <a:avLst/>
          </a:prstGeom>
          <a:solidFill>
            <a:srgbClr val="003078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30175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pin to a known schema; migrations stay explicit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840480"/>
            <a:ext cx="50292" cy="713232"/>
          </a:xfrm>
          <a:prstGeom prst="rect">
            <a:avLst/>
          </a:prstGeom>
          <a:solidFill>
            <a:srgbClr val="003078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38404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validator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Issue reports for adapter coherence rules, all in one pass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replacement story - and the ask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188720"/>
            <a:ext cx="3657600" cy="2057400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88720"/>
            <a:ext cx="64008" cy="20574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8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6276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1B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structure in one service; refdata in another; journey rules in handler code inside the notification frontend.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1B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 that crosses two of those concerns crosses two systems.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657600" cy="2057400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8" name="Shape 6"/>
          <p:cNvSpPr/>
          <p:nvPr/>
        </p:nvSpPr>
        <p:spPr>
          <a:xfrm>
            <a:off x="4709160" y="1188720"/>
            <a:ext cx="64008" cy="205740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THIS 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276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1B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rules and refdata co-located per journey behind one evaluation surface.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1B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this user see next, and what's required for submission?" is one call, not three.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7589520" cy="868680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474720"/>
            <a:ext cx="64008" cy="86868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spike: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1B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live-animals configuration UI allowing very, VERY limited extension - the obligation engine and journey maps driving the journey.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526280"/>
            <a:ext cx="109728" cy="41148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526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journey, one place to read. One engine call, one truth.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Journey configuration as a service</dc:title>
  <dc:subject>PptxGenJS Presentation</dc:subject>
  <dc:creator>Ben</dc:creator>
  <cp:lastModifiedBy>Ben</cp:lastModifiedBy>
  <cp:revision>1</cp:revision>
  <dcterms:created xsi:type="dcterms:W3CDTF">2026-06-04T15:38:01Z</dcterms:created>
  <dcterms:modified xsi:type="dcterms:W3CDTF">2026-06-04T15:38:01Z</dcterms:modified>
</cp:coreProperties>
</file>