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1" r:id="rId3"/>
    <p:sldId id="257" r:id="rId4"/>
    <p:sldId id="258" r:id="rId5"/>
    <p:sldId id="259" r:id="rId6"/>
    <p:sldId id="260" r:id="rId7"/>
    <p:sldId id="262" r:id="rId8"/>
    <p:sldId id="273" r:id="rId9"/>
    <p:sldId id="261" r:id="rId10"/>
    <p:sldId id="274" r:id="rId11"/>
    <p:sldId id="263" r:id="rId12"/>
    <p:sldId id="264" r:id="rId13"/>
    <p:sldId id="265" r:id="rId14"/>
    <p:sldId id="272" r:id="rId15"/>
    <p:sldId id="275" r:id="rId26"/>
    <p:sldId id="266" r:id="rId16"/>
    <p:sldId id="267" r:id="rId17"/>
    <p:sldId id="268" r:id="rId18"/>
    <p:sldId id="269" r:id="rId19"/>
    <p:sldId id="27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57"/>
    <p:restoredTop sz="94610"/>
  </p:normalViewPr>
  <p:slideViewPr>
    <p:cSldViewPr snapToGrid="0" snapToObjects="1">
      <p:cViewPr varScale="1">
        <p:scale>
          <a:sx n="155" d="100"/>
          <a:sy n="155" d="100"/>
        </p:scale>
        <p:origin x="600" y="19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6" Type="http://schemas.openxmlformats.org/officeDocument/2006/relationships/slide" Target="slides/slide2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9612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quick overview of IPAFFS. Callouts to:</a:t>
            </a:r>
          </a:p>
          <a:p>
            <a:endParaRPr lang="en-US" dirty="0"/>
          </a:p>
          <a:p>
            <a:r>
              <a:rPr lang="en-US" dirty="0"/>
              <a:t>Org Picker</a:t>
            </a:r>
          </a:p>
          <a:p>
            <a:r>
              <a:rPr lang="en-US" dirty="0"/>
              <a:t>Journey Selection</a:t>
            </a:r>
          </a:p>
          <a:p>
            <a:r>
              <a:rPr lang="en-US" dirty="0"/>
              <a:t>Import PURPOSE and select BREEDING (note SLAUGHTER for DOGS)</a:t>
            </a:r>
          </a:p>
          <a:p>
            <a:r>
              <a:rPr lang="en-US" dirty="0"/>
              <a:t>Show the commodity weights...</a:t>
            </a:r>
          </a:p>
          <a:p>
            <a:endParaRPr lang="en-US" dirty="0"/>
          </a:p>
          <a:p>
            <a:r>
              <a:rPr lang="en-US" dirty="0"/>
              <a:t>This is field config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CDCED-56ED-9334-6599-359889253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87069-DED2-F8BF-0797-BB0031578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64317-8983-1EE3-4E38-4A84AE27B64B}"/>
              </a:ext>
            </a:extLst>
          </p:cNvPr>
          <p:cNvSpPr>
            <a:spLocks noGrp="1"/>
          </p:cNvSpPr>
          <p:nvPr>
            <p:ph type="body" idx="1"/>
          </p:nvPr>
        </p:nvSpPr>
        <p:spPr/>
        <p:txBody>
          <a:bodyPr/>
          <a:lstStyle/>
          <a:p>
            <a:r>
              <a:rPr lang="en-US" dirty="0"/>
              <a:t>History of Field Config</a:t>
            </a:r>
          </a:p>
          <a:p>
            <a:endParaRPr lang="en-US" dirty="0"/>
          </a:p>
          <a:p>
            <a:r>
              <a:rPr lang="en-US" dirty="0"/>
              <a:t>It tells the FE which pages, and within each page WHAT to render for a specific commodity code</a:t>
            </a:r>
          </a:p>
          <a:p>
            <a:endParaRPr lang="en-US" dirty="0"/>
          </a:p>
          <a:p>
            <a:r>
              <a:rPr lang="en-US" dirty="0"/>
              <a:t>But it also is used in the context of</a:t>
            </a:r>
          </a:p>
          <a:p>
            <a:endParaRPr lang="en-US" dirty="0"/>
          </a:p>
          <a:p>
            <a:r>
              <a:rPr lang="en-US" dirty="0"/>
              <a:t xml:space="preserve">- </a:t>
            </a:r>
            <a:r>
              <a:rPr lang="en-US" dirty="0" err="1"/>
              <a:t>eNotification</a:t>
            </a:r>
            <a:r>
              <a:rPr lang="en-US" dirty="0"/>
              <a:t xml:space="preserve"> </a:t>
            </a:r>
            <a:r>
              <a:rPr lang="en-US" dirty="0" err="1"/>
              <a:t>processsing</a:t>
            </a:r>
            <a:endParaRPr lang="en-US" dirty="0"/>
          </a:p>
          <a:p>
            <a:r>
              <a:rPr lang="en-US" dirty="0"/>
              <a:t>- Cloning</a:t>
            </a:r>
          </a:p>
          <a:p>
            <a:r>
              <a:rPr lang="en-US" dirty="0"/>
              <a:t>- Reference Data Loader (associates new CC with defaults)</a:t>
            </a:r>
          </a:p>
          <a:p>
            <a:r>
              <a:rPr lang="en-US" dirty="0"/>
              <a:t>- Decision Frontend</a:t>
            </a:r>
          </a:p>
          <a:p>
            <a:r>
              <a:rPr lang="en-US" dirty="0"/>
              <a:t xml:space="preserve">- Control Frontend </a:t>
            </a:r>
          </a:p>
          <a:p>
            <a:r>
              <a:rPr lang="en-US" dirty="0"/>
              <a:t>- Notification Frontend</a:t>
            </a:r>
          </a:p>
          <a:p>
            <a:endParaRPr lang="en-US" dirty="0"/>
          </a:p>
          <a:p>
            <a:r>
              <a:rPr lang="en-US" dirty="0"/>
              <a:t>It was being decommissioned</a:t>
            </a:r>
          </a:p>
        </p:txBody>
      </p:sp>
      <p:sp>
        <p:nvSpPr>
          <p:cNvPr id="4" name="Slide Number Placeholder 3">
            <a:extLst>
              <a:ext uri="{FF2B5EF4-FFF2-40B4-BE49-F238E27FC236}">
                <a16:creationId xmlns:a16="http://schemas.microsoft.com/office/drawing/2014/main" id="{59C07101-6236-048F-BA1C-FB1EE6CF3E7E}"/>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645366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Simplest view of the problem space is:</a:t>
            </a:r>
          </a:p>
          <a:p>
            <a:endParaRPr lang="en-US" dirty="0"/>
          </a:p>
          <a:p>
            <a:r>
              <a:rPr lang="en-US" dirty="0"/>
              <a:t>Decide which page is in scope</a:t>
            </a:r>
          </a:p>
          <a:p>
            <a:r>
              <a:rPr lang="en-US" dirty="0"/>
              <a:t>Fetch the config</a:t>
            </a:r>
          </a:p>
          <a:p>
            <a:r>
              <a:rPr lang="en-US" dirty="0"/>
              <a:t>Parse up the entire blob</a:t>
            </a:r>
          </a:p>
          <a:p>
            <a:r>
              <a:rPr lang="en-US" dirty="0"/>
              <a:t>Introspect it for the bit you need</a:t>
            </a:r>
          </a:p>
          <a:p>
            <a:r>
              <a:rPr lang="en-US" dirty="0"/>
              <a:t>Decide whether the page is in scope and what it should show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Reality is a horror show</a:t>
            </a:r>
          </a:p>
          <a:p>
            <a:endParaRPr lang="en-US" dirty="0"/>
          </a:p>
          <a:p>
            <a:r>
              <a:rPr lang="en-US" dirty="0"/>
              <a:t>Remember that IPAFFS is a monolith stored and deployed in lots of small repositories. But it's a monolith - a giant soup of all the things all at once</a:t>
            </a:r>
          </a:p>
          <a:p>
            <a:endParaRPr lang="en-US" dirty="0"/>
          </a:p>
          <a:p>
            <a:r>
              <a:rPr lang="en-US" dirty="0"/>
              <a:t>If you want to know which page is going to be shown and what will be on those pages - you can't - it's spread out</a:t>
            </a:r>
          </a:p>
          <a:p>
            <a:endParaRPr lang="en-US" dirty="0"/>
          </a:p>
          <a:p>
            <a:r>
              <a:rPr lang="en-GB" dirty="0"/>
              <a:t>There is no single architectural source of truth defining the user's journey through the system.. more later</a:t>
            </a:r>
            <a:endParaRPr lang="en-US" dirty="0"/>
          </a:p>
          <a:p>
            <a:endParaRPr lang="en-US" dirty="0"/>
          </a:p>
          <a:p>
            <a:r>
              <a:rPr lang="en-US" dirty="0"/>
              <a:t>- Routing tables (by certificate)</a:t>
            </a:r>
          </a:p>
          <a:p>
            <a:r>
              <a:rPr lang="en-US" dirty="0"/>
              <a:t>- Fallback routing tables</a:t>
            </a:r>
          </a:p>
          <a:p>
            <a:r>
              <a:rPr lang="en-US" dirty="0"/>
              <a:t>- Page order and navigation are in code (conditional branching)</a:t>
            </a:r>
          </a:p>
          <a:p>
            <a:r>
              <a:rPr lang="en-US" dirty="0"/>
              <a:t xml:space="preserve">- Certificate overrides </a:t>
            </a:r>
            <a:r>
              <a:rPr lang="en-US" dirty="0" err="1"/>
              <a:t>masqurade</a:t>
            </a:r>
            <a:r>
              <a:rPr lang="en-US" dirty="0"/>
              <a:t xml:space="preserve"> as journeys they are not</a:t>
            </a:r>
          </a:p>
          <a:p>
            <a:r>
              <a:rPr lang="en-US" dirty="0"/>
              <a:t>- Field config contains page inclusion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xml:space="preserve">- </a:t>
            </a:r>
            <a:r>
              <a:rPr lang="en-GB" b="1" dirty="0"/>
              <a:t>CHEDA, CHEDP and CHEDD</a:t>
            </a:r>
            <a:r>
              <a:rPr lang="en-GB" dirty="0"/>
              <a:t xml:space="preserve"> don't have default configs</a:t>
            </a:r>
          </a:p>
          <a:p>
            <a:endParaRPr lang="en-US" dirty="0"/>
          </a:p>
          <a:p>
            <a:endParaRPr lang="en-US" dirty="0"/>
          </a:p>
          <a:p>
            <a:r>
              <a:rPr lang="en-US" dirty="0"/>
              <a:t>Field config blobs are huge, and redundant - most of it is unused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an example in the Azure Data view show</a:t>
            </a:r>
          </a:p>
          <a:p>
            <a:endParaRPr lang="en-US" dirty="0"/>
          </a:p>
          <a:p>
            <a:endParaRPr lang="en-GB" dirty="0"/>
          </a:p>
          <a:p>
            <a:r>
              <a:rPr lang="en-US" dirty="0"/>
              <a:t>Inner Plat</a:t>
            </a:r>
          </a:p>
          <a:p>
            <a:r>
              <a:rPr lang="en-GB" dirty="0"/>
              <a:t>(JavaScript and Logic in JSON) Instead of remaining pure declarative data,</a:t>
            </a:r>
          </a:p>
          <a:p>
            <a:endParaRPr lang="en-US" dirty="0"/>
          </a:p>
          <a:p>
            <a:r>
              <a:rPr lang="en-US" dirty="0"/>
              <a:t>Entangled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Rendering instructions, backend validation rules, and business policy all compiled into single configs</a:t>
            </a:r>
            <a:endParaRPr lang="en-US" dirty="0"/>
          </a:p>
          <a:p>
            <a:endParaRPr lang="en-US" dirty="0"/>
          </a:p>
          <a:p>
            <a:r>
              <a:rPr lang="en-US" dirty="0"/>
              <a:t>Invisible coupling</a:t>
            </a:r>
          </a:p>
          <a:p>
            <a:r>
              <a:rPr lang="en-US" dirty="0"/>
              <a:t xml:space="preserve">Secret API contracts - </a:t>
            </a:r>
            <a:r>
              <a:rPr lang="en-GB" dirty="0"/>
              <a:t>The relationship between the configuration data and the frontend components relies heavily on undocumented, implicit contracts</a:t>
            </a:r>
          </a:p>
          <a:p>
            <a:endParaRPr lang="en-US" dirty="0"/>
          </a:p>
          <a:p>
            <a:r>
              <a:rPr lang="en-GB" dirty="0"/>
              <a:t xml:space="preserve">Conditional logic is directly encoded into the data via properties like </a:t>
            </a:r>
            <a:r>
              <a:rPr lang="en-GB" b="1" dirty="0" err="1"/>
              <a:t>visibilityThresholdNumber</a:t>
            </a:r>
            <a:endParaRPr lang="en-GB" b="1" dirty="0"/>
          </a:p>
          <a:p>
            <a:endParaRPr lang="en-GB" b="1" dirty="0"/>
          </a:p>
          <a:p>
            <a:r>
              <a:rPr lang="en-GB" b="1" dirty="0"/>
              <a:t>Blobs!</a:t>
            </a:r>
          </a:p>
          <a:p>
            <a:r>
              <a:rPr lang="en-GB" dirty="0"/>
              <a:t>genuine variation exists almost entirely at the options/values level, not in the structural page layouts (page structures are 97-99% the same)</a:t>
            </a:r>
          </a:p>
          <a:p>
            <a:endParaRPr lang="en-GB" b="1" dirty="0"/>
          </a:p>
          <a:p>
            <a:r>
              <a:rPr lang="en-GB" b="1" dirty="0" err="1"/>
              <a:t>Refdata</a:t>
            </a:r>
            <a:r>
              <a:rPr lang="en-GB" b="1" dirty="0"/>
              <a:t xml:space="preserve"> as Config</a:t>
            </a:r>
          </a:p>
          <a:p>
            <a:r>
              <a:rPr lang="en-GB" b="1" dirty="0"/>
              <a:t>Part 2 lab test drop downs encode the same value as their PK, what a waste!</a:t>
            </a:r>
          </a:p>
          <a:p>
            <a:endParaRPr lang="en-GB" b="1" dirty="0"/>
          </a:p>
          <a:p>
            <a:r>
              <a:rPr lang="en-GB" b="1" dirty="0"/>
              <a:t xml:space="preserve">Part 2 CHE DD lab tests </a:t>
            </a:r>
            <a:r>
              <a:rPr lang="en-GB" b="1" dirty="0" err="1"/>
              <a:t>laboratoryTests</a:t>
            </a:r>
            <a:r>
              <a:rPr lang="en-GB" b="1" dirty="0"/>
              <a:t>[0].</a:t>
            </a:r>
            <a:r>
              <a:rPr lang="en-GB" b="1" dirty="0" err="1"/>
              <a:t>complementSpeciesId</a:t>
            </a:r>
            <a:endParaRPr lang="en-GB" b="1"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Hypothesis is that the real data set is fairly small</a:t>
            </a:r>
          </a:p>
          <a:p>
            <a:endParaRPr lang="en-US" dirty="0"/>
          </a:p>
          <a:p>
            <a:r>
              <a:rPr lang="en-US" dirty="0"/>
              <a:t xml:space="preserve">there is variance but it's dimensions are small and </a:t>
            </a:r>
            <a:r>
              <a:rPr lang="en-US" dirty="0" err="1"/>
              <a:t>managable</a:t>
            </a:r>
            <a:r>
              <a:rPr lang="en-US" dirty="0"/>
              <a:t>, just repeated a lot</a:t>
            </a:r>
          </a:p>
          <a:p>
            <a:endParaRPr lang="en-US" dirty="0"/>
          </a:p>
          <a:p>
            <a:r>
              <a:rPr lang="en-US" dirty="0"/>
              <a:t>These are the file size comparisons before and after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Most of the components are identical across all 2000</a:t>
            </a:r>
          </a:p>
          <a:p>
            <a:r>
              <a:rPr lang="en-US" dirty="0"/>
              <a:t>Most of the variance can be collapse to 5 sets</a:t>
            </a:r>
          </a:p>
          <a:p>
            <a:r>
              <a:rPr lang="en-US" dirty="0"/>
              <a:t>One combo box has 9 overrides</a:t>
            </a:r>
          </a:p>
          <a:p>
            <a:r>
              <a:rPr lang="en-US" dirty="0"/>
              <a:t>There are 2100 commodity codes in scope (</a:t>
            </a:r>
            <a:r>
              <a:rPr lang="en-US" dirty="0" err="1"/>
              <a:t>irreducable</a:t>
            </a:r>
            <a:r>
              <a:rPr lang="en-US" dirty="0"/>
              <a:t>)</a:t>
            </a:r>
          </a:p>
        </p:txBody>
      </p:sp>
    </p:spTree>
    <p:extLst>
      <p:ext uri="{BB962C8B-B14F-4D97-AF65-F5344CB8AC3E}">
        <p14:creationId xmlns:p14="http://schemas.microsoft.com/office/powerpoint/2010/main" val="1419541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take this mess apart?</a:t>
            </a:r>
          </a:p>
          <a:p>
            <a:endParaRPr lang="en-US" dirty="0"/>
          </a:p>
          <a:p>
            <a:r>
              <a:rPr lang="en-US" dirty="0"/>
              <a:t>Create a data pipeline that can identify commonality using fingerprinting.</a:t>
            </a:r>
          </a:p>
          <a:p>
            <a:endParaRPr lang="en-US" dirty="0"/>
          </a:p>
          <a:p>
            <a:r>
              <a:rPr lang="en-US" dirty="0"/>
              <a:t>Group where many things have the same fingerprint, collapse to a single things</a:t>
            </a:r>
          </a:p>
          <a:p>
            <a:endParaRPr lang="en-US" dirty="0"/>
          </a:p>
          <a:p>
            <a:r>
              <a:rPr lang="en-US" dirty="0"/>
              <a:t>Fingerprints are sha of data that are deterministic that mean we can group like content and reduce to the smallest number of distinct variants</a:t>
            </a:r>
          </a:p>
          <a:p>
            <a:endParaRPr lang="en-US" dirty="0"/>
          </a:p>
          <a:p>
            <a:r>
              <a:rPr lang="en-US" dirty="0"/>
              <a:t>Take all individual components instances - each</a:t>
            </a:r>
          </a:p>
          <a:p>
            <a:r>
              <a:rPr lang="en-US" dirty="0"/>
              <a:t>(commodity, page, section, component) has a fingerprint from</a:t>
            </a:r>
          </a:p>
          <a:p>
            <a:endParaRPr lang="en-US" dirty="0"/>
          </a:p>
          <a:p>
            <a:r>
              <a:rPr lang="en-US" dirty="0"/>
              <a:t xml:space="preserve">- sort all the lists, labels, descriptions, </a:t>
            </a:r>
            <a:r>
              <a:rPr lang="en-US" dirty="0" err="1"/>
              <a:t>line_item_complements</a:t>
            </a:r>
            <a:r>
              <a:rPr lang="en-US" dirty="0"/>
              <a:t xml:space="preserve"> and MD5 hash it. </a:t>
            </a:r>
          </a:p>
          <a:p>
            <a:endParaRPr lang="en-US" dirty="0"/>
          </a:p>
          <a:p>
            <a:r>
              <a:rPr lang="en-US" dirty="0"/>
              <a:t>Many rows per commodity ~74 per commodity ~160,000 rows each</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xml:space="preserve">But once we have the flattened fingerprints (the 160000 rows) we can use duck </a:t>
            </a:r>
            <a:r>
              <a:rPr lang="en-US" dirty="0" err="1"/>
              <a:t>db</a:t>
            </a:r>
            <a:r>
              <a:rPr lang="en-US" dirty="0"/>
              <a:t xml:space="preserve"> analytics to ask "how many distinct fingerprints does each component name have across all commodities?"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Skip this slide, it's very tech - might be interesting but for a later date</a:t>
            </a:r>
          </a:p>
          <a:p>
            <a:endParaRPr lang="en-US" dirty="0"/>
          </a:p>
          <a:p>
            <a:r>
              <a:rPr lang="en-US" dirty="0"/>
              <a:t>We use Duck DB to hold all the data being produced in the pipeline</a:t>
            </a:r>
          </a:p>
          <a:p>
            <a:endParaRPr lang="en-US" dirty="0"/>
          </a:p>
          <a:p>
            <a:r>
              <a:rPr lang="en-US" dirty="0"/>
              <a:t xml:space="preserve">But once we have the flattened fingerprints (the 160000 rows) we can use duck </a:t>
            </a:r>
            <a:r>
              <a:rPr lang="en-US" dirty="0" err="1"/>
              <a:t>db</a:t>
            </a:r>
            <a:r>
              <a:rPr lang="en-US" dirty="0"/>
              <a:t xml:space="preserve"> analytics to ask "how many distinct fingerprints does each component name have across all commodities?"</a:t>
            </a:r>
          </a:p>
          <a:p>
            <a:endParaRPr lang="en-US" dirty="0"/>
          </a:p>
          <a:p>
            <a:r>
              <a:rPr lang="en-US" dirty="0"/>
              <a:t xml:space="preserve">The output of this process is a staging artefact that builds both the </a:t>
            </a:r>
            <a:r>
              <a:rPr lang="en-US" dirty="0" err="1"/>
              <a:t>refdata</a:t>
            </a:r>
            <a:r>
              <a:rPr lang="en-US" dirty="0"/>
              <a:t xml:space="preserve"> and a file called journey </a:t>
            </a:r>
            <a:r>
              <a:rPr lang="en-US" dirty="0" err="1"/>
              <a:t>json</a:t>
            </a:r>
            <a:endParaRPr lang="en-US" dirty="0"/>
          </a:p>
          <a:p>
            <a:endParaRPr lang="en-US" dirty="0"/>
          </a:p>
          <a:p>
            <a:r>
              <a:rPr lang="en-US" dirty="0"/>
              <a:t>So take note of this file at the end...</a:t>
            </a:r>
          </a:p>
          <a:p>
            <a:endParaRPr lang="en-US" dirty="0"/>
          </a:p>
          <a:p>
            <a:endParaRPr lang="en-US" dirty="0"/>
          </a:p>
        </p:txBody>
      </p:sp>
    </p:spTree>
    <p:extLst>
      <p:ext uri="{BB962C8B-B14F-4D97-AF65-F5344CB8AC3E}">
        <p14:creationId xmlns:p14="http://schemas.microsoft.com/office/powerpoint/2010/main" val="3011971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Reasonably confident all journeys config can be collapse to something small, CHEDD is the largest</a:t>
            </a:r>
          </a:p>
          <a:p>
            <a:endParaRPr lang="en-US" dirty="0"/>
          </a:p>
          <a:p>
            <a:r>
              <a:rPr lang="en-US" dirty="0"/>
              <a:t>Whilst the configuration changes, the concept doesn't really change. There are sections, pages, components, pages that vary and contents that vary in fixed dimensions for each config</a:t>
            </a:r>
          </a:p>
          <a:p>
            <a:endParaRPr lang="en-US" dirty="0"/>
          </a:p>
          <a:p>
            <a:r>
              <a:rPr lang="en-US" dirty="0"/>
              <a:t>Each journey captures different variance in similar ways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The pages are split into a page tree that describes </a:t>
            </a:r>
          </a:p>
          <a:p>
            <a:endParaRPr lang="en-US" dirty="0"/>
          </a:p>
          <a:p>
            <a:r>
              <a:rPr lang="en-US" dirty="0"/>
              <a:t>the journey</a:t>
            </a:r>
          </a:p>
          <a:p>
            <a:r>
              <a:rPr lang="en-US" dirty="0"/>
              <a:t xml:space="preserve">the </a:t>
            </a:r>
            <a:r>
              <a:rPr lang="en-US" dirty="0" err="1"/>
              <a:t>refdata</a:t>
            </a:r>
            <a:r>
              <a:rPr lang="en-US" dirty="0"/>
              <a:t xml:space="preserve"> (config)</a:t>
            </a:r>
          </a:p>
          <a:p>
            <a:endParaRPr lang="en-US" dirty="0"/>
          </a:p>
          <a:p>
            <a:r>
              <a:rPr lang="en-US" dirty="0"/>
              <a:t xml:space="preserve">Maybe demo the service giving </a:t>
            </a:r>
            <a:r>
              <a:rPr lang="en-US" dirty="0" err="1"/>
              <a:t>refdata</a:t>
            </a:r>
            <a:r>
              <a:rPr lang="en-US" dirty="0"/>
              <a:t xml:space="preserve"> and journey data extracted from the Field Config and IPAFFS</a:t>
            </a:r>
          </a:p>
          <a:p>
            <a:endParaRPr lang="en-US" dirty="0"/>
          </a:p>
          <a:p>
            <a:r>
              <a:rPr lang="en-US" dirty="0"/>
              <a:t xml:space="preserve">Show the POSTMAN collection and swagger endpoint for the journey and the </a:t>
            </a:r>
            <a:r>
              <a:rPr lang="en-US" dirty="0" err="1"/>
              <a:t>refdata</a:t>
            </a:r>
            <a:endParaRPr lang="en-US" dirty="0"/>
          </a:p>
          <a:p>
            <a:endParaRPr lang="en-US" dirty="0"/>
          </a:p>
          <a:p>
            <a:r>
              <a:rPr lang="en-US" dirty="0"/>
              <a:t>The next slide shows the APIs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The APIs </a:t>
            </a:r>
          </a:p>
          <a:p>
            <a:endParaRPr lang="en-US" dirty="0"/>
          </a:p>
          <a:p>
            <a:r>
              <a:rPr lang="en-US" dirty="0"/>
              <a:t>Probably just show the postman collection and the swagger docs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xml:space="preserve">The bigger </a:t>
            </a:r>
            <a:r>
              <a:rPr lang="en-US" dirty="0" err="1"/>
              <a:t>oppertunity</a:t>
            </a:r>
            <a:r>
              <a:rPr lang="en-US" dirty="0"/>
              <a:t xml:space="preserve"> is to knit the </a:t>
            </a:r>
          </a:p>
          <a:p>
            <a:endParaRPr lang="en-US" dirty="0"/>
          </a:p>
          <a:p>
            <a:r>
              <a:rPr lang="en-US" dirty="0"/>
              <a:t>Journey data</a:t>
            </a:r>
          </a:p>
          <a:p>
            <a:r>
              <a:rPr lang="en-US" dirty="0"/>
              <a:t>Config data</a:t>
            </a:r>
          </a:p>
          <a:p>
            <a:endParaRPr lang="en-US" dirty="0"/>
          </a:p>
          <a:p>
            <a:r>
              <a:rPr lang="en-US" dirty="0"/>
              <a:t>Into a service for reviewing that data AND</a:t>
            </a:r>
          </a:p>
          <a:p>
            <a:endParaRPr lang="en-US" dirty="0"/>
          </a:p>
          <a:p>
            <a:r>
              <a:rPr lang="en-US" dirty="0"/>
              <a:t>Tying it into an obligation engine becomes relatively simple</a:t>
            </a:r>
          </a:p>
          <a:p>
            <a:endParaRPr lang="en-US" dirty="0"/>
          </a:p>
        </p:txBody>
      </p:sp>
    </p:spTree>
    <p:extLst>
      <p:ext uri="{BB962C8B-B14F-4D97-AF65-F5344CB8AC3E}">
        <p14:creationId xmlns:p14="http://schemas.microsoft.com/office/powerpoint/2010/main" val="4008738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E4C54-180D-8391-34B3-F90BEABBB8C0}"/>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importnotification-static-snd.azure.defra.cloud/notification/vnet/protected/notifications/DRAFT.GB.2026.1505879/commodity/detail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37" name="Picture 36">
            <a:hlinkClick r:id="rId3"/>
            <a:extLst>
              <a:ext uri="{FF2B5EF4-FFF2-40B4-BE49-F238E27FC236}">
                <a16:creationId xmlns:a16="http://schemas.microsoft.com/office/drawing/2014/main" id="{6E343DE4-2B03-EAAA-FD91-44BD86069AEC}"/>
              </a:ext>
            </a:extLst>
          </p:cNvPr>
          <p:cNvPicPr>
            <a:picLocks noChangeAspect="1"/>
          </p:cNvPicPr>
          <p:nvPr/>
        </p:nvPicPr>
        <p:blipFill>
          <a:blip r:embed="rId4"/>
          <a:stretch>
            <a:fillRect/>
          </a:stretch>
        </p:blipFill>
        <p:spPr>
          <a:xfrm>
            <a:off x="0" y="0"/>
            <a:ext cx="12192000" cy="6858000"/>
          </a:xfrm>
          <a:prstGeom prst="rect">
            <a:avLst/>
          </a:prstGeom>
        </p:spPr>
      </p:pic>
      <p:sp>
        <p:nvSpPr>
          <p:cNvPr id="38" name="Rectangle 37">
            <a:extLst>
              <a:ext uri="{FF2B5EF4-FFF2-40B4-BE49-F238E27FC236}">
                <a16:creationId xmlns:a16="http://schemas.microsoft.com/office/drawing/2014/main" id="{DC15DD19-E545-A55D-A082-FB266C0544B0}"/>
              </a:ext>
            </a:extLst>
          </p:cNvPr>
          <p:cNvSpPr/>
          <p:nvPr/>
        </p:nvSpPr>
        <p:spPr>
          <a:xfrm>
            <a:off x="1086269" y="4472044"/>
            <a:ext cx="2032929" cy="923330"/>
          </a:xfrm>
          <a:prstGeom prst="rect">
            <a:avLst/>
          </a:prstGeom>
          <a:noFill/>
        </p:spPr>
        <p:txBody>
          <a:bodyPr wrap="none" lIns="91440" tIns="45720" rIns="91440" bIns="45720">
            <a:spAutoFit/>
          </a:bodyPr>
          <a:lstStyle/>
          <a:p>
            <a:pPr algn="ctr"/>
            <a:r>
              <a:rPr lang="en-GB"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hlinkClick r:id="rId3"/>
              </a:rPr>
              <a:t>DEMO</a:t>
            </a:r>
            <a:endParaRPr lang="en-GB"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B7349-5C3B-57FF-A0A3-EA245C9E463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43C28E-548B-7D14-DB7D-E5653F574509}"/>
              </a:ext>
            </a:extLst>
          </p:cNvPr>
          <p:cNvSpPr/>
          <p:nvPr/>
        </p:nvSpPr>
        <p:spPr>
          <a:xfrm>
            <a:off x="548640" y="292608"/>
            <a:ext cx="11064240" cy="548640"/>
          </a:xfrm>
          <a:prstGeom prst="rect">
            <a:avLst/>
          </a:prstGeom>
          <a:noFill/>
          <a:ln/>
        </p:spPr>
        <p:txBody>
          <a:bodyPr wrap="square" lIns="0" tIns="0" rIns="0" bIns="0" rtlCol="0" anchor="ctr"/>
          <a:lstStyle/>
          <a:p>
            <a:pPr marL="0" indent="0">
              <a:buNone/>
            </a:pPr>
            <a:r>
              <a:rPr lang="en-US" sz="3000" b="1" dirty="0">
                <a:solidFill>
                  <a:srgbClr val="0B0C0C"/>
                </a:solidFill>
                <a:latin typeface="Trebuchet MS" pitchFamily="34" charset="0"/>
                <a:ea typeface="Trebuchet MS" pitchFamily="34" charset="-122"/>
                <a:cs typeface="Trebuchet MS" pitchFamily="34" charset="-120"/>
              </a:rPr>
              <a:t>Field Config: origin and problem space</a:t>
            </a:r>
            <a:endParaRPr lang="en-US" sz="3000" dirty="0"/>
          </a:p>
        </p:txBody>
      </p:sp>
      <p:sp>
        <p:nvSpPr>
          <p:cNvPr id="3" name="Shape 1">
            <a:extLst>
              <a:ext uri="{FF2B5EF4-FFF2-40B4-BE49-F238E27FC236}">
                <a16:creationId xmlns:a16="http://schemas.microsoft.com/office/drawing/2014/main" id="{1BA0F0F7-B0FF-8554-6199-EE6B3F4FEC05}"/>
              </a:ext>
            </a:extLst>
          </p:cNvPr>
          <p:cNvSpPr/>
          <p:nvPr/>
        </p:nvSpPr>
        <p:spPr>
          <a:xfrm>
            <a:off x="548640" y="960120"/>
            <a:ext cx="11064240" cy="960120"/>
          </a:xfrm>
          <a:prstGeom prst="rect">
            <a:avLst/>
          </a:prstGeom>
          <a:solidFill>
            <a:srgbClr val="F3F2F1"/>
          </a:solidFill>
          <a:ln/>
        </p:spPr>
        <p:txBody>
          <a:bodyPr/>
          <a:lstStyle/>
          <a:p>
            <a:endParaRPr lang="en-US"/>
          </a:p>
        </p:txBody>
      </p:sp>
      <p:sp>
        <p:nvSpPr>
          <p:cNvPr id="4" name="Shape 2">
            <a:extLst>
              <a:ext uri="{FF2B5EF4-FFF2-40B4-BE49-F238E27FC236}">
                <a16:creationId xmlns:a16="http://schemas.microsoft.com/office/drawing/2014/main" id="{A332FB91-D00B-01A3-7D2C-59064141E4CF}"/>
              </a:ext>
            </a:extLst>
          </p:cNvPr>
          <p:cNvSpPr/>
          <p:nvPr/>
        </p:nvSpPr>
        <p:spPr>
          <a:xfrm>
            <a:off x="548640" y="960120"/>
            <a:ext cx="82296" cy="960120"/>
          </a:xfrm>
          <a:prstGeom prst="rect">
            <a:avLst/>
          </a:prstGeom>
          <a:solidFill>
            <a:srgbClr val="1D70B8"/>
          </a:solidFill>
          <a:ln/>
        </p:spPr>
        <p:txBody>
          <a:bodyPr/>
          <a:lstStyle/>
          <a:p>
            <a:endParaRPr lang="en-US"/>
          </a:p>
        </p:txBody>
      </p:sp>
      <p:sp>
        <p:nvSpPr>
          <p:cNvPr id="5" name="Text 3">
            <a:extLst>
              <a:ext uri="{FF2B5EF4-FFF2-40B4-BE49-F238E27FC236}">
                <a16:creationId xmlns:a16="http://schemas.microsoft.com/office/drawing/2014/main" id="{DA45C934-A94B-6932-885D-0B9A6F184E13}"/>
              </a:ext>
            </a:extLst>
          </p:cNvPr>
          <p:cNvSpPr/>
          <p:nvPr/>
        </p:nvSpPr>
        <p:spPr>
          <a:xfrm>
            <a:off x="777240" y="960120"/>
            <a:ext cx="10607040" cy="960120"/>
          </a:xfrm>
          <a:prstGeom prst="rect">
            <a:avLst/>
          </a:prstGeom>
          <a:noFill/>
          <a:ln/>
        </p:spPr>
        <p:txBody>
          <a:bodyPr wrap="square" lIns="0" tIns="0" rIns="0" bIns="0" rtlCol="0" anchor="ctr"/>
          <a:lstStyle/>
          <a:p>
            <a:pPr marL="0" indent="0">
              <a:spcAft>
                <a:spcPts val="400"/>
              </a:spcAft>
              <a:buNone/>
            </a:pPr>
            <a:r>
              <a:rPr lang="en-US" sz="1350" b="1" dirty="0">
                <a:solidFill>
                  <a:srgbClr val="0B0C0C"/>
                </a:solidFill>
                <a:latin typeface="Calibri" pitchFamily="34" charset="0"/>
                <a:ea typeface="Calibri" pitchFamily="34" charset="-122"/>
                <a:cs typeface="Calibri" pitchFamily="34" charset="-120"/>
              </a:rPr>
              <a:t xml:space="preserve">The problem it addresses: </a:t>
            </a:r>
            <a:r>
              <a:rPr lang="en-US" sz="1350" dirty="0">
                <a:solidFill>
                  <a:srgbClr val="0B0C0C"/>
                </a:solidFill>
                <a:latin typeface="Calibri" pitchFamily="34" charset="0"/>
                <a:ea typeface="Calibri" pitchFamily="34" charset="-122"/>
                <a:cs typeface="Calibri" pitchFamily="34" charset="-120"/>
              </a:rPr>
              <a:t>different commodities have different regulatory data requirements. Field config tells the IPAFFS frontend which fields to show, which dropdown options to offer, and which pages to include when an importer creates a notification.</a:t>
            </a:r>
            <a:endParaRPr lang="en-US" sz="1350" dirty="0"/>
          </a:p>
          <a:p>
            <a:pPr marL="0" indent="0">
              <a:spcAft>
                <a:spcPts val="400"/>
              </a:spcAft>
              <a:buNone/>
            </a:pPr>
            <a:r>
              <a:rPr lang="en-US" sz="1350" b="1" dirty="0">
                <a:solidFill>
                  <a:srgbClr val="0B0C0C"/>
                </a:solidFill>
                <a:latin typeface="Calibri" pitchFamily="34" charset="0"/>
                <a:ea typeface="Calibri" pitchFamily="34" charset="-122"/>
                <a:cs typeface="Calibri" pitchFamily="34" charset="-120"/>
              </a:rPr>
              <a:t xml:space="preserve">NDC has the same need - so can we reuse it? </a:t>
            </a:r>
            <a:r>
              <a:rPr lang="en-US" sz="1350" b="1" dirty="0">
                <a:solidFill>
                  <a:srgbClr val="D4351C"/>
                </a:solidFill>
                <a:latin typeface="Calibri" pitchFamily="34" charset="0"/>
                <a:ea typeface="Calibri" pitchFamily="34" charset="-122"/>
                <a:cs typeface="Calibri" pitchFamily="34" charset="-120"/>
              </a:rPr>
              <a:t>TL;DR: no.</a:t>
            </a:r>
            <a:endParaRPr lang="en-US" sz="1350" dirty="0"/>
          </a:p>
        </p:txBody>
      </p:sp>
      <p:sp>
        <p:nvSpPr>
          <p:cNvPr id="6" name="Shape 4">
            <a:extLst>
              <a:ext uri="{FF2B5EF4-FFF2-40B4-BE49-F238E27FC236}">
                <a16:creationId xmlns:a16="http://schemas.microsoft.com/office/drawing/2014/main" id="{BBBA2F95-CDC5-D00B-1210-031AADD3AACB}"/>
              </a:ext>
            </a:extLst>
          </p:cNvPr>
          <p:cNvSpPr/>
          <p:nvPr/>
        </p:nvSpPr>
        <p:spPr>
          <a:xfrm>
            <a:off x="649224" y="2542032"/>
            <a:ext cx="10963656" cy="0"/>
          </a:xfrm>
          <a:prstGeom prst="line">
            <a:avLst/>
          </a:prstGeom>
          <a:noFill/>
          <a:ln w="25400">
            <a:solidFill>
              <a:srgbClr val="B1B4B6"/>
            </a:solidFill>
            <a:prstDash val="solid"/>
          </a:ln>
        </p:spPr>
        <p:txBody>
          <a:bodyPr/>
          <a:lstStyle/>
          <a:p>
            <a:endParaRPr lang="en-US"/>
          </a:p>
        </p:txBody>
      </p:sp>
      <p:sp>
        <p:nvSpPr>
          <p:cNvPr id="7" name="Shape 5">
            <a:extLst>
              <a:ext uri="{FF2B5EF4-FFF2-40B4-BE49-F238E27FC236}">
                <a16:creationId xmlns:a16="http://schemas.microsoft.com/office/drawing/2014/main" id="{6D33206E-318F-82C7-CBC2-57C42D4D529A}"/>
              </a:ext>
            </a:extLst>
          </p:cNvPr>
          <p:cNvSpPr/>
          <p:nvPr/>
        </p:nvSpPr>
        <p:spPr>
          <a:xfrm>
            <a:off x="603504" y="2441448"/>
            <a:ext cx="201168" cy="201168"/>
          </a:xfrm>
          <a:prstGeom prst="ellipse">
            <a:avLst/>
          </a:prstGeom>
          <a:solidFill>
            <a:srgbClr val="1D70B8"/>
          </a:solidFill>
          <a:ln/>
        </p:spPr>
        <p:txBody>
          <a:bodyPr/>
          <a:lstStyle/>
          <a:p>
            <a:endParaRPr lang="en-US"/>
          </a:p>
        </p:txBody>
      </p:sp>
      <p:sp>
        <p:nvSpPr>
          <p:cNvPr id="8" name="Text 6">
            <a:extLst>
              <a:ext uri="{FF2B5EF4-FFF2-40B4-BE49-F238E27FC236}">
                <a16:creationId xmlns:a16="http://schemas.microsoft.com/office/drawing/2014/main" id="{7353FE9D-B4FF-6F26-D565-210511511571}"/>
              </a:ext>
            </a:extLst>
          </p:cNvPr>
          <p:cNvSpPr/>
          <p:nvPr/>
        </p:nvSpPr>
        <p:spPr>
          <a:xfrm>
            <a:off x="896112" y="2084832"/>
            <a:ext cx="2194560" cy="329184"/>
          </a:xfrm>
          <a:prstGeom prst="rect">
            <a:avLst/>
          </a:prstGeom>
          <a:noFill/>
          <a:ln/>
        </p:spPr>
        <p:txBody>
          <a:bodyPr wrap="square" lIns="0" tIns="0" rIns="0" bIns="0" rtlCol="0" anchor="b"/>
          <a:lstStyle/>
          <a:p>
            <a:pPr marL="0" indent="0">
              <a:buNone/>
            </a:pPr>
            <a:r>
              <a:rPr lang="en-US" sz="1700" b="1" dirty="0">
                <a:solidFill>
                  <a:srgbClr val="1D70B8"/>
                </a:solidFill>
                <a:latin typeface="Trebuchet MS" pitchFamily="34" charset="0"/>
                <a:ea typeface="Trebuchet MS" pitchFamily="34" charset="-122"/>
                <a:cs typeface="Trebuchet MS" pitchFamily="34" charset="-120"/>
              </a:rPr>
              <a:t>2018</a:t>
            </a:r>
            <a:endParaRPr lang="en-US" sz="1700" dirty="0"/>
          </a:p>
        </p:txBody>
      </p:sp>
      <p:sp>
        <p:nvSpPr>
          <p:cNvPr id="9" name="Shape 7">
            <a:extLst>
              <a:ext uri="{FF2B5EF4-FFF2-40B4-BE49-F238E27FC236}">
                <a16:creationId xmlns:a16="http://schemas.microsoft.com/office/drawing/2014/main" id="{B7257D13-0064-0BB3-B515-617D7D965084}"/>
              </a:ext>
            </a:extLst>
          </p:cNvPr>
          <p:cNvSpPr/>
          <p:nvPr/>
        </p:nvSpPr>
        <p:spPr>
          <a:xfrm>
            <a:off x="548640" y="2788920"/>
            <a:ext cx="2560320" cy="2468880"/>
          </a:xfrm>
          <a:prstGeom prst="rect">
            <a:avLst/>
          </a:prstGeom>
          <a:solidFill>
            <a:srgbClr val="F3F2F1"/>
          </a:solidFill>
          <a:ln/>
        </p:spPr>
        <p:txBody>
          <a:bodyPr/>
          <a:lstStyle/>
          <a:p>
            <a:endParaRPr lang="en-US"/>
          </a:p>
        </p:txBody>
      </p:sp>
      <p:sp>
        <p:nvSpPr>
          <p:cNvPr id="10" name="Shape 8">
            <a:extLst>
              <a:ext uri="{FF2B5EF4-FFF2-40B4-BE49-F238E27FC236}">
                <a16:creationId xmlns:a16="http://schemas.microsoft.com/office/drawing/2014/main" id="{6FDED754-4D55-28BF-8E5B-1E197D3981FF}"/>
              </a:ext>
            </a:extLst>
          </p:cNvPr>
          <p:cNvSpPr/>
          <p:nvPr/>
        </p:nvSpPr>
        <p:spPr>
          <a:xfrm>
            <a:off x="548640" y="2788920"/>
            <a:ext cx="2560320" cy="64008"/>
          </a:xfrm>
          <a:prstGeom prst="rect">
            <a:avLst/>
          </a:prstGeom>
          <a:solidFill>
            <a:srgbClr val="1D70B8"/>
          </a:solidFill>
          <a:ln/>
        </p:spPr>
        <p:txBody>
          <a:bodyPr/>
          <a:lstStyle/>
          <a:p>
            <a:endParaRPr lang="en-US"/>
          </a:p>
        </p:txBody>
      </p:sp>
      <p:sp>
        <p:nvSpPr>
          <p:cNvPr id="11" name="Text 9">
            <a:extLst>
              <a:ext uri="{FF2B5EF4-FFF2-40B4-BE49-F238E27FC236}">
                <a16:creationId xmlns:a16="http://schemas.microsoft.com/office/drawing/2014/main" id="{9D106DF7-129C-EFC3-FFDA-932DF1C4977F}"/>
              </a:ext>
            </a:extLst>
          </p:cNvPr>
          <p:cNvSpPr/>
          <p:nvPr/>
        </p:nvSpPr>
        <p:spPr>
          <a:xfrm>
            <a:off x="685800" y="2944368"/>
            <a:ext cx="2286000" cy="594360"/>
          </a:xfrm>
          <a:prstGeom prst="rect">
            <a:avLst/>
          </a:prstGeom>
          <a:noFill/>
          <a:ln/>
        </p:spPr>
        <p:txBody>
          <a:bodyPr wrap="square" lIns="0" tIns="0" rIns="0" bIns="0" rtlCol="0" anchor="t"/>
          <a:lstStyle/>
          <a:p>
            <a:pPr marL="0" indent="0">
              <a:buNone/>
            </a:pPr>
            <a:r>
              <a:rPr lang="en-US" sz="1400" b="1" dirty="0">
                <a:solidFill>
                  <a:srgbClr val="0B0C0C"/>
                </a:solidFill>
                <a:latin typeface="Trebuchet MS" pitchFamily="34" charset="0"/>
                <a:ea typeface="Trebuchet MS" pitchFamily="34" charset="-122"/>
                <a:cs typeface="Trebuchet MS" pitchFamily="34" charset="-120"/>
              </a:rPr>
              <a:t>Scraped from TRACES</a:t>
            </a:r>
            <a:endParaRPr lang="en-US" sz="1400" dirty="0"/>
          </a:p>
        </p:txBody>
      </p:sp>
      <p:sp>
        <p:nvSpPr>
          <p:cNvPr id="12" name="Text 10">
            <a:extLst>
              <a:ext uri="{FF2B5EF4-FFF2-40B4-BE49-F238E27FC236}">
                <a16:creationId xmlns:a16="http://schemas.microsoft.com/office/drawing/2014/main" id="{B169FDCB-789D-D6E9-ACAF-E92793E138A2}"/>
              </a:ext>
            </a:extLst>
          </p:cNvPr>
          <p:cNvSpPr/>
          <p:nvPr/>
        </p:nvSpPr>
        <p:spPr>
          <a:xfrm>
            <a:off x="685800" y="3566160"/>
            <a:ext cx="2286000" cy="1600200"/>
          </a:xfrm>
          <a:prstGeom prst="rect">
            <a:avLst/>
          </a:prstGeom>
          <a:noFill/>
          <a:ln/>
        </p:spPr>
        <p:txBody>
          <a:bodyPr wrap="square" lIns="0" tIns="0" rIns="0" bIns="0" rtlCol="0" anchor="t"/>
          <a:lstStyle/>
          <a:p>
            <a:pPr marL="0" indent="0">
              <a:buNone/>
            </a:pPr>
            <a:r>
              <a:rPr lang="en-US" sz="1200" dirty="0">
                <a:solidFill>
                  <a:srgbClr val="0B0C0C"/>
                </a:solidFill>
                <a:latin typeface="Calibri" pitchFamily="34" charset="0"/>
                <a:ea typeface="Calibri" pitchFamily="34" charset="-122"/>
                <a:cs typeface="Calibri" pitchFamily="34" charset="-120"/>
              </a:rPr>
              <a:t>“scrapy-traces” harvests commodity configs from the EU’s TRACES system into ~3,000 denormalised JSON files, one per commodity code. A frozen snapshot of TRACES, loaded into the field config database.</a:t>
            </a:r>
            <a:endParaRPr lang="en-US" sz="1200" dirty="0"/>
          </a:p>
        </p:txBody>
      </p:sp>
      <p:sp>
        <p:nvSpPr>
          <p:cNvPr id="13" name="Shape 11">
            <a:extLst>
              <a:ext uri="{FF2B5EF4-FFF2-40B4-BE49-F238E27FC236}">
                <a16:creationId xmlns:a16="http://schemas.microsoft.com/office/drawing/2014/main" id="{D89F2548-617D-DA05-C6EC-9707BD7DFB89}"/>
              </a:ext>
            </a:extLst>
          </p:cNvPr>
          <p:cNvSpPr/>
          <p:nvPr/>
        </p:nvSpPr>
        <p:spPr>
          <a:xfrm>
            <a:off x="3438144" y="2441448"/>
            <a:ext cx="201168" cy="201168"/>
          </a:xfrm>
          <a:prstGeom prst="ellipse">
            <a:avLst/>
          </a:prstGeom>
          <a:solidFill>
            <a:srgbClr val="1D70B8"/>
          </a:solidFill>
          <a:ln/>
        </p:spPr>
        <p:txBody>
          <a:bodyPr/>
          <a:lstStyle/>
          <a:p>
            <a:endParaRPr lang="en-US"/>
          </a:p>
        </p:txBody>
      </p:sp>
      <p:sp>
        <p:nvSpPr>
          <p:cNvPr id="14" name="Text 12">
            <a:extLst>
              <a:ext uri="{FF2B5EF4-FFF2-40B4-BE49-F238E27FC236}">
                <a16:creationId xmlns:a16="http://schemas.microsoft.com/office/drawing/2014/main" id="{AE994D8E-DFEA-07C8-7048-B5177268B031}"/>
              </a:ext>
            </a:extLst>
          </p:cNvPr>
          <p:cNvSpPr/>
          <p:nvPr/>
        </p:nvSpPr>
        <p:spPr>
          <a:xfrm>
            <a:off x="3730752" y="2084832"/>
            <a:ext cx="2194560" cy="329184"/>
          </a:xfrm>
          <a:prstGeom prst="rect">
            <a:avLst/>
          </a:prstGeom>
          <a:noFill/>
          <a:ln/>
        </p:spPr>
        <p:txBody>
          <a:bodyPr wrap="square" lIns="0" tIns="0" rIns="0" bIns="0" rtlCol="0" anchor="b"/>
          <a:lstStyle/>
          <a:p>
            <a:pPr marL="0" indent="0">
              <a:buNone/>
            </a:pPr>
            <a:r>
              <a:rPr lang="en-US" sz="1700" b="1" dirty="0">
                <a:solidFill>
                  <a:srgbClr val="1D70B8"/>
                </a:solidFill>
                <a:latin typeface="Trebuchet MS" pitchFamily="34" charset="0"/>
                <a:ea typeface="Trebuchet MS" pitchFamily="34" charset="-122"/>
                <a:cs typeface="Trebuchet MS" pitchFamily="34" charset="-120"/>
              </a:rPr>
              <a:t>2019-20</a:t>
            </a:r>
            <a:endParaRPr lang="en-US" sz="1700" dirty="0"/>
          </a:p>
        </p:txBody>
      </p:sp>
      <p:sp>
        <p:nvSpPr>
          <p:cNvPr id="15" name="Shape 13">
            <a:extLst>
              <a:ext uri="{FF2B5EF4-FFF2-40B4-BE49-F238E27FC236}">
                <a16:creationId xmlns:a16="http://schemas.microsoft.com/office/drawing/2014/main" id="{87DD4154-7DED-2A2D-4AE6-A47CE2B3DA96}"/>
              </a:ext>
            </a:extLst>
          </p:cNvPr>
          <p:cNvSpPr/>
          <p:nvPr/>
        </p:nvSpPr>
        <p:spPr>
          <a:xfrm>
            <a:off x="3383280" y="2788920"/>
            <a:ext cx="2560320" cy="2468880"/>
          </a:xfrm>
          <a:prstGeom prst="rect">
            <a:avLst/>
          </a:prstGeom>
          <a:solidFill>
            <a:srgbClr val="F3F2F1"/>
          </a:solidFill>
          <a:ln/>
        </p:spPr>
        <p:txBody>
          <a:bodyPr/>
          <a:lstStyle/>
          <a:p>
            <a:endParaRPr lang="en-US"/>
          </a:p>
        </p:txBody>
      </p:sp>
      <p:sp>
        <p:nvSpPr>
          <p:cNvPr id="16" name="Shape 14">
            <a:extLst>
              <a:ext uri="{FF2B5EF4-FFF2-40B4-BE49-F238E27FC236}">
                <a16:creationId xmlns:a16="http://schemas.microsoft.com/office/drawing/2014/main" id="{853ADCCD-5D76-989F-A7B0-8ED3FC4CB42E}"/>
              </a:ext>
            </a:extLst>
          </p:cNvPr>
          <p:cNvSpPr/>
          <p:nvPr/>
        </p:nvSpPr>
        <p:spPr>
          <a:xfrm>
            <a:off x="3383280" y="2788920"/>
            <a:ext cx="2560320" cy="64008"/>
          </a:xfrm>
          <a:prstGeom prst="rect">
            <a:avLst/>
          </a:prstGeom>
          <a:solidFill>
            <a:srgbClr val="1D70B8"/>
          </a:solidFill>
          <a:ln/>
        </p:spPr>
        <p:txBody>
          <a:bodyPr/>
          <a:lstStyle/>
          <a:p>
            <a:endParaRPr lang="en-US"/>
          </a:p>
        </p:txBody>
      </p:sp>
      <p:sp>
        <p:nvSpPr>
          <p:cNvPr id="17" name="Text 15">
            <a:extLst>
              <a:ext uri="{FF2B5EF4-FFF2-40B4-BE49-F238E27FC236}">
                <a16:creationId xmlns:a16="http://schemas.microsoft.com/office/drawing/2014/main" id="{9B6710DD-5970-35C9-A0A6-F716CE1D74A0}"/>
              </a:ext>
            </a:extLst>
          </p:cNvPr>
          <p:cNvSpPr/>
          <p:nvPr/>
        </p:nvSpPr>
        <p:spPr>
          <a:xfrm>
            <a:off x="3520440" y="2944368"/>
            <a:ext cx="2286000" cy="594360"/>
          </a:xfrm>
          <a:prstGeom prst="rect">
            <a:avLst/>
          </a:prstGeom>
          <a:noFill/>
          <a:ln/>
        </p:spPr>
        <p:txBody>
          <a:bodyPr wrap="square" lIns="0" tIns="0" rIns="0" bIns="0" rtlCol="0" anchor="t"/>
          <a:lstStyle/>
          <a:p>
            <a:pPr marL="0" indent="0">
              <a:buNone/>
            </a:pPr>
            <a:r>
              <a:rPr lang="en-US" sz="1400" b="1" dirty="0">
                <a:solidFill>
                  <a:srgbClr val="0B0C0C"/>
                </a:solidFill>
                <a:latin typeface="Trebuchet MS" pitchFamily="34" charset="0"/>
                <a:ea typeface="Trebuchet MS" pitchFamily="34" charset="-122"/>
                <a:cs typeface="Trebuchet MS" pitchFamily="34" charset="-120"/>
              </a:rPr>
              <a:t>IMP and the Excel pipeline</a:t>
            </a:r>
            <a:endParaRPr lang="en-US" sz="1400" dirty="0"/>
          </a:p>
        </p:txBody>
      </p:sp>
      <p:sp>
        <p:nvSpPr>
          <p:cNvPr id="18" name="Text 16">
            <a:extLst>
              <a:ext uri="{FF2B5EF4-FFF2-40B4-BE49-F238E27FC236}">
                <a16:creationId xmlns:a16="http://schemas.microsoft.com/office/drawing/2014/main" id="{FC6F3F3E-0E8F-CDC5-34EF-DE8CC7AE2B99}"/>
              </a:ext>
            </a:extLst>
          </p:cNvPr>
          <p:cNvSpPr/>
          <p:nvPr/>
        </p:nvSpPr>
        <p:spPr>
          <a:xfrm>
            <a:off x="3520440" y="3566160"/>
            <a:ext cx="2286000" cy="1600200"/>
          </a:xfrm>
          <a:prstGeom prst="rect">
            <a:avLst/>
          </a:prstGeom>
          <a:noFill/>
          <a:ln/>
        </p:spPr>
        <p:txBody>
          <a:bodyPr wrap="square" lIns="0" tIns="0" rIns="0" bIns="0" rtlCol="0" anchor="t"/>
          <a:lstStyle/>
          <a:p>
            <a:pPr marL="0" indent="0">
              <a:buNone/>
            </a:pPr>
            <a:r>
              <a:rPr lang="en-US" sz="1200" dirty="0">
                <a:solidFill>
                  <a:srgbClr val="0B0C0C"/>
                </a:solidFill>
                <a:latin typeface="Calibri" pitchFamily="34" charset="0"/>
                <a:ea typeface="Calibri" pitchFamily="34" charset="-122"/>
                <a:cs typeface="Calibri" pitchFamily="34" charset="-120"/>
              </a:rPr>
              <a:t>New IMP certificate type for EU live animal imports, defined in Excel. A second pipeline turns the spreadsheet into more denormalised JSON. Brexit occurs 31 Jan 2020.</a:t>
            </a:r>
            <a:endParaRPr lang="en-US" sz="1200" dirty="0"/>
          </a:p>
        </p:txBody>
      </p:sp>
      <p:sp>
        <p:nvSpPr>
          <p:cNvPr id="19" name="Shape 17">
            <a:extLst>
              <a:ext uri="{FF2B5EF4-FFF2-40B4-BE49-F238E27FC236}">
                <a16:creationId xmlns:a16="http://schemas.microsoft.com/office/drawing/2014/main" id="{E0973EFE-57EA-2623-2DF9-1A7A849B6966}"/>
              </a:ext>
            </a:extLst>
          </p:cNvPr>
          <p:cNvSpPr/>
          <p:nvPr/>
        </p:nvSpPr>
        <p:spPr>
          <a:xfrm>
            <a:off x="6272784" y="2441448"/>
            <a:ext cx="201168" cy="201168"/>
          </a:xfrm>
          <a:prstGeom prst="ellipse">
            <a:avLst/>
          </a:prstGeom>
          <a:solidFill>
            <a:srgbClr val="F47738"/>
          </a:solidFill>
          <a:ln/>
        </p:spPr>
        <p:txBody>
          <a:bodyPr/>
          <a:lstStyle/>
          <a:p>
            <a:endParaRPr lang="en-US"/>
          </a:p>
        </p:txBody>
      </p:sp>
      <p:sp>
        <p:nvSpPr>
          <p:cNvPr id="20" name="Text 18">
            <a:extLst>
              <a:ext uri="{FF2B5EF4-FFF2-40B4-BE49-F238E27FC236}">
                <a16:creationId xmlns:a16="http://schemas.microsoft.com/office/drawing/2014/main" id="{39C7568C-8C91-DFB2-F588-7B4EC8B10150}"/>
              </a:ext>
            </a:extLst>
          </p:cNvPr>
          <p:cNvSpPr/>
          <p:nvPr/>
        </p:nvSpPr>
        <p:spPr>
          <a:xfrm>
            <a:off x="6565392" y="2084832"/>
            <a:ext cx="2194560" cy="329184"/>
          </a:xfrm>
          <a:prstGeom prst="rect">
            <a:avLst/>
          </a:prstGeom>
          <a:noFill/>
          <a:ln/>
        </p:spPr>
        <p:txBody>
          <a:bodyPr wrap="square" lIns="0" tIns="0" rIns="0" bIns="0" rtlCol="0" anchor="b"/>
          <a:lstStyle/>
          <a:p>
            <a:pPr marL="0" indent="0">
              <a:buNone/>
            </a:pPr>
            <a:r>
              <a:rPr lang="en-US" sz="1700" b="1" dirty="0">
                <a:solidFill>
                  <a:srgbClr val="F47738"/>
                </a:solidFill>
                <a:latin typeface="Trebuchet MS" pitchFamily="34" charset="0"/>
                <a:ea typeface="Trebuchet MS" pitchFamily="34" charset="-122"/>
                <a:cs typeface="Trebuchet MS" pitchFamily="34" charset="-120"/>
              </a:rPr>
              <a:t>2022</a:t>
            </a:r>
            <a:endParaRPr lang="en-US" sz="1700" dirty="0"/>
          </a:p>
        </p:txBody>
      </p:sp>
      <p:sp>
        <p:nvSpPr>
          <p:cNvPr id="21" name="Shape 19">
            <a:extLst>
              <a:ext uri="{FF2B5EF4-FFF2-40B4-BE49-F238E27FC236}">
                <a16:creationId xmlns:a16="http://schemas.microsoft.com/office/drawing/2014/main" id="{F5537819-4377-3DAA-80DB-1A4304B3CBA4}"/>
              </a:ext>
            </a:extLst>
          </p:cNvPr>
          <p:cNvSpPr/>
          <p:nvPr/>
        </p:nvSpPr>
        <p:spPr>
          <a:xfrm>
            <a:off x="6217920" y="2788920"/>
            <a:ext cx="2560320" cy="2468880"/>
          </a:xfrm>
          <a:prstGeom prst="rect">
            <a:avLst/>
          </a:prstGeom>
          <a:solidFill>
            <a:srgbClr val="F3F2F1"/>
          </a:solidFill>
          <a:ln/>
        </p:spPr>
        <p:txBody>
          <a:bodyPr/>
          <a:lstStyle/>
          <a:p>
            <a:endParaRPr lang="en-US"/>
          </a:p>
        </p:txBody>
      </p:sp>
      <p:sp>
        <p:nvSpPr>
          <p:cNvPr id="22" name="Shape 20">
            <a:extLst>
              <a:ext uri="{FF2B5EF4-FFF2-40B4-BE49-F238E27FC236}">
                <a16:creationId xmlns:a16="http://schemas.microsoft.com/office/drawing/2014/main" id="{FEE7BC2B-59A4-1C79-E361-B35A0BA87FED}"/>
              </a:ext>
            </a:extLst>
          </p:cNvPr>
          <p:cNvSpPr/>
          <p:nvPr/>
        </p:nvSpPr>
        <p:spPr>
          <a:xfrm>
            <a:off x="6217920" y="2788920"/>
            <a:ext cx="2560320" cy="64008"/>
          </a:xfrm>
          <a:prstGeom prst="rect">
            <a:avLst/>
          </a:prstGeom>
          <a:solidFill>
            <a:srgbClr val="F47738"/>
          </a:solidFill>
          <a:ln/>
        </p:spPr>
        <p:txBody>
          <a:bodyPr/>
          <a:lstStyle/>
          <a:p>
            <a:endParaRPr lang="en-US"/>
          </a:p>
        </p:txBody>
      </p:sp>
      <p:sp>
        <p:nvSpPr>
          <p:cNvPr id="23" name="Text 21">
            <a:extLst>
              <a:ext uri="{FF2B5EF4-FFF2-40B4-BE49-F238E27FC236}">
                <a16:creationId xmlns:a16="http://schemas.microsoft.com/office/drawing/2014/main" id="{5CCCB9A1-7A4B-B989-6298-9401844EAC8D}"/>
              </a:ext>
            </a:extLst>
          </p:cNvPr>
          <p:cNvSpPr/>
          <p:nvPr/>
        </p:nvSpPr>
        <p:spPr>
          <a:xfrm>
            <a:off x="6355080" y="2944368"/>
            <a:ext cx="2286000" cy="594360"/>
          </a:xfrm>
          <a:prstGeom prst="rect">
            <a:avLst/>
          </a:prstGeom>
          <a:noFill/>
          <a:ln/>
        </p:spPr>
        <p:txBody>
          <a:bodyPr wrap="square" lIns="0" tIns="0" rIns="0" bIns="0" rtlCol="0" anchor="t"/>
          <a:lstStyle/>
          <a:p>
            <a:pPr marL="0" indent="0">
              <a:buNone/>
            </a:pPr>
            <a:r>
              <a:rPr lang="en-US" sz="1400" b="1" dirty="0">
                <a:solidFill>
                  <a:srgbClr val="0B0C0C"/>
                </a:solidFill>
                <a:latin typeface="Trebuchet MS" pitchFamily="34" charset="0"/>
                <a:ea typeface="Trebuchet MS" pitchFamily="34" charset="-122"/>
                <a:cs typeface="Trebuchet MS" pitchFamily="34" charset="-120"/>
              </a:rPr>
              <a:t>CHED-A and certificate overrides</a:t>
            </a:r>
            <a:endParaRPr lang="en-US" sz="1400" dirty="0"/>
          </a:p>
        </p:txBody>
      </p:sp>
      <p:sp>
        <p:nvSpPr>
          <p:cNvPr id="24" name="Text 22">
            <a:extLst>
              <a:ext uri="{FF2B5EF4-FFF2-40B4-BE49-F238E27FC236}">
                <a16:creationId xmlns:a16="http://schemas.microsoft.com/office/drawing/2014/main" id="{9C23DC65-5FF5-2167-14E3-E90D9C7DFF28}"/>
              </a:ext>
            </a:extLst>
          </p:cNvPr>
          <p:cNvSpPr/>
          <p:nvPr/>
        </p:nvSpPr>
        <p:spPr>
          <a:xfrm>
            <a:off x="6355080" y="3566160"/>
            <a:ext cx="2286000" cy="1600200"/>
          </a:xfrm>
          <a:prstGeom prst="rect">
            <a:avLst/>
          </a:prstGeom>
          <a:noFill/>
          <a:ln/>
        </p:spPr>
        <p:txBody>
          <a:bodyPr wrap="square" lIns="0" tIns="0" rIns="0" bIns="0" rtlCol="0" anchor="t"/>
          <a:lstStyle/>
          <a:p>
            <a:pPr marL="0" indent="0">
              <a:buNone/>
            </a:pPr>
            <a:r>
              <a:rPr lang="en-US" sz="1200" dirty="0">
                <a:solidFill>
                  <a:srgbClr val="0B0C0C"/>
                </a:solidFill>
                <a:latin typeface="Calibri" pitchFamily="34" charset="0"/>
                <a:ea typeface="Calibri" pitchFamily="34" charset="-122"/>
                <a:cs typeface="Calibri" pitchFamily="34" charset="-120"/>
              </a:rPr>
              <a:t>IMP journeys become CHED-A, but 5 IMP features are “cherry-picked” in via new certificate overrides. Changes to IMP configs can now silently break CHED-A journeys.</a:t>
            </a:r>
            <a:endParaRPr lang="en-US" sz="1200" dirty="0"/>
          </a:p>
        </p:txBody>
      </p:sp>
      <p:sp>
        <p:nvSpPr>
          <p:cNvPr id="25" name="Shape 23">
            <a:extLst>
              <a:ext uri="{FF2B5EF4-FFF2-40B4-BE49-F238E27FC236}">
                <a16:creationId xmlns:a16="http://schemas.microsoft.com/office/drawing/2014/main" id="{3F3A8C5A-ED1B-F66D-E914-27D13CE46618}"/>
              </a:ext>
            </a:extLst>
          </p:cNvPr>
          <p:cNvSpPr/>
          <p:nvPr/>
        </p:nvSpPr>
        <p:spPr>
          <a:xfrm>
            <a:off x="9107424" y="2441448"/>
            <a:ext cx="201168" cy="201168"/>
          </a:xfrm>
          <a:prstGeom prst="ellipse">
            <a:avLst/>
          </a:prstGeom>
          <a:solidFill>
            <a:srgbClr val="D4351C"/>
          </a:solidFill>
          <a:ln/>
        </p:spPr>
        <p:txBody>
          <a:bodyPr/>
          <a:lstStyle/>
          <a:p>
            <a:endParaRPr lang="en-US"/>
          </a:p>
        </p:txBody>
      </p:sp>
      <p:sp>
        <p:nvSpPr>
          <p:cNvPr id="26" name="Text 24">
            <a:extLst>
              <a:ext uri="{FF2B5EF4-FFF2-40B4-BE49-F238E27FC236}">
                <a16:creationId xmlns:a16="http://schemas.microsoft.com/office/drawing/2014/main" id="{26ADDB10-66D7-628A-DC58-61402E4EEC06}"/>
              </a:ext>
            </a:extLst>
          </p:cNvPr>
          <p:cNvSpPr/>
          <p:nvPr/>
        </p:nvSpPr>
        <p:spPr>
          <a:xfrm>
            <a:off x="9400032" y="2084832"/>
            <a:ext cx="2194560" cy="329184"/>
          </a:xfrm>
          <a:prstGeom prst="rect">
            <a:avLst/>
          </a:prstGeom>
          <a:noFill/>
          <a:ln/>
        </p:spPr>
        <p:txBody>
          <a:bodyPr wrap="square" lIns="0" tIns="0" rIns="0" bIns="0" rtlCol="0" anchor="b"/>
          <a:lstStyle/>
          <a:p>
            <a:pPr marL="0" indent="0">
              <a:buNone/>
            </a:pPr>
            <a:r>
              <a:rPr lang="en-US" sz="1700" b="1" dirty="0">
                <a:solidFill>
                  <a:srgbClr val="D4351C"/>
                </a:solidFill>
                <a:latin typeface="Trebuchet MS" pitchFamily="34" charset="0"/>
                <a:ea typeface="Trebuchet MS" pitchFamily="34" charset="-122"/>
                <a:cs typeface="Trebuchet MS" pitchFamily="34" charset="-120"/>
              </a:rPr>
              <a:t>2023</a:t>
            </a:r>
            <a:endParaRPr lang="en-US" sz="1700" dirty="0"/>
          </a:p>
        </p:txBody>
      </p:sp>
      <p:sp>
        <p:nvSpPr>
          <p:cNvPr id="27" name="Shape 25">
            <a:extLst>
              <a:ext uri="{FF2B5EF4-FFF2-40B4-BE49-F238E27FC236}">
                <a16:creationId xmlns:a16="http://schemas.microsoft.com/office/drawing/2014/main" id="{70CB55E3-DE12-4821-3172-216601E70427}"/>
              </a:ext>
            </a:extLst>
          </p:cNvPr>
          <p:cNvSpPr/>
          <p:nvPr/>
        </p:nvSpPr>
        <p:spPr>
          <a:xfrm>
            <a:off x="9052560" y="2788920"/>
            <a:ext cx="2560320" cy="2468880"/>
          </a:xfrm>
          <a:prstGeom prst="rect">
            <a:avLst/>
          </a:prstGeom>
          <a:solidFill>
            <a:srgbClr val="F3F2F1"/>
          </a:solidFill>
          <a:ln/>
        </p:spPr>
        <p:txBody>
          <a:bodyPr/>
          <a:lstStyle/>
          <a:p>
            <a:endParaRPr lang="en-US"/>
          </a:p>
        </p:txBody>
      </p:sp>
      <p:sp>
        <p:nvSpPr>
          <p:cNvPr id="28" name="Shape 26">
            <a:extLst>
              <a:ext uri="{FF2B5EF4-FFF2-40B4-BE49-F238E27FC236}">
                <a16:creationId xmlns:a16="http://schemas.microsoft.com/office/drawing/2014/main" id="{1AB1B70A-3FFD-B05A-450F-C14740535AD4}"/>
              </a:ext>
            </a:extLst>
          </p:cNvPr>
          <p:cNvSpPr/>
          <p:nvPr/>
        </p:nvSpPr>
        <p:spPr>
          <a:xfrm>
            <a:off x="9052560" y="2788920"/>
            <a:ext cx="2560320" cy="64008"/>
          </a:xfrm>
          <a:prstGeom prst="rect">
            <a:avLst/>
          </a:prstGeom>
          <a:solidFill>
            <a:srgbClr val="D4351C"/>
          </a:solidFill>
          <a:ln/>
        </p:spPr>
        <p:txBody>
          <a:bodyPr/>
          <a:lstStyle/>
          <a:p>
            <a:endParaRPr lang="en-US"/>
          </a:p>
        </p:txBody>
      </p:sp>
      <p:sp>
        <p:nvSpPr>
          <p:cNvPr id="29" name="Text 27">
            <a:extLst>
              <a:ext uri="{FF2B5EF4-FFF2-40B4-BE49-F238E27FC236}">
                <a16:creationId xmlns:a16="http://schemas.microsoft.com/office/drawing/2014/main" id="{2765481D-4D50-56EB-F1FC-B42E87130841}"/>
              </a:ext>
            </a:extLst>
          </p:cNvPr>
          <p:cNvSpPr/>
          <p:nvPr/>
        </p:nvSpPr>
        <p:spPr>
          <a:xfrm>
            <a:off x="9189720" y="2944368"/>
            <a:ext cx="2286000" cy="594360"/>
          </a:xfrm>
          <a:prstGeom prst="rect">
            <a:avLst/>
          </a:prstGeom>
          <a:noFill/>
          <a:ln/>
        </p:spPr>
        <p:txBody>
          <a:bodyPr wrap="square" lIns="0" tIns="0" rIns="0" bIns="0" rtlCol="0" anchor="t"/>
          <a:lstStyle/>
          <a:p>
            <a:pPr marL="0" indent="0">
              <a:buNone/>
            </a:pPr>
            <a:r>
              <a:rPr lang="en-US" sz="1400" b="1" dirty="0">
                <a:solidFill>
                  <a:srgbClr val="0B0C0C"/>
                </a:solidFill>
                <a:latin typeface="Trebuchet MS" pitchFamily="34" charset="0"/>
                <a:ea typeface="Trebuchet MS" pitchFamily="34" charset="-122"/>
                <a:cs typeface="Trebuchet MS" pitchFamily="34" charset="-120"/>
              </a:rPr>
              <a:t>Partial retreat</a:t>
            </a:r>
            <a:endParaRPr lang="en-US" sz="1400" dirty="0"/>
          </a:p>
        </p:txBody>
      </p:sp>
      <p:sp>
        <p:nvSpPr>
          <p:cNvPr id="30" name="Text 28">
            <a:extLst>
              <a:ext uri="{FF2B5EF4-FFF2-40B4-BE49-F238E27FC236}">
                <a16:creationId xmlns:a16="http://schemas.microsoft.com/office/drawing/2014/main" id="{97B4224D-4F35-8066-2063-E84129196C8F}"/>
              </a:ext>
            </a:extLst>
          </p:cNvPr>
          <p:cNvSpPr/>
          <p:nvPr/>
        </p:nvSpPr>
        <p:spPr>
          <a:xfrm>
            <a:off x="9189720" y="3566160"/>
            <a:ext cx="2286000" cy="1600200"/>
          </a:xfrm>
          <a:prstGeom prst="rect">
            <a:avLst/>
          </a:prstGeom>
          <a:noFill/>
          <a:ln/>
        </p:spPr>
        <p:txBody>
          <a:bodyPr wrap="square" lIns="0" tIns="0" rIns="0" bIns="0" rtlCol="0" anchor="t"/>
          <a:lstStyle/>
          <a:p>
            <a:pPr marL="0" indent="0">
              <a:buNone/>
            </a:pPr>
            <a:r>
              <a:rPr lang="en-US" sz="1200" dirty="0">
                <a:solidFill>
                  <a:srgbClr val="0B0C0C"/>
                </a:solidFill>
                <a:latin typeface="Calibri" pitchFamily="34" charset="0"/>
                <a:ea typeface="Calibri" pitchFamily="34" charset="-122"/>
                <a:cs typeface="Calibri" pitchFamily="34" charset="-120"/>
              </a:rPr>
              <a:t>Parts 2 and 3 of all journeys migrate off field config. What remains carries huge duplication: thousands of configs exist only because labels encode commodity codes.</a:t>
            </a:r>
            <a:endParaRPr lang="en-US" sz="1200" dirty="0"/>
          </a:p>
        </p:txBody>
      </p:sp>
      <p:sp>
        <p:nvSpPr>
          <p:cNvPr id="31" name="Shape 29">
            <a:extLst>
              <a:ext uri="{FF2B5EF4-FFF2-40B4-BE49-F238E27FC236}">
                <a16:creationId xmlns:a16="http://schemas.microsoft.com/office/drawing/2014/main" id="{38DC1B47-11C2-AD75-7BEB-F4B5F53101FF}"/>
              </a:ext>
            </a:extLst>
          </p:cNvPr>
          <p:cNvSpPr/>
          <p:nvPr/>
        </p:nvSpPr>
        <p:spPr>
          <a:xfrm>
            <a:off x="548640" y="5623560"/>
            <a:ext cx="11064240" cy="658368"/>
          </a:xfrm>
          <a:prstGeom prst="rect">
            <a:avLst/>
          </a:prstGeom>
          <a:solidFill>
            <a:srgbClr val="0B0C0C"/>
          </a:solidFill>
          <a:ln/>
        </p:spPr>
        <p:txBody>
          <a:bodyPr/>
          <a:lstStyle/>
          <a:p>
            <a:endParaRPr lang="en-US"/>
          </a:p>
        </p:txBody>
      </p:sp>
      <p:sp>
        <p:nvSpPr>
          <p:cNvPr id="32" name="Text 30">
            <a:extLst>
              <a:ext uri="{FF2B5EF4-FFF2-40B4-BE49-F238E27FC236}">
                <a16:creationId xmlns:a16="http://schemas.microsoft.com/office/drawing/2014/main" id="{A2FF2498-4DCB-07CA-107D-B6159B977468}"/>
              </a:ext>
            </a:extLst>
          </p:cNvPr>
          <p:cNvSpPr/>
          <p:nvPr/>
        </p:nvSpPr>
        <p:spPr>
          <a:xfrm>
            <a:off x="777240" y="5623560"/>
            <a:ext cx="10607040" cy="658368"/>
          </a:xfrm>
          <a:prstGeom prst="rect">
            <a:avLst/>
          </a:prstGeom>
          <a:noFill/>
          <a:ln/>
        </p:spPr>
        <p:txBody>
          <a:bodyPr wrap="square" lIns="0" tIns="0" rIns="0" bIns="0" rtlCol="0" anchor="ctr"/>
          <a:lstStyle/>
          <a:p>
            <a:pPr marL="0" indent="0">
              <a:buNone/>
            </a:pPr>
            <a:r>
              <a:rPr lang="en-US" sz="1450" b="1" dirty="0">
                <a:solidFill>
                  <a:srgbClr val="FFFFFF"/>
                </a:solidFill>
                <a:latin typeface="Trebuchet MS" pitchFamily="34" charset="0"/>
                <a:ea typeface="Trebuchet MS" pitchFamily="34" charset="-122"/>
                <a:cs typeface="Trebuchet MS" pitchFamily="34" charset="-120"/>
              </a:rPr>
              <a:t>A 2018 snapshot of another system’s UI, accreted through six years of policy change.</a:t>
            </a:r>
            <a:endParaRPr lang="en-US" sz="1450" dirty="0"/>
          </a:p>
        </p:txBody>
      </p:sp>
    </p:spTree>
    <p:extLst>
      <p:ext uri="{BB962C8B-B14F-4D97-AF65-F5344CB8AC3E}">
        <p14:creationId xmlns:p14="http://schemas.microsoft.com/office/powerpoint/2010/main" val="3946212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sessions/relaxed-epic-ritchie/mnt/Field Config Analysis/slide-visuals/interaction-simple-model.png"/>
          <p:cNvPicPr>
            <a:picLocks noChangeAspect="1"/>
          </p:cNvPicPr>
          <p:nvPr/>
        </p:nvPicPr>
        <p:blipFill>
          <a:blip r:embed="rId3"/>
          <a:stretch>
            <a:fillRect/>
          </a:stretch>
        </p:blipFill>
        <p:spPr>
          <a:xfrm>
            <a:off x="274320" y="1325880"/>
            <a:ext cx="11612880" cy="4206240"/>
          </a:xfrm>
          <a:prstGeom prst="rect">
            <a:avLst/>
          </a:prstGeom>
        </p:spPr>
      </p:pic>
      <p:sp>
        <p:nvSpPr>
          <p:cNvPr id="3" name="TextBox 2">
            <a:extLst>
              <a:ext uri="{FF2B5EF4-FFF2-40B4-BE49-F238E27FC236}">
                <a16:creationId xmlns:a16="http://schemas.microsoft.com/office/drawing/2014/main" id="{181500C8-F2A8-5679-7CE6-0F432EE4C523}"/>
              </a:ext>
            </a:extLst>
          </p:cNvPr>
          <p:cNvSpPr txBox="1"/>
          <p:nvPr/>
        </p:nvSpPr>
        <p:spPr>
          <a:xfrm>
            <a:off x="509286" y="5532120"/>
            <a:ext cx="10396500" cy="369332"/>
          </a:xfrm>
          <a:prstGeom prst="rect">
            <a:avLst/>
          </a:prstGeom>
          <a:noFill/>
        </p:spPr>
        <p:txBody>
          <a:bodyPr wrap="none" rtlCol="0">
            <a:spAutoFit/>
          </a:bodyPr>
          <a:lstStyle/>
          <a:p>
            <a:r>
              <a:rPr lang="en-US" dirty="0"/>
              <a:t>Don’t forget to look at the Field Config Data in VNET -  use import PURPOSE, and check commodity item page</a:t>
            </a:r>
          </a:p>
        </p:txBody>
      </p:sp>
      <p:pic>
        <p:nvPicPr>
          <p:cNvPr id="5" name="Graphic 4" descr="Lightbulb and gear with solid fill">
            <a:extLst>
              <a:ext uri="{FF2B5EF4-FFF2-40B4-BE49-F238E27FC236}">
                <a16:creationId xmlns:a16="http://schemas.microsoft.com/office/drawing/2014/main" id="{5893CA75-22C7-545E-AED1-EE6E2DDEE7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4800" y="5322668"/>
            <a:ext cx="369332" cy="3693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sessions/relaxed-epic-ritchie/mnt/Field Config Analysis/slide-visuals/interaction-actual-complexity.png"/>
          <p:cNvPicPr>
            <a:picLocks noChangeAspect="1"/>
          </p:cNvPicPr>
          <p:nvPr/>
        </p:nvPicPr>
        <p:blipFill>
          <a:blip r:embed="rId3"/>
          <a:stretch>
            <a:fillRect/>
          </a:stretch>
        </p:blipFill>
        <p:spPr>
          <a:xfrm>
            <a:off x="594360" y="246888"/>
            <a:ext cx="10972800" cy="63642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48640"/>
          </a:xfrm>
          <a:prstGeom prst="rect">
            <a:avLst/>
          </a:prstGeom>
          <a:noFill/>
          <a:ln/>
        </p:spPr>
        <p:txBody>
          <a:bodyPr wrap="square" lIns="0" tIns="0" rIns="0" bIns="0" rtlCol="0" anchor="ctr"/>
          <a:lstStyle/>
          <a:p>
            <a:pPr marL="0" indent="0">
              <a:buNone/>
            </a:pPr>
            <a:r>
              <a:rPr lang="en-US" sz="2500" b="1" dirty="0">
                <a:solidFill>
                  <a:srgbClr val="0B0C0C"/>
                </a:solidFill>
                <a:latin typeface="Trebuchet MS" pitchFamily="34" charset="0"/>
                <a:ea typeface="Trebuchet MS" pitchFamily="34" charset="-122"/>
                <a:cs typeface="Trebuchet MS" pitchFamily="34" charset="-120"/>
              </a:rPr>
              <a:t>Not fit to carry forward: a monolith fused to IPAFFS</a:t>
            </a:r>
            <a:endParaRPr lang="en-US" sz="2500" dirty="0"/>
          </a:p>
        </p:txBody>
      </p:sp>
      <p:sp>
        <p:nvSpPr>
          <p:cNvPr id="3" name="Shape 1"/>
          <p:cNvSpPr/>
          <p:nvPr/>
        </p:nvSpPr>
        <p:spPr>
          <a:xfrm>
            <a:off x="548640" y="960120"/>
            <a:ext cx="11064240" cy="914400"/>
          </a:xfrm>
          <a:prstGeom prst="rect">
            <a:avLst/>
          </a:prstGeom>
          <a:solidFill>
            <a:srgbClr val="F3F2F1"/>
          </a:solidFill>
          <a:ln/>
        </p:spPr>
        <p:txBody>
          <a:bodyPr/>
          <a:lstStyle/>
          <a:p>
            <a:endParaRPr lang="en-US"/>
          </a:p>
        </p:txBody>
      </p:sp>
      <p:sp>
        <p:nvSpPr>
          <p:cNvPr id="4" name="Shape 2"/>
          <p:cNvSpPr/>
          <p:nvPr/>
        </p:nvSpPr>
        <p:spPr>
          <a:xfrm>
            <a:off x="548640" y="960120"/>
            <a:ext cx="82296" cy="914400"/>
          </a:xfrm>
          <a:prstGeom prst="rect">
            <a:avLst/>
          </a:prstGeom>
          <a:solidFill>
            <a:srgbClr val="D4351C"/>
          </a:solidFill>
          <a:ln/>
        </p:spPr>
        <p:txBody>
          <a:bodyPr/>
          <a:lstStyle/>
          <a:p>
            <a:endParaRPr lang="en-US"/>
          </a:p>
        </p:txBody>
      </p:sp>
      <p:sp>
        <p:nvSpPr>
          <p:cNvPr id="5" name="Text 3"/>
          <p:cNvSpPr/>
          <p:nvPr/>
        </p:nvSpPr>
        <p:spPr>
          <a:xfrm>
            <a:off x="777240" y="960120"/>
            <a:ext cx="10607040" cy="914400"/>
          </a:xfrm>
          <a:prstGeom prst="rect">
            <a:avLst/>
          </a:prstGeom>
          <a:noFill/>
          <a:ln/>
        </p:spPr>
        <p:txBody>
          <a:bodyPr wrap="square" lIns="0" tIns="0" rIns="0" bIns="0" rtlCol="0" anchor="ctr"/>
          <a:lstStyle/>
          <a:p>
            <a:pPr marL="0" indent="0">
              <a:buNone/>
            </a:pPr>
            <a:r>
              <a:rPr lang="en-US" sz="1350" b="1" dirty="0">
                <a:solidFill>
                  <a:srgbClr val="0B0C0C"/>
                </a:solidFill>
                <a:latin typeface="Calibri" pitchFamily="34" charset="0"/>
                <a:ea typeface="Calibri" pitchFamily="34" charset="-122"/>
                <a:cs typeface="Calibri" pitchFamily="34" charset="-120"/>
              </a:rPr>
              <a:t xml:space="preserve">No single place defines a user journey. </a:t>
            </a:r>
            <a:r>
              <a:rPr lang="en-US" sz="1350" dirty="0">
                <a:solidFill>
                  <a:srgbClr val="0B0C0C"/>
                </a:solidFill>
                <a:latin typeface="Calibri" pitchFamily="34" charset="0"/>
                <a:ea typeface="Calibri" pitchFamily="34" charset="-122"/>
                <a:cs typeface="Calibri" pitchFamily="34" charset="-120"/>
              </a:rPr>
              <a:t>It emerges at runtime from five systems: routing dispatcher → certificate routing table → transport type → handler eligibility checks → field config. Field config is a menu the frontend may consult, not a journey definition.</a:t>
            </a:r>
            <a:endParaRPr lang="en-US" sz="1350" dirty="0"/>
          </a:p>
        </p:txBody>
      </p:sp>
      <p:sp>
        <p:nvSpPr>
          <p:cNvPr id="6" name="Shape 4"/>
          <p:cNvSpPr/>
          <p:nvPr/>
        </p:nvSpPr>
        <p:spPr>
          <a:xfrm>
            <a:off x="548640" y="2194560"/>
            <a:ext cx="3502152" cy="1417320"/>
          </a:xfrm>
          <a:prstGeom prst="rect">
            <a:avLst/>
          </a:prstGeom>
          <a:solidFill>
            <a:srgbClr val="F3F2F1"/>
          </a:solidFill>
          <a:ln/>
        </p:spPr>
        <p:txBody>
          <a:bodyPr/>
          <a:lstStyle/>
          <a:p>
            <a:endParaRPr lang="en-US"/>
          </a:p>
        </p:txBody>
      </p:sp>
      <p:sp>
        <p:nvSpPr>
          <p:cNvPr id="7" name="Shape 5"/>
          <p:cNvSpPr/>
          <p:nvPr/>
        </p:nvSpPr>
        <p:spPr>
          <a:xfrm>
            <a:off x="548640" y="2194560"/>
            <a:ext cx="384048" cy="384048"/>
          </a:xfrm>
          <a:prstGeom prst="rect">
            <a:avLst/>
          </a:prstGeom>
          <a:solidFill>
            <a:srgbClr val="D4351C"/>
          </a:solidFill>
          <a:ln/>
        </p:spPr>
        <p:txBody>
          <a:bodyPr/>
          <a:lstStyle/>
          <a:p>
            <a:endParaRPr lang="en-US"/>
          </a:p>
        </p:txBody>
      </p:sp>
      <p:sp>
        <p:nvSpPr>
          <p:cNvPr id="8" name="Text 6"/>
          <p:cNvSpPr/>
          <p:nvPr/>
        </p:nvSpPr>
        <p:spPr>
          <a:xfrm>
            <a:off x="548640" y="21945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9" name="Text 7"/>
          <p:cNvSpPr/>
          <p:nvPr/>
        </p:nvSpPr>
        <p:spPr>
          <a:xfrm>
            <a:off x="1060704" y="2212848"/>
            <a:ext cx="2898648" cy="384048"/>
          </a:xfrm>
          <a:prstGeom prst="rect">
            <a:avLst/>
          </a:prstGeom>
          <a:noFill/>
          <a:ln/>
        </p:spPr>
        <p:txBody>
          <a:bodyPr wrap="square" lIns="0" tIns="0" rIns="0" bIns="0" rtlCol="0" anchor="ctr"/>
          <a:lstStyle/>
          <a:p>
            <a:pPr marL="0" indent="0">
              <a:buNone/>
            </a:pPr>
            <a:r>
              <a:rPr lang="en-US" sz="1350" b="1" dirty="0">
                <a:solidFill>
                  <a:srgbClr val="0B0C0C"/>
                </a:solidFill>
                <a:latin typeface="Trebuchet MS" pitchFamily="34" charset="0"/>
                <a:ea typeface="Trebuchet MS" pitchFamily="34" charset="-122"/>
                <a:cs typeface="Trebuchet MS" pitchFamily="34" charset="-120"/>
              </a:rPr>
              <a:t>Inner platform effect</a:t>
            </a:r>
            <a:endParaRPr lang="en-US" sz="1350" dirty="0"/>
          </a:p>
        </p:txBody>
      </p:sp>
      <p:sp>
        <p:nvSpPr>
          <p:cNvPr id="10" name="Text 8"/>
          <p:cNvSpPr/>
          <p:nvPr/>
        </p:nvSpPr>
        <p:spPr>
          <a:xfrm>
            <a:off x="713232" y="2697480"/>
            <a:ext cx="3172968" cy="79552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47,491 components (16.6%) embed executable JavaScript strings as field values. No schema catches a rename.</a:t>
            </a:r>
            <a:endParaRPr lang="en-US" sz="1150" dirty="0"/>
          </a:p>
        </p:txBody>
      </p:sp>
      <p:sp>
        <p:nvSpPr>
          <p:cNvPr id="11" name="Shape 9"/>
          <p:cNvSpPr/>
          <p:nvPr/>
        </p:nvSpPr>
        <p:spPr>
          <a:xfrm>
            <a:off x="4325112" y="2194560"/>
            <a:ext cx="3502152" cy="1417320"/>
          </a:xfrm>
          <a:prstGeom prst="rect">
            <a:avLst/>
          </a:prstGeom>
          <a:solidFill>
            <a:srgbClr val="F3F2F1"/>
          </a:solidFill>
          <a:ln/>
        </p:spPr>
        <p:txBody>
          <a:bodyPr/>
          <a:lstStyle/>
          <a:p>
            <a:endParaRPr lang="en-US"/>
          </a:p>
        </p:txBody>
      </p:sp>
      <p:sp>
        <p:nvSpPr>
          <p:cNvPr id="12" name="Shape 10"/>
          <p:cNvSpPr/>
          <p:nvPr/>
        </p:nvSpPr>
        <p:spPr>
          <a:xfrm>
            <a:off x="4325112" y="2194560"/>
            <a:ext cx="384048" cy="384048"/>
          </a:xfrm>
          <a:prstGeom prst="rect">
            <a:avLst/>
          </a:prstGeom>
          <a:solidFill>
            <a:srgbClr val="D4351C"/>
          </a:solidFill>
          <a:ln/>
        </p:spPr>
        <p:txBody>
          <a:bodyPr/>
          <a:lstStyle/>
          <a:p>
            <a:endParaRPr lang="en-US"/>
          </a:p>
        </p:txBody>
      </p:sp>
      <p:sp>
        <p:nvSpPr>
          <p:cNvPr id="13" name="Text 11"/>
          <p:cNvSpPr/>
          <p:nvPr/>
        </p:nvSpPr>
        <p:spPr>
          <a:xfrm>
            <a:off x="4325112" y="21945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4" name="Text 12"/>
          <p:cNvSpPr/>
          <p:nvPr/>
        </p:nvSpPr>
        <p:spPr>
          <a:xfrm>
            <a:off x="4837176" y="2212848"/>
            <a:ext cx="2898648" cy="384048"/>
          </a:xfrm>
          <a:prstGeom prst="rect">
            <a:avLst/>
          </a:prstGeom>
          <a:noFill/>
          <a:ln/>
        </p:spPr>
        <p:txBody>
          <a:bodyPr wrap="square" lIns="0" tIns="0" rIns="0" bIns="0" rtlCol="0" anchor="ctr"/>
          <a:lstStyle/>
          <a:p>
            <a:pPr marL="0" indent="0">
              <a:buNone/>
            </a:pPr>
            <a:r>
              <a:rPr lang="en-US" sz="1350" b="1" dirty="0">
                <a:solidFill>
                  <a:srgbClr val="0B0C0C"/>
                </a:solidFill>
                <a:latin typeface="Trebuchet MS" pitchFamily="34" charset="0"/>
                <a:ea typeface="Trebuchet MS" pitchFamily="34" charset="-122"/>
                <a:cs typeface="Trebuchet MS" pitchFamily="34" charset="-120"/>
              </a:rPr>
              <a:t>Entangled concerns</a:t>
            </a:r>
            <a:endParaRPr lang="en-US" sz="1350" dirty="0"/>
          </a:p>
        </p:txBody>
      </p:sp>
      <p:sp>
        <p:nvSpPr>
          <p:cNvPr id="15" name="Text 13"/>
          <p:cNvSpPr/>
          <p:nvPr/>
        </p:nvSpPr>
        <p:spPr>
          <a:xfrm>
            <a:off x="4489704" y="2697480"/>
            <a:ext cx="3172968" cy="79552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One property (options[]) is a rendering instruction, a validation constraint, and a policy statement at the same time.</a:t>
            </a:r>
            <a:endParaRPr lang="en-US" sz="1150" dirty="0"/>
          </a:p>
        </p:txBody>
      </p:sp>
      <p:sp>
        <p:nvSpPr>
          <p:cNvPr id="16" name="Shape 14"/>
          <p:cNvSpPr/>
          <p:nvPr/>
        </p:nvSpPr>
        <p:spPr>
          <a:xfrm>
            <a:off x="8101584" y="2194560"/>
            <a:ext cx="3502152" cy="1417320"/>
          </a:xfrm>
          <a:prstGeom prst="rect">
            <a:avLst/>
          </a:prstGeom>
          <a:solidFill>
            <a:srgbClr val="F3F2F1"/>
          </a:solidFill>
          <a:ln/>
        </p:spPr>
        <p:txBody>
          <a:bodyPr/>
          <a:lstStyle/>
          <a:p>
            <a:endParaRPr lang="en-US"/>
          </a:p>
        </p:txBody>
      </p:sp>
      <p:sp>
        <p:nvSpPr>
          <p:cNvPr id="17" name="Shape 15"/>
          <p:cNvSpPr/>
          <p:nvPr/>
        </p:nvSpPr>
        <p:spPr>
          <a:xfrm>
            <a:off x="8101584" y="2194560"/>
            <a:ext cx="384048" cy="384048"/>
          </a:xfrm>
          <a:prstGeom prst="rect">
            <a:avLst/>
          </a:prstGeom>
          <a:solidFill>
            <a:srgbClr val="D4351C"/>
          </a:solidFill>
          <a:ln/>
        </p:spPr>
        <p:txBody>
          <a:bodyPr/>
          <a:lstStyle/>
          <a:p>
            <a:endParaRPr lang="en-US"/>
          </a:p>
        </p:txBody>
      </p:sp>
      <p:sp>
        <p:nvSpPr>
          <p:cNvPr id="18" name="Text 16"/>
          <p:cNvSpPr/>
          <p:nvPr/>
        </p:nvSpPr>
        <p:spPr>
          <a:xfrm>
            <a:off x="8101584" y="21945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9" name="Text 17"/>
          <p:cNvSpPr/>
          <p:nvPr/>
        </p:nvSpPr>
        <p:spPr>
          <a:xfrm>
            <a:off x="8613648" y="2212848"/>
            <a:ext cx="2898648" cy="384048"/>
          </a:xfrm>
          <a:prstGeom prst="rect">
            <a:avLst/>
          </a:prstGeom>
          <a:noFill/>
          <a:ln/>
        </p:spPr>
        <p:txBody>
          <a:bodyPr wrap="square" lIns="0" tIns="0" rIns="0" bIns="0" rtlCol="0" anchor="ctr"/>
          <a:lstStyle/>
          <a:p>
            <a:pPr marL="0" indent="0">
              <a:buNone/>
            </a:pPr>
            <a:r>
              <a:rPr lang="en-US" sz="1350" b="1" dirty="0">
                <a:solidFill>
                  <a:srgbClr val="0B0C0C"/>
                </a:solidFill>
                <a:latin typeface="Trebuchet MS" pitchFamily="34" charset="0"/>
                <a:ea typeface="Trebuchet MS" pitchFamily="34" charset="-122"/>
                <a:cs typeface="Trebuchet MS" pitchFamily="34" charset="-120"/>
              </a:rPr>
              <a:t>Undifferentiated blobs</a:t>
            </a:r>
            <a:endParaRPr lang="en-US" sz="1350" dirty="0"/>
          </a:p>
        </p:txBody>
      </p:sp>
      <p:sp>
        <p:nvSpPr>
          <p:cNvPr id="20" name="Text 18"/>
          <p:cNvSpPr/>
          <p:nvPr/>
        </p:nvSpPr>
        <p:spPr>
          <a:xfrm>
            <a:off x="8266176" y="2697480"/>
            <a:ext cx="3172968" cy="79552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200 KB responses (up to 1,990 components) returned for single-value checks: 95%+ overhead per request.</a:t>
            </a:r>
            <a:endParaRPr lang="en-US" sz="1150" dirty="0"/>
          </a:p>
        </p:txBody>
      </p:sp>
      <p:sp>
        <p:nvSpPr>
          <p:cNvPr id="21" name="Shape 19"/>
          <p:cNvSpPr/>
          <p:nvPr/>
        </p:nvSpPr>
        <p:spPr>
          <a:xfrm>
            <a:off x="548640" y="3931920"/>
            <a:ext cx="3502152" cy="1417320"/>
          </a:xfrm>
          <a:prstGeom prst="rect">
            <a:avLst/>
          </a:prstGeom>
          <a:solidFill>
            <a:srgbClr val="F3F2F1"/>
          </a:solidFill>
          <a:ln/>
        </p:spPr>
        <p:txBody>
          <a:bodyPr/>
          <a:lstStyle/>
          <a:p>
            <a:endParaRPr lang="en-US"/>
          </a:p>
        </p:txBody>
      </p:sp>
      <p:sp>
        <p:nvSpPr>
          <p:cNvPr id="22" name="Shape 20"/>
          <p:cNvSpPr/>
          <p:nvPr/>
        </p:nvSpPr>
        <p:spPr>
          <a:xfrm>
            <a:off x="548640" y="3931920"/>
            <a:ext cx="384048" cy="384048"/>
          </a:xfrm>
          <a:prstGeom prst="rect">
            <a:avLst/>
          </a:prstGeom>
          <a:solidFill>
            <a:srgbClr val="D4351C"/>
          </a:solidFill>
          <a:ln/>
        </p:spPr>
        <p:txBody>
          <a:bodyPr/>
          <a:lstStyle/>
          <a:p>
            <a:endParaRPr lang="en-US"/>
          </a:p>
        </p:txBody>
      </p:sp>
      <p:sp>
        <p:nvSpPr>
          <p:cNvPr id="23" name="Text 21"/>
          <p:cNvSpPr/>
          <p:nvPr/>
        </p:nvSpPr>
        <p:spPr>
          <a:xfrm>
            <a:off x="548640" y="39319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4" name="Text 22"/>
          <p:cNvSpPr/>
          <p:nvPr/>
        </p:nvSpPr>
        <p:spPr>
          <a:xfrm>
            <a:off x="1060704" y="3950208"/>
            <a:ext cx="2898648" cy="384048"/>
          </a:xfrm>
          <a:prstGeom prst="rect">
            <a:avLst/>
          </a:prstGeom>
          <a:noFill/>
          <a:ln/>
        </p:spPr>
        <p:txBody>
          <a:bodyPr wrap="square" lIns="0" tIns="0" rIns="0" bIns="0" rtlCol="0" anchor="ctr"/>
          <a:lstStyle/>
          <a:p>
            <a:pPr marL="0" indent="0">
              <a:buNone/>
            </a:pPr>
            <a:r>
              <a:rPr lang="en-US" sz="1350" b="1" dirty="0">
                <a:solidFill>
                  <a:srgbClr val="0B0C0C"/>
                </a:solidFill>
                <a:latin typeface="Trebuchet MS" pitchFamily="34" charset="0"/>
                <a:ea typeface="Trebuchet MS" pitchFamily="34" charset="-122"/>
                <a:cs typeface="Trebuchet MS" pitchFamily="34" charset="-120"/>
              </a:rPr>
              <a:t>Reference data as config</a:t>
            </a:r>
            <a:endParaRPr lang="en-US" sz="1350" dirty="0"/>
          </a:p>
        </p:txBody>
      </p:sp>
      <p:sp>
        <p:nvSpPr>
          <p:cNvPr id="25" name="Text 23"/>
          <p:cNvSpPr/>
          <p:nvPr/>
        </p:nvSpPr>
        <p:spPr>
          <a:xfrm>
            <a:off x="713232" y="4434840"/>
            <a:ext cx="3172968" cy="79552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Thousands of “unique” configs exist purely to store static IDs that belong in runtime lookups.</a:t>
            </a:r>
            <a:endParaRPr lang="en-US" sz="1150" dirty="0"/>
          </a:p>
        </p:txBody>
      </p:sp>
      <p:sp>
        <p:nvSpPr>
          <p:cNvPr id="26" name="Shape 24"/>
          <p:cNvSpPr/>
          <p:nvPr/>
        </p:nvSpPr>
        <p:spPr>
          <a:xfrm>
            <a:off x="4325112" y="3931920"/>
            <a:ext cx="3502152" cy="1417320"/>
          </a:xfrm>
          <a:prstGeom prst="rect">
            <a:avLst/>
          </a:prstGeom>
          <a:solidFill>
            <a:srgbClr val="F3F2F1"/>
          </a:solidFill>
          <a:ln/>
        </p:spPr>
        <p:txBody>
          <a:bodyPr/>
          <a:lstStyle/>
          <a:p>
            <a:endParaRPr lang="en-US"/>
          </a:p>
        </p:txBody>
      </p:sp>
      <p:sp>
        <p:nvSpPr>
          <p:cNvPr id="27" name="Shape 25"/>
          <p:cNvSpPr/>
          <p:nvPr/>
        </p:nvSpPr>
        <p:spPr>
          <a:xfrm>
            <a:off x="4325112" y="3931920"/>
            <a:ext cx="384048" cy="384048"/>
          </a:xfrm>
          <a:prstGeom prst="rect">
            <a:avLst/>
          </a:prstGeom>
          <a:solidFill>
            <a:srgbClr val="D4351C"/>
          </a:solidFill>
          <a:ln/>
        </p:spPr>
        <p:txBody>
          <a:bodyPr/>
          <a:lstStyle/>
          <a:p>
            <a:endParaRPr lang="en-US"/>
          </a:p>
        </p:txBody>
      </p:sp>
      <p:sp>
        <p:nvSpPr>
          <p:cNvPr id="28" name="Text 26"/>
          <p:cNvSpPr/>
          <p:nvPr/>
        </p:nvSpPr>
        <p:spPr>
          <a:xfrm>
            <a:off x="4325112" y="39319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5</a:t>
            </a:r>
            <a:endParaRPr lang="en-US" sz="1600" dirty="0"/>
          </a:p>
        </p:txBody>
      </p:sp>
      <p:sp>
        <p:nvSpPr>
          <p:cNvPr id="29" name="Text 27"/>
          <p:cNvSpPr/>
          <p:nvPr/>
        </p:nvSpPr>
        <p:spPr>
          <a:xfrm>
            <a:off x="4837176" y="3950208"/>
            <a:ext cx="2898648" cy="384048"/>
          </a:xfrm>
          <a:prstGeom prst="rect">
            <a:avLst/>
          </a:prstGeom>
          <a:noFill/>
          <a:ln/>
        </p:spPr>
        <p:txBody>
          <a:bodyPr wrap="square" lIns="0" tIns="0" rIns="0" bIns="0" rtlCol="0" anchor="ctr"/>
          <a:lstStyle/>
          <a:p>
            <a:pPr marL="0" indent="0">
              <a:buNone/>
            </a:pPr>
            <a:r>
              <a:rPr lang="en-US" sz="1350" b="1" dirty="0">
                <a:solidFill>
                  <a:srgbClr val="0B0C0C"/>
                </a:solidFill>
                <a:latin typeface="Trebuchet MS" pitchFamily="34" charset="0"/>
                <a:ea typeface="Trebuchet MS" pitchFamily="34" charset="-122"/>
                <a:cs typeface="Trebuchet MS" pitchFamily="34" charset="-120"/>
              </a:rPr>
              <a:t>Structural redundancy</a:t>
            </a:r>
            <a:endParaRPr lang="en-US" sz="1350" dirty="0"/>
          </a:p>
        </p:txBody>
      </p:sp>
      <p:sp>
        <p:nvSpPr>
          <p:cNvPr id="30" name="Text 28"/>
          <p:cNvSpPr/>
          <p:nvPr/>
        </p:nvSpPr>
        <p:spPr>
          <a:xfrm>
            <a:off x="4489704" y="4434840"/>
            <a:ext cx="3172968" cy="79552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Genuine variation sits almost entirely at the options/values level. Page structures are 97-99% identical.</a:t>
            </a:r>
            <a:endParaRPr lang="en-US" sz="1150" dirty="0"/>
          </a:p>
        </p:txBody>
      </p:sp>
      <p:sp>
        <p:nvSpPr>
          <p:cNvPr id="31" name="Shape 29"/>
          <p:cNvSpPr/>
          <p:nvPr/>
        </p:nvSpPr>
        <p:spPr>
          <a:xfrm>
            <a:off x="8101584" y="3931920"/>
            <a:ext cx="3502152" cy="1417320"/>
          </a:xfrm>
          <a:prstGeom prst="rect">
            <a:avLst/>
          </a:prstGeom>
          <a:solidFill>
            <a:srgbClr val="F3F2F1"/>
          </a:solidFill>
          <a:ln/>
        </p:spPr>
        <p:txBody>
          <a:bodyPr/>
          <a:lstStyle/>
          <a:p>
            <a:endParaRPr lang="en-US"/>
          </a:p>
        </p:txBody>
      </p:sp>
      <p:sp>
        <p:nvSpPr>
          <p:cNvPr id="32" name="Shape 30"/>
          <p:cNvSpPr/>
          <p:nvPr/>
        </p:nvSpPr>
        <p:spPr>
          <a:xfrm>
            <a:off x="8101584" y="3931920"/>
            <a:ext cx="384048" cy="384048"/>
          </a:xfrm>
          <a:prstGeom prst="rect">
            <a:avLst/>
          </a:prstGeom>
          <a:solidFill>
            <a:srgbClr val="D4351C"/>
          </a:solidFill>
          <a:ln/>
        </p:spPr>
        <p:txBody>
          <a:bodyPr/>
          <a:lstStyle/>
          <a:p>
            <a:endParaRPr lang="en-US"/>
          </a:p>
        </p:txBody>
      </p:sp>
      <p:sp>
        <p:nvSpPr>
          <p:cNvPr id="33" name="Text 31"/>
          <p:cNvSpPr/>
          <p:nvPr/>
        </p:nvSpPr>
        <p:spPr>
          <a:xfrm>
            <a:off x="8101584" y="39319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6</a:t>
            </a:r>
            <a:endParaRPr lang="en-US" sz="1600" dirty="0"/>
          </a:p>
        </p:txBody>
      </p:sp>
      <p:sp>
        <p:nvSpPr>
          <p:cNvPr id="34" name="Text 32"/>
          <p:cNvSpPr/>
          <p:nvPr/>
        </p:nvSpPr>
        <p:spPr>
          <a:xfrm>
            <a:off x="8613648" y="3950208"/>
            <a:ext cx="2898648" cy="384048"/>
          </a:xfrm>
          <a:prstGeom prst="rect">
            <a:avLst/>
          </a:prstGeom>
          <a:noFill/>
          <a:ln/>
        </p:spPr>
        <p:txBody>
          <a:bodyPr wrap="square" lIns="0" tIns="0" rIns="0" bIns="0" rtlCol="0" anchor="ctr"/>
          <a:lstStyle/>
          <a:p>
            <a:pPr marL="0" indent="0">
              <a:buNone/>
            </a:pPr>
            <a:r>
              <a:rPr lang="en-US" sz="1350" b="1" dirty="0">
                <a:solidFill>
                  <a:srgbClr val="0B0C0C"/>
                </a:solidFill>
                <a:latin typeface="Trebuchet MS" pitchFamily="34" charset="0"/>
                <a:ea typeface="Trebuchet MS" pitchFamily="34" charset="-122"/>
                <a:cs typeface="Trebuchet MS" pitchFamily="34" charset="-120"/>
              </a:rPr>
              <a:t>Invisible coupling</a:t>
            </a:r>
            <a:endParaRPr lang="en-US" sz="1350" dirty="0"/>
          </a:p>
        </p:txBody>
      </p:sp>
      <p:sp>
        <p:nvSpPr>
          <p:cNvPr id="35" name="Text 33"/>
          <p:cNvSpPr/>
          <p:nvPr/>
        </p:nvSpPr>
        <p:spPr>
          <a:xfrm>
            <a:off x="8266176" y="4434840"/>
            <a:ext cx="3172968" cy="79552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Conditional logic hidden in data (visibilityThresholdNumber) ties the data to frontend behaviour. Impossible to test.</a:t>
            </a:r>
            <a:endParaRPr lang="en-US" sz="1150" dirty="0"/>
          </a:p>
        </p:txBody>
      </p:sp>
      <p:sp>
        <p:nvSpPr>
          <p:cNvPr id="36" name="Shape 34"/>
          <p:cNvSpPr/>
          <p:nvPr/>
        </p:nvSpPr>
        <p:spPr>
          <a:xfrm>
            <a:off x="548640" y="5669280"/>
            <a:ext cx="11064240" cy="594360"/>
          </a:xfrm>
          <a:prstGeom prst="rect">
            <a:avLst/>
          </a:prstGeom>
          <a:solidFill>
            <a:srgbClr val="0B0C0C"/>
          </a:solidFill>
          <a:ln/>
        </p:spPr>
        <p:txBody>
          <a:bodyPr/>
          <a:lstStyle/>
          <a:p>
            <a:endParaRPr lang="en-US"/>
          </a:p>
        </p:txBody>
      </p:sp>
      <p:sp>
        <p:nvSpPr>
          <p:cNvPr id="37" name="Text 35"/>
          <p:cNvSpPr/>
          <p:nvPr/>
        </p:nvSpPr>
        <p:spPr>
          <a:xfrm>
            <a:off x="777240" y="5669280"/>
            <a:ext cx="10607040" cy="594360"/>
          </a:xfrm>
          <a:prstGeom prst="rect">
            <a:avLst/>
          </a:prstGeom>
          <a:noFill/>
          <a:ln/>
        </p:spPr>
        <p:txBody>
          <a:bodyPr wrap="square" lIns="0" tIns="0" rIns="0" bIns="0" rtlCol="0" anchor="ctr"/>
          <a:lstStyle/>
          <a:p>
            <a:pPr marL="0" indent="0">
              <a:buNone/>
            </a:pPr>
            <a:r>
              <a:rPr lang="en-US" sz="1450" b="1" dirty="0">
                <a:solidFill>
                  <a:srgbClr val="FFFFFF"/>
                </a:solidFill>
                <a:latin typeface="Trebuchet MS" pitchFamily="34" charset="0"/>
                <a:ea typeface="Trebuchet MS" pitchFamily="34" charset="-122"/>
                <a:cs typeface="Trebuchet MS" pitchFamily="34" charset="-120"/>
              </a:rPr>
              <a:t>To use this data as-is we would have to recreate today’s IPAFFS UIs - importing the same problems.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48640"/>
          </a:xfrm>
          <a:prstGeom prst="rect">
            <a:avLst/>
          </a:prstGeom>
          <a:noFill/>
          <a:ln/>
        </p:spPr>
        <p:txBody>
          <a:bodyPr wrap="square" lIns="0" tIns="0" rIns="0" bIns="0" rtlCol="0" anchor="ctr"/>
          <a:lstStyle/>
          <a:p>
            <a:pPr marL="0" indent="0">
              <a:buNone/>
            </a:pPr>
            <a:r>
              <a:rPr lang="en-US" sz="3000" b="1" dirty="0">
                <a:solidFill>
                  <a:srgbClr val="0B0C0C"/>
                </a:solidFill>
                <a:latin typeface="Trebuchet MS" pitchFamily="34" charset="0"/>
                <a:ea typeface="Trebuchet MS" pitchFamily="34" charset="-122"/>
                <a:cs typeface="Trebuchet MS" pitchFamily="34" charset="-120"/>
              </a:rPr>
              <a:t>Our goal for whatever we’re calling NDC</a:t>
            </a:r>
            <a:endParaRPr lang="en-US" sz="3000" dirty="0"/>
          </a:p>
        </p:txBody>
      </p:sp>
      <p:sp>
        <p:nvSpPr>
          <p:cNvPr id="3" name="Shape 1"/>
          <p:cNvSpPr/>
          <p:nvPr/>
        </p:nvSpPr>
        <p:spPr>
          <a:xfrm>
            <a:off x="548640" y="960120"/>
            <a:ext cx="11064240" cy="1051560"/>
          </a:xfrm>
          <a:prstGeom prst="rect">
            <a:avLst/>
          </a:prstGeom>
          <a:solidFill>
            <a:srgbClr val="F3F2F1"/>
          </a:solidFill>
          <a:ln/>
        </p:spPr>
        <p:txBody>
          <a:bodyPr/>
          <a:lstStyle/>
          <a:p>
            <a:endParaRPr lang="en-US"/>
          </a:p>
        </p:txBody>
      </p:sp>
      <p:sp>
        <p:nvSpPr>
          <p:cNvPr id="4" name="Shape 2"/>
          <p:cNvSpPr/>
          <p:nvPr/>
        </p:nvSpPr>
        <p:spPr>
          <a:xfrm>
            <a:off x="548640" y="960120"/>
            <a:ext cx="82296" cy="1051560"/>
          </a:xfrm>
          <a:prstGeom prst="rect">
            <a:avLst/>
          </a:prstGeom>
          <a:solidFill>
            <a:srgbClr val="1D70B8"/>
          </a:solidFill>
          <a:ln/>
        </p:spPr>
        <p:txBody>
          <a:bodyPr/>
          <a:lstStyle/>
          <a:p>
            <a:endParaRPr lang="en-US"/>
          </a:p>
        </p:txBody>
      </p:sp>
      <p:sp>
        <p:nvSpPr>
          <p:cNvPr id="5" name="Text 3"/>
          <p:cNvSpPr/>
          <p:nvPr/>
        </p:nvSpPr>
        <p:spPr>
          <a:xfrm>
            <a:off x="777240" y="960120"/>
            <a:ext cx="10607040" cy="1051560"/>
          </a:xfrm>
          <a:prstGeom prst="rect">
            <a:avLst/>
          </a:prstGeom>
          <a:noFill/>
          <a:ln/>
        </p:spPr>
        <p:txBody>
          <a:bodyPr wrap="square" lIns="0" tIns="0" rIns="0" bIns="0" rtlCol="0" anchor="ctr"/>
          <a:lstStyle/>
          <a:p>
            <a:pPr marL="0" indent="0">
              <a:buNone/>
            </a:pPr>
            <a:r>
              <a:rPr lang="en-US" sz="1350" b="1" dirty="0">
                <a:solidFill>
                  <a:srgbClr val="0B0C0C"/>
                </a:solidFill>
                <a:latin typeface="Calibri" pitchFamily="34" charset="0"/>
                <a:ea typeface="Calibri" pitchFamily="34" charset="-122"/>
                <a:cs typeface="Calibri" pitchFamily="34" charset="-120"/>
              </a:rPr>
              <a:t xml:space="preserve">User journeys vary: </a:t>
            </a:r>
            <a:r>
              <a:rPr lang="en-US" sz="1350" dirty="0">
                <a:solidFill>
                  <a:srgbClr val="0B0C0C"/>
                </a:solidFill>
                <a:latin typeface="Calibri" pitchFamily="34" charset="0"/>
                <a:ea typeface="Calibri" pitchFamily="34" charset="-122"/>
                <a:cs typeface="Calibri" pitchFamily="34" charset="-120"/>
              </a:rPr>
              <a:t xml:space="preserve">which pages are in scope, which pages get shown, and what is on those pages. That page-level variation is predominantly driven by commodity code. Field config is part of how IPAFFS constructs a journey - </a:t>
            </a:r>
            <a:r>
              <a:rPr lang="en-US" sz="1350" b="1" dirty="0">
                <a:solidFill>
                  <a:srgbClr val="0B0C0C"/>
                </a:solidFill>
                <a:latin typeface="Calibri" pitchFamily="34" charset="0"/>
                <a:ea typeface="Calibri" pitchFamily="34" charset="-122"/>
                <a:cs typeface="Calibri" pitchFamily="34" charset="-120"/>
              </a:rPr>
              <a:t>can we, and should we, reuse it in NDC?</a:t>
            </a:r>
            <a:endParaRPr lang="en-US" sz="1350" dirty="0"/>
          </a:p>
        </p:txBody>
      </p:sp>
      <p:sp>
        <p:nvSpPr>
          <p:cNvPr id="6" name="Shape 4"/>
          <p:cNvSpPr/>
          <p:nvPr/>
        </p:nvSpPr>
        <p:spPr>
          <a:xfrm>
            <a:off x="548640" y="2377440"/>
            <a:ext cx="5349240" cy="1463040"/>
          </a:xfrm>
          <a:prstGeom prst="rect">
            <a:avLst/>
          </a:prstGeom>
          <a:solidFill>
            <a:srgbClr val="F3F2F1"/>
          </a:solidFill>
          <a:ln/>
        </p:spPr>
        <p:txBody>
          <a:bodyPr/>
          <a:lstStyle/>
          <a:p>
            <a:endParaRPr lang="en-US"/>
          </a:p>
        </p:txBody>
      </p:sp>
      <p:sp>
        <p:nvSpPr>
          <p:cNvPr id="7" name="Shape 5"/>
          <p:cNvSpPr/>
          <p:nvPr/>
        </p:nvSpPr>
        <p:spPr>
          <a:xfrm>
            <a:off x="548640" y="2377440"/>
            <a:ext cx="5349240" cy="64008"/>
          </a:xfrm>
          <a:prstGeom prst="rect">
            <a:avLst/>
          </a:prstGeom>
          <a:solidFill>
            <a:srgbClr val="D4351C"/>
          </a:solidFill>
          <a:ln/>
        </p:spPr>
        <p:txBody>
          <a:bodyPr/>
          <a:lstStyle/>
          <a:p>
            <a:endParaRPr lang="en-US"/>
          </a:p>
        </p:txBody>
      </p:sp>
      <p:sp>
        <p:nvSpPr>
          <p:cNvPr id="8" name="Text 6"/>
          <p:cNvSpPr/>
          <p:nvPr/>
        </p:nvSpPr>
        <p:spPr>
          <a:xfrm>
            <a:off x="777240" y="2542032"/>
            <a:ext cx="4937760" cy="365760"/>
          </a:xfrm>
          <a:prstGeom prst="rect">
            <a:avLst/>
          </a:prstGeom>
          <a:noFill/>
          <a:ln/>
        </p:spPr>
        <p:txBody>
          <a:bodyPr wrap="square" lIns="0" tIns="0" rIns="0" bIns="0" rtlCol="0" anchor="ctr"/>
          <a:lstStyle/>
          <a:p>
            <a:pPr marL="0" indent="0">
              <a:buNone/>
            </a:pPr>
            <a:r>
              <a:rPr lang="en-US" sz="1600" b="1" dirty="0">
                <a:solidFill>
                  <a:srgbClr val="D4351C"/>
                </a:solidFill>
                <a:latin typeface="Trebuchet MS" pitchFamily="34" charset="0"/>
                <a:ea typeface="Trebuchet MS" pitchFamily="34" charset="-122"/>
                <a:cs typeface="Trebuchet MS" pitchFamily="34" charset="-120"/>
              </a:rPr>
              <a:t>Do not bring it into NDC</a:t>
            </a:r>
            <a:endParaRPr lang="en-US" sz="1600" dirty="0"/>
          </a:p>
        </p:txBody>
      </p:sp>
      <p:sp>
        <p:nvSpPr>
          <p:cNvPr id="9" name="Text 7"/>
          <p:cNvSpPr/>
          <p:nvPr/>
        </p:nvSpPr>
        <p:spPr>
          <a:xfrm>
            <a:off x="777240" y="2971800"/>
            <a:ext cx="4937760" cy="685800"/>
          </a:xfrm>
          <a:prstGeom prst="rect">
            <a:avLst/>
          </a:prstGeom>
          <a:noFill/>
          <a:ln/>
        </p:spPr>
        <p:txBody>
          <a:bodyPr wrap="square" lIns="0" tIns="0" rIns="0" bIns="0" rtlCol="0" anchor="t"/>
          <a:lstStyle/>
          <a:p>
            <a:pPr marL="0" indent="0">
              <a:buNone/>
            </a:pPr>
            <a:r>
              <a:rPr lang="en-US" sz="1300" dirty="0">
                <a:solidFill>
                  <a:srgbClr val="0B0C0C"/>
                </a:solidFill>
                <a:latin typeface="Calibri" pitchFamily="34" charset="0"/>
                <a:ea typeface="Calibri" pitchFamily="34" charset="-122"/>
                <a:cs typeface="Calibri" pitchFamily="34" charset="-120"/>
              </a:rPr>
              <a:t>Like IPAFFS itself, the existing field config is a monolithic design that drives multiple antipatterns. Reusing it imports them all.</a:t>
            </a:r>
            <a:endParaRPr lang="en-US" sz="1300" dirty="0"/>
          </a:p>
        </p:txBody>
      </p:sp>
      <p:sp>
        <p:nvSpPr>
          <p:cNvPr id="10" name="Shape 8"/>
          <p:cNvSpPr/>
          <p:nvPr/>
        </p:nvSpPr>
        <p:spPr>
          <a:xfrm>
            <a:off x="6263640" y="2377440"/>
            <a:ext cx="5349240" cy="1463040"/>
          </a:xfrm>
          <a:prstGeom prst="rect">
            <a:avLst/>
          </a:prstGeom>
          <a:solidFill>
            <a:srgbClr val="F3F2F1"/>
          </a:solidFill>
          <a:ln/>
        </p:spPr>
        <p:txBody>
          <a:bodyPr/>
          <a:lstStyle/>
          <a:p>
            <a:endParaRPr lang="en-US"/>
          </a:p>
        </p:txBody>
      </p:sp>
      <p:sp>
        <p:nvSpPr>
          <p:cNvPr id="11" name="Shape 9"/>
          <p:cNvSpPr/>
          <p:nvPr/>
        </p:nvSpPr>
        <p:spPr>
          <a:xfrm>
            <a:off x="6263640" y="2377440"/>
            <a:ext cx="5349240" cy="64008"/>
          </a:xfrm>
          <a:prstGeom prst="rect">
            <a:avLst/>
          </a:prstGeom>
          <a:solidFill>
            <a:srgbClr val="00703C"/>
          </a:solidFill>
          <a:ln/>
        </p:spPr>
        <p:txBody>
          <a:bodyPr/>
          <a:lstStyle/>
          <a:p>
            <a:endParaRPr lang="en-US"/>
          </a:p>
        </p:txBody>
      </p:sp>
      <p:sp>
        <p:nvSpPr>
          <p:cNvPr id="12" name="Text 10"/>
          <p:cNvSpPr/>
          <p:nvPr/>
        </p:nvSpPr>
        <p:spPr>
          <a:xfrm>
            <a:off x="6492240" y="2542032"/>
            <a:ext cx="4892040" cy="365760"/>
          </a:xfrm>
          <a:prstGeom prst="rect">
            <a:avLst/>
          </a:prstGeom>
          <a:noFill/>
          <a:ln/>
        </p:spPr>
        <p:txBody>
          <a:bodyPr wrap="square" lIns="0" tIns="0" rIns="0" bIns="0" rtlCol="0" anchor="ctr"/>
          <a:lstStyle/>
          <a:p>
            <a:pPr marL="0" indent="0">
              <a:buNone/>
            </a:pPr>
            <a:r>
              <a:rPr lang="en-US" sz="1600" b="1" dirty="0">
                <a:solidFill>
                  <a:srgbClr val="00703C"/>
                </a:solidFill>
                <a:latin typeface="Trebuchet MS" pitchFamily="34" charset="0"/>
                <a:ea typeface="Trebuchet MS" pitchFamily="34" charset="-122"/>
                <a:cs typeface="Trebuchet MS" pitchFamily="34" charset="-120"/>
              </a:rPr>
              <a:t>What our analysis confirms</a:t>
            </a:r>
            <a:endParaRPr lang="en-US" sz="1600" dirty="0"/>
          </a:p>
        </p:txBody>
      </p:sp>
      <p:sp>
        <p:nvSpPr>
          <p:cNvPr id="13" name="Text 11"/>
          <p:cNvSpPr/>
          <p:nvPr/>
        </p:nvSpPr>
        <p:spPr>
          <a:xfrm>
            <a:off x="6492240" y="2971800"/>
            <a:ext cx="4892040" cy="685800"/>
          </a:xfrm>
          <a:prstGeom prst="rect">
            <a:avLst/>
          </a:prstGeom>
          <a:noFill/>
          <a:ln/>
        </p:spPr>
        <p:txBody>
          <a:bodyPr wrap="square" lIns="0" tIns="0" rIns="0" bIns="0" rtlCol="0" anchor="t"/>
          <a:lstStyle/>
          <a:p>
            <a:pPr marL="0" indent="0">
              <a:buNone/>
            </a:pPr>
            <a:r>
              <a:rPr lang="en-US" sz="1300" dirty="0">
                <a:solidFill>
                  <a:srgbClr val="0B0C0C"/>
                </a:solidFill>
                <a:latin typeface="Calibri" pitchFamily="34" charset="0"/>
                <a:ea typeface="Calibri" pitchFamily="34" charset="-122"/>
                <a:cs typeface="Calibri" pitchFamily="34" charset="-120"/>
              </a:rPr>
              <a:t>Structure (pages, fields) is highly stable; options genuinely vary. They change at different rates and should be separated, per certificate type.</a:t>
            </a:r>
            <a:endParaRPr lang="en-US" sz="1300" dirty="0"/>
          </a:p>
        </p:txBody>
      </p:sp>
      <p:sp>
        <p:nvSpPr>
          <p:cNvPr id="14" name="Shape 12"/>
          <p:cNvSpPr/>
          <p:nvPr/>
        </p:nvSpPr>
        <p:spPr>
          <a:xfrm>
            <a:off x="548640" y="4251960"/>
            <a:ext cx="11064240" cy="1371600"/>
          </a:xfrm>
          <a:prstGeom prst="rect">
            <a:avLst/>
          </a:prstGeom>
          <a:solidFill>
            <a:srgbClr val="0B0C0C"/>
          </a:solidFill>
          <a:ln/>
        </p:spPr>
        <p:txBody>
          <a:bodyPr/>
          <a:lstStyle/>
          <a:p>
            <a:endParaRPr lang="en-US"/>
          </a:p>
        </p:txBody>
      </p:sp>
      <p:sp>
        <p:nvSpPr>
          <p:cNvPr id="15" name="Text 13"/>
          <p:cNvSpPr/>
          <p:nvPr/>
        </p:nvSpPr>
        <p:spPr>
          <a:xfrm>
            <a:off x="777240" y="4389120"/>
            <a:ext cx="10607040" cy="292608"/>
          </a:xfrm>
          <a:prstGeom prst="rect">
            <a:avLst/>
          </a:prstGeom>
          <a:noFill/>
          <a:ln/>
        </p:spPr>
        <p:txBody>
          <a:bodyPr wrap="square" lIns="0" tIns="0" rIns="0" bIns="0" rtlCol="0" anchor="ctr"/>
          <a:lstStyle/>
          <a:p>
            <a:pPr marL="0" indent="0">
              <a:buNone/>
            </a:pPr>
            <a:r>
              <a:rPr lang="en-US" sz="1200" b="1" kern="0" spc="200" dirty="0">
                <a:solidFill>
                  <a:srgbClr val="F47738"/>
                </a:solidFill>
                <a:latin typeface="Trebuchet MS" pitchFamily="34" charset="0"/>
                <a:ea typeface="Trebuchet MS" pitchFamily="34" charset="-122"/>
                <a:cs typeface="Trebuchet MS" pitchFamily="34" charset="-120"/>
              </a:rPr>
              <a:t>THE ARCHITECTURE QUESTION</a:t>
            </a:r>
            <a:endParaRPr lang="en-US" sz="1200" dirty="0"/>
          </a:p>
        </p:txBody>
      </p:sp>
      <p:sp>
        <p:nvSpPr>
          <p:cNvPr id="16" name="Text 14"/>
          <p:cNvSpPr/>
          <p:nvPr/>
        </p:nvSpPr>
        <p:spPr>
          <a:xfrm>
            <a:off x="777240" y="4709160"/>
            <a:ext cx="10607040" cy="841248"/>
          </a:xfrm>
          <a:prstGeom prst="rect">
            <a:avLst/>
          </a:prstGeom>
          <a:noFill/>
          <a:ln/>
        </p:spPr>
        <p:txBody>
          <a:bodyPr wrap="square" lIns="0" tIns="0" rIns="0" bIns="0" rtlCol="0" anchor="t"/>
          <a:lstStyle/>
          <a:p>
            <a:pPr marL="0" indent="0">
              <a:buNone/>
            </a:pPr>
            <a:r>
              <a:rPr lang="en-US" sz="1600" b="1" dirty="0">
                <a:solidFill>
                  <a:srgbClr val="FFFFFF"/>
                </a:solidFill>
                <a:latin typeface="Trebuchet MS" pitchFamily="34" charset="0"/>
                <a:ea typeface="Trebuchet MS" pitchFamily="34" charset="-122"/>
                <a:cs typeface="Trebuchet MS" pitchFamily="34" charset="-120"/>
              </a:rPr>
              <a:t>What are the appropriate mechanisms to support independent, journey-level configuration of page and page-content variance at the commodity-code level - without recreating the problems of the field config paradigm?</a:t>
            </a:r>
            <a:endParaRPr lang="en-US" sz="1600" dirty="0"/>
          </a:p>
        </p:txBody>
      </p:sp>
      <p:sp>
        <p:nvSpPr>
          <p:cNvPr id="17" name="Text 15"/>
          <p:cNvSpPr/>
          <p:nvPr/>
        </p:nvSpPr>
        <p:spPr>
          <a:xfrm>
            <a:off x="548640" y="5897880"/>
            <a:ext cx="11064240" cy="365760"/>
          </a:xfrm>
          <a:prstGeom prst="rect">
            <a:avLst/>
          </a:prstGeom>
          <a:noFill/>
          <a:ln/>
        </p:spPr>
        <p:txBody>
          <a:bodyPr wrap="square" lIns="0" tIns="0" rIns="0" bIns="0" rtlCol="0" anchor="ctr"/>
          <a:lstStyle/>
          <a:p>
            <a:pPr marL="0" indent="0">
              <a:buNone/>
            </a:pPr>
            <a:r>
              <a:rPr lang="en-US" sz="1300" i="1" dirty="0">
                <a:solidFill>
                  <a:srgbClr val="505A5F"/>
                </a:solidFill>
                <a:latin typeface="Calibri" pitchFamily="34" charset="0"/>
                <a:ea typeface="Calibri" pitchFamily="34" charset="-122"/>
                <a:cs typeface="Calibri" pitchFamily="34" charset="-120"/>
              </a:rPr>
              <a:t>Next: decomposing the field config database - fingerprint, classify, round-trip, collapse.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sessions/relaxed-epic-ritchie/mnt/Field Config Analysis/slide-visuals/size-reduction.png"/>
          <p:cNvPicPr>
            <a:picLocks noChangeAspect="1"/>
          </p:cNvPicPr>
          <p:nvPr/>
        </p:nvPicPr>
        <p:blipFill>
          <a:blip r:embed="rId3"/>
          <a:stretch>
            <a:fillRect/>
          </a:stretch>
        </p:blipFill>
        <p:spPr>
          <a:xfrm>
            <a:off x="320040" y="164592"/>
            <a:ext cx="11521440" cy="64830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marL="0" indent="0">
              <a:buNone/>
            </a:pPr>
            <a:r>
              <a:rPr lang="en-US" sz="2500" b="1" dirty="0">
                <a:solidFill>
                  <a:srgbClr val="0B0C0C"/>
                </a:solidFill>
                <a:latin typeface="Trebuchet MS" pitchFamily="34" charset="0"/>
                <a:ea typeface="Trebuchet MS" pitchFamily="34" charset="-122"/>
                <a:cs typeface="Trebuchet MS" pitchFamily="34" charset="-120"/>
              </a:rPr>
              <a:t>The shrinkage is a layered argument; fingerprinting is the instrument</a:t>
            </a:r>
            <a:endParaRPr lang="en-US" sz="2500" dirty="0"/>
          </a:p>
        </p:txBody>
      </p:sp>
      <p:sp>
        <p:nvSpPr>
          <p:cNvPr id="3" name="Text 1"/>
          <p:cNvSpPr/>
          <p:nvPr/>
        </p:nvSpPr>
        <p:spPr>
          <a:xfrm>
            <a:off x="548640" y="749808"/>
            <a:ext cx="11064240" cy="320040"/>
          </a:xfrm>
          <a:prstGeom prst="rect">
            <a:avLst/>
          </a:prstGeom>
          <a:noFill/>
          <a:ln/>
        </p:spPr>
        <p:txBody>
          <a:bodyPr wrap="square" lIns="0" tIns="0" rIns="0" bIns="0" rtlCol="0" anchor="ctr"/>
          <a:lstStyle/>
          <a:p>
            <a:pPr marL="0" indent="0">
              <a:buNone/>
            </a:pPr>
            <a:r>
              <a:rPr lang="en-US" sz="1350" dirty="0">
                <a:solidFill>
                  <a:srgbClr val="505A5F"/>
                </a:solidFill>
                <a:latin typeface="Calibri" pitchFamily="34" charset="0"/>
                <a:ea typeface="Calibri" pitchFamily="34" charset="-122"/>
                <a:cs typeface="Calibri" pitchFamily="34" charset="-120"/>
              </a:rPr>
              <a:t>Per component: hash its data-bearing structure for each commodity, count distinct hashes across all 2,176. The distribution dictates the storage strategy.</a:t>
            </a:r>
            <a:endParaRPr lang="en-US" sz="1350" dirty="0"/>
          </a:p>
        </p:txBody>
      </p:sp>
      <p:sp>
        <p:nvSpPr>
          <p:cNvPr id="4" name="Text 2"/>
          <p:cNvSpPr/>
          <p:nvPr/>
        </p:nvSpPr>
        <p:spPr>
          <a:xfrm>
            <a:off x="548640" y="1170432"/>
            <a:ext cx="2651760" cy="256032"/>
          </a:xfrm>
          <a:prstGeom prst="rect">
            <a:avLst/>
          </a:prstGeom>
          <a:noFill/>
          <a:ln/>
        </p:spPr>
        <p:txBody>
          <a:bodyPr wrap="square" lIns="0" tIns="0" rIns="0" bIns="0" rtlCol="0" anchor="ctr"/>
          <a:lstStyle/>
          <a:p>
            <a:pPr marL="0" indent="0">
              <a:buNone/>
            </a:pPr>
            <a:r>
              <a:rPr lang="en-US" sz="1100" b="1" kern="0" spc="150" dirty="0">
                <a:solidFill>
                  <a:srgbClr val="505A5F"/>
                </a:solidFill>
                <a:latin typeface="Calibri" pitchFamily="34" charset="0"/>
                <a:ea typeface="Calibri" pitchFamily="34" charset="-122"/>
                <a:cs typeface="Calibri" pitchFamily="34" charset="-120"/>
              </a:rPr>
              <a:t>DISTINCT HASHES</a:t>
            </a:r>
            <a:endParaRPr lang="en-US" sz="1100" dirty="0"/>
          </a:p>
        </p:txBody>
      </p:sp>
      <p:sp>
        <p:nvSpPr>
          <p:cNvPr id="5" name="Text 3"/>
          <p:cNvSpPr/>
          <p:nvPr/>
        </p:nvSpPr>
        <p:spPr>
          <a:xfrm>
            <a:off x="3383280" y="1170432"/>
            <a:ext cx="4754880" cy="256032"/>
          </a:xfrm>
          <a:prstGeom prst="rect">
            <a:avLst/>
          </a:prstGeom>
          <a:noFill/>
          <a:ln/>
        </p:spPr>
        <p:txBody>
          <a:bodyPr wrap="square" lIns="0" tIns="0" rIns="0" bIns="0" rtlCol="0" anchor="ctr"/>
          <a:lstStyle/>
          <a:p>
            <a:pPr marL="0" indent="0">
              <a:buNone/>
            </a:pPr>
            <a:r>
              <a:rPr lang="en-US" sz="1100" b="1" kern="0" spc="150" dirty="0">
                <a:solidFill>
                  <a:srgbClr val="505A5F"/>
                </a:solidFill>
                <a:latin typeface="Calibri" pitchFamily="34" charset="0"/>
                <a:ea typeface="Calibri" pitchFamily="34" charset="-122"/>
                <a:cs typeface="Calibri" pitchFamily="34" charset="-120"/>
              </a:rPr>
              <a:t>STORAGE STRATEGY</a:t>
            </a:r>
            <a:endParaRPr lang="en-US" sz="1100" dirty="0"/>
          </a:p>
        </p:txBody>
      </p:sp>
      <p:sp>
        <p:nvSpPr>
          <p:cNvPr id="6" name="Text 4"/>
          <p:cNvSpPr/>
          <p:nvPr/>
        </p:nvSpPr>
        <p:spPr>
          <a:xfrm>
            <a:off x="8321040" y="1170432"/>
            <a:ext cx="3291840" cy="256032"/>
          </a:xfrm>
          <a:prstGeom prst="rect">
            <a:avLst/>
          </a:prstGeom>
          <a:noFill/>
          <a:ln/>
        </p:spPr>
        <p:txBody>
          <a:bodyPr wrap="square" lIns="0" tIns="0" rIns="0" bIns="0" rtlCol="0" anchor="ctr"/>
          <a:lstStyle/>
          <a:p>
            <a:pPr marL="0" indent="0">
              <a:buNone/>
            </a:pPr>
            <a:r>
              <a:rPr lang="en-US" sz="1100" b="1" kern="0" spc="150" dirty="0">
                <a:solidFill>
                  <a:srgbClr val="505A5F"/>
                </a:solidFill>
                <a:latin typeface="Calibri" pitchFamily="34" charset="0"/>
                <a:ea typeface="Calibri" pitchFamily="34" charset="-122"/>
                <a:cs typeface="Calibri" pitchFamily="34" charset="-120"/>
              </a:rPr>
              <a:t>WHAT THE ENGINE LEARNS</a:t>
            </a:r>
            <a:endParaRPr lang="en-US" sz="1100" dirty="0"/>
          </a:p>
        </p:txBody>
      </p:sp>
      <p:sp>
        <p:nvSpPr>
          <p:cNvPr id="7" name="Shape 5"/>
          <p:cNvSpPr/>
          <p:nvPr/>
        </p:nvSpPr>
        <p:spPr>
          <a:xfrm>
            <a:off x="548640" y="1481328"/>
            <a:ext cx="11064240" cy="969264"/>
          </a:xfrm>
          <a:prstGeom prst="rect">
            <a:avLst/>
          </a:prstGeom>
          <a:solidFill>
            <a:srgbClr val="F3F2F1"/>
          </a:solidFill>
          <a:ln/>
        </p:spPr>
        <p:txBody>
          <a:bodyPr/>
          <a:lstStyle/>
          <a:p>
            <a:endParaRPr lang="en-US"/>
          </a:p>
        </p:txBody>
      </p:sp>
      <p:sp>
        <p:nvSpPr>
          <p:cNvPr id="8" name="Shape 6"/>
          <p:cNvSpPr/>
          <p:nvPr/>
        </p:nvSpPr>
        <p:spPr>
          <a:xfrm>
            <a:off x="548640" y="1481328"/>
            <a:ext cx="64008" cy="969264"/>
          </a:xfrm>
          <a:prstGeom prst="rect">
            <a:avLst/>
          </a:prstGeom>
          <a:solidFill>
            <a:srgbClr val="00703C"/>
          </a:solidFill>
          <a:ln/>
        </p:spPr>
        <p:txBody>
          <a:bodyPr/>
          <a:lstStyle/>
          <a:p>
            <a:endParaRPr lang="en-US"/>
          </a:p>
        </p:txBody>
      </p:sp>
      <p:sp>
        <p:nvSpPr>
          <p:cNvPr id="9" name="Text 7"/>
          <p:cNvSpPr/>
          <p:nvPr/>
        </p:nvSpPr>
        <p:spPr>
          <a:xfrm>
            <a:off x="777240" y="1554480"/>
            <a:ext cx="2468880" cy="411480"/>
          </a:xfrm>
          <a:prstGeom prst="rect">
            <a:avLst/>
          </a:prstGeom>
          <a:noFill/>
          <a:ln/>
        </p:spPr>
        <p:txBody>
          <a:bodyPr wrap="square" lIns="0" tIns="0" rIns="0" bIns="0" rtlCol="0" anchor="ctr"/>
          <a:lstStyle/>
          <a:p>
            <a:pPr marL="0" indent="0">
              <a:buNone/>
            </a:pPr>
            <a:r>
              <a:rPr lang="en-US" sz="1900" b="1" dirty="0">
                <a:solidFill>
                  <a:srgbClr val="00703C"/>
                </a:solidFill>
                <a:latin typeface="Consolas" pitchFamily="34" charset="0"/>
                <a:ea typeface="Consolas" pitchFamily="34" charset="-122"/>
                <a:cs typeface="Consolas" pitchFamily="34" charset="-120"/>
              </a:rPr>
              <a:t>1</a:t>
            </a:r>
            <a:endParaRPr lang="en-US" sz="1900" dirty="0"/>
          </a:p>
        </p:txBody>
      </p:sp>
      <p:sp>
        <p:nvSpPr>
          <p:cNvPr id="10" name="Text 8"/>
          <p:cNvSpPr/>
          <p:nvPr/>
        </p:nvSpPr>
        <p:spPr>
          <a:xfrm>
            <a:off x="777240" y="1984248"/>
            <a:ext cx="2468880" cy="438912"/>
          </a:xfrm>
          <a:prstGeom prst="rect">
            <a:avLst/>
          </a:prstGeom>
          <a:noFill/>
          <a:ln/>
        </p:spPr>
        <p:txBody>
          <a:bodyPr wrap="square" lIns="0" tIns="0" rIns="0" bIns="0" rtlCol="0" anchor="t"/>
          <a:lstStyle/>
          <a:p>
            <a:pPr marL="0" indent="0">
              <a:buNone/>
            </a:pPr>
            <a:r>
              <a:rPr lang="en-US" sz="1050" dirty="0">
                <a:solidFill>
                  <a:srgbClr val="505A5F"/>
                </a:solidFill>
                <a:latin typeface="Calibri" pitchFamily="34" charset="0"/>
                <a:ea typeface="Calibri" pitchFamily="34" charset="-122"/>
                <a:cs typeface="Calibri" pitchFamily="34" charset="-120"/>
              </a:rPr>
              <a:t>31 of 38 Part 1 components</a:t>
            </a:r>
            <a:endParaRPr lang="en-US" sz="1050" dirty="0"/>
          </a:p>
        </p:txBody>
      </p:sp>
      <p:sp>
        <p:nvSpPr>
          <p:cNvPr id="11" name="Text 9"/>
          <p:cNvSpPr/>
          <p:nvPr/>
        </p:nvSpPr>
        <p:spPr>
          <a:xfrm>
            <a:off x="3383280" y="1554480"/>
            <a:ext cx="4754880" cy="841248"/>
          </a:xfrm>
          <a:prstGeom prst="rect">
            <a:avLst/>
          </a:prstGeom>
          <a:noFill/>
          <a:ln/>
        </p:spPr>
        <p:txBody>
          <a:bodyPr wrap="square" lIns="0" tIns="0" rIns="0" bIns="0" rtlCol="0" anchor="ctr"/>
          <a:lstStyle/>
          <a:p>
            <a:pPr marL="0" indent="0">
              <a:buNone/>
            </a:pPr>
            <a:r>
              <a:rPr lang="en-US" sz="1150" dirty="0">
                <a:solidFill>
                  <a:srgbClr val="0B0C0C"/>
                </a:solidFill>
                <a:latin typeface="Calibri" pitchFamily="34" charset="0"/>
                <a:ea typeface="Calibri" pitchFamily="34" charset="-122"/>
                <a:cs typeface="Calibri" pitchFamily="34" charset="-120"/>
              </a:rPr>
              <a:t>Universal: store once in the components layer. Roughly 5 KB stored once instead of repeated across 2,176 configs (~11 MB). The single biggest win.</a:t>
            </a:r>
            <a:endParaRPr lang="en-US" sz="1150" dirty="0"/>
          </a:p>
        </p:txBody>
      </p:sp>
      <p:sp>
        <p:nvSpPr>
          <p:cNvPr id="12" name="Text 10"/>
          <p:cNvSpPr/>
          <p:nvPr/>
        </p:nvSpPr>
        <p:spPr>
          <a:xfrm>
            <a:off x="8321040" y="1554480"/>
            <a:ext cx="3200400" cy="841248"/>
          </a:xfrm>
          <a:prstGeom prst="rect">
            <a:avLst/>
          </a:prstGeom>
          <a:noFill/>
          <a:ln/>
        </p:spPr>
        <p:txBody>
          <a:bodyPr wrap="square" lIns="0" tIns="0" rIns="0" bIns="0" rtlCol="0" anchor="ctr"/>
          <a:lstStyle/>
          <a:p>
            <a:pPr marL="0" indent="0">
              <a:buNone/>
            </a:pPr>
            <a:r>
              <a:rPr lang="en-US" sz="1150" dirty="0">
                <a:solidFill>
                  <a:srgbClr val="0B0C0C"/>
                </a:solidFill>
                <a:latin typeface="Calibri" pitchFamily="34" charset="0"/>
                <a:ea typeface="Calibri" pitchFamily="34" charset="-122"/>
                <a:cs typeface="Calibri" pitchFamily="34" charset="-120"/>
              </a:rPr>
              <a:t>Lives in the journey skeleton. No per-commodity branching needed.</a:t>
            </a:r>
            <a:endParaRPr lang="en-US" sz="1150" dirty="0"/>
          </a:p>
        </p:txBody>
      </p:sp>
      <p:sp>
        <p:nvSpPr>
          <p:cNvPr id="13" name="Shape 11"/>
          <p:cNvSpPr/>
          <p:nvPr/>
        </p:nvSpPr>
        <p:spPr>
          <a:xfrm>
            <a:off x="548640" y="2560320"/>
            <a:ext cx="11064240" cy="969264"/>
          </a:xfrm>
          <a:prstGeom prst="rect">
            <a:avLst/>
          </a:prstGeom>
          <a:solidFill>
            <a:srgbClr val="F3F2F1"/>
          </a:solidFill>
          <a:ln/>
        </p:spPr>
        <p:txBody>
          <a:bodyPr/>
          <a:lstStyle/>
          <a:p>
            <a:endParaRPr lang="en-US"/>
          </a:p>
        </p:txBody>
      </p:sp>
      <p:sp>
        <p:nvSpPr>
          <p:cNvPr id="14" name="Shape 12"/>
          <p:cNvSpPr/>
          <p:nvPr/>
        </p:nvSpPr>
        <p:spPr>
          <a:xfrm>
            <a:off x="548640" y="2560320"/>
            <a:ext cx="64008" cy="969264"/>
          </a:xfrm>
          <a:prstGeom prst="rect">
            <a:avLst/>
          </a:prstGeom>
          <a:solidFill>
            <a:srgbClr val="00703C"/>
          </a:solidFill>
          <a:ln/>
        </p:spPr>
        <p:txBody>
          <a:bodyPr/>
          <a:lstStyle/>
          <a:p>
            <a:endParaRPr lang="en-US"/>
          </a:p>
        </p:txBody>
      </p:sp>
      <p:sp>
        <p:nvSpPr>
          <p:cNvPr id="15" name="Text 13"/>
          <p:cNvSpPr/>
          <p:nvPr/>
        </p:nvSpPr>
        <p:spPr>
          <a:xfrm>
            <a:off x="777240" y="2633472"/>
            <a:ext cx="2468880" cy="411480"/>
          </a:xfrm>
          <a:prstGeom prst="rect">
            <a:avLst/>
          </a:prstGeom>
          <a:noFill/>
          <a:ln/>
        </p:spPr>
        <p:txBody>
          <a:bodyPr wrap="square" lIns="0" tIns="0" rIns="0" bIns="0" rtlCol="0" anchor="ctr"/>
          <a:lstStyle/>
          <a:p>
            <a:pPr marL="0" indent="0">
              <a:buNone/>
            </a:pPr>
            <a:r>
              <a:rPr lang="en-US" sz="1900" b="1" dirty="0">
                <a:solidFill>
                  <a:srgbClr val="00703C"/>
                </a:solidFill>
                <a:latin typeface="Consolas" pitchFamily="34" charset="0"/>
                <a:ea typeface="Consolas" pitchFamily="34" charset="-122"/>
                <a:cs typeface="Consolas" pitchFamily="34" charset="-120"/>
              </a:rPr>
              <a:t>5</a:t>
            </a:r>
            <a:endParaRPr lang="en-US" sz="1900" dirty="0"/>
          </a:p>
        </p:txBody>
      </p:sp>
      <p:sp>
        <p:nvSpPr>
          <p:cNvPr id="16" name="Text 14"/>
          <p:cNvSpPr/>
          <p:nvPr/>
        </p:nvSpPr>
        <p:spPr>
          <a:xfrm>
            <a:off x="777240" y="3063240"/>
            <a:ext cx="2468880" cy="438912"/>
          </a:xfrm>
          <a:prstGeom prst="rect">
            <a:avLst/>
          </a:prstGeom>
          <a:noFill/>
          <a:ln/>
        </p:spPr>
        <p:txBody>
          <a:bodyPr wrap="square" lIns="0" tIns="0" rIns="0" bIns="0" rtlCol="0" anchor="t"/>
          <a:lstStyle/>
          <a:p>
            <a:pPr marL="0" indent="0">
              <a:buNone/>
            </a:pPr>
            <a:r>
              <a:rPr lang="en-US" sz="1050" dirty="0">
                <a:solidFill>
                  <a:srgbClr val="505A5F"/>
                </a:solidFill>
                <a:latin typeface="Calibri" pitchFamily="34" charset="0"/>
                <a:ea typeface="Calibri" pitchFamily="34" charset="-122"/>
                <a:cs typeface="Calibri" pitchFamily="34" charset="-120"/>
              </a:rPr>
              <a:t>internalMarket: 2,116 + 26 + 1 + 1 + 1 configs (31 lack it)</a:t>
            </a:r>
            <a:endParaRPr lang="en-US" sz="1050" dirty="0"/>
          </a:p>
        </p:txBody>
      </p:sp>
      <p:sp>
        <p:nvSpPr>
          <p:cNvPr id="17" name="Text 15"/>
          <p:cNvSpPr/>
          <p:nvPr/>
        </p:nvSpPr>
        <p:spPr>
          <a:xfrm>
            <a:off x="3383280" y="2633472"/>
            <a:ext cx="4754880" cy="841248"/>
          </a:xfrm>
          <a:prstGeom prst="rect">
            <a:avLst/>
          </a:prstGeom>
          <a:noFill/>
          <a:ln/>
        </p:spPr>
        <p:txBody>
          <a:bodyPr wrap="square" lIns="0" tIns="0" rIns="0" bIns="0" rtlCol="0" anchor="ctr"/>
          <a:lstStyle/>
          <a:p>
            <a:pPr marL="0" indent="0">
              <a:buNone/>
            </a:pPr>
            <a:r>
              <a:rPr lang="en-US" sz="1150" dirty="0">
                <a:solidFill>
                  <a:srgbClr val="0B0C0C"/>
                </a:solidFill>
                <a:latin typeface="Calibri" pitchFamily="34" charset="0"/>
                <a:ea typeface="Calibri" pitchFamily="34" charset="-122"/>
                <a:cs typeface="Calibri" pitchFamily="34" charset="-120"/>
              </a:rPr>
              <a:t>Definition sets: the 5 option sets stored once as internalMarket_set_01..05, frequency-ordered; each commodity carries a string reference, not the blob.</a:t>
            </a:r>
            <a:endParaRPr lang="en-US" sz="1150" dirty="0"/>
          </a:p>
        </p:txBody>
      </p:sp>
      <p:sp>
        <p:nvSpPr>
          <p:cNvPr id="18" name="Text 16"/>
          <p:cNvSpPr/>
          <p:nvPr/>
        </p:nvSpPr>
        <p:spPr>
          <a:xfrm>
            <a:off x="8321040" y="2633472"/>
            <a:ext cx="3200400" cy="841248"/>
          </a:xfrm>
          <a:prstGeom prst="rect">
            <a:avLst/>
          </a:prstGeom>
          <a:noFill/>
          <a:ln/>
        </p:spPr>
        <p:txBody>
          <a:bodyPr wrap="square" lIns="0" tIns="0" rIns="0" bIns="0" rtlCol="0" anchor="ctr"/>
          <a:lstStyle/>
          <a:p>
            <a:pPr marL="0" indent="0">
              <a:buNone/>
            </a:pPr>
            <a:r>
              <a:rPr lang="en-US" sz="1150" dirty="0">
                <a:solidFill>
                  <a:srgbClr val="0B0C0C"/>
                </a:solidFill>
                <a:latin typeface="Calibri" pitchFamily="34" charset="0"/>
                <a:ea typeface="Calibri" pitchFamily="34" charset="-122"/>
                <a:cs typeface="Calibri" pitchFamily="34" charset="-120"/>
              </a:rPr>
              <a:t>A small lookup table the engine consults.</a:t>
            </a:r>
            <a:endParaRPr lang="en-US" sz="1150" dirty="0"/>
          </a:p>
        </p:txBody>
      </p:sp>
      <p:sp>
        <p:nvSpPr>
          <p:cNvPr id="19" name="Shape 17"/>
          <p:cNvSpPr/>
          <p:nvPr/>
        </p:nvSpPr>
        <p:spPr>
          <a:xfrm>
            <a:off x="548640" y="3639312"/>
            <a:ext cx="11064240" cy="969264"/>
          </a:xfrm>
          <a:prstGeom prst="rect">
            <a:avLst/>
          </a:prstGeom>
          <a:solidFill>
            <a:srgbClr val="F3F2F1"/>
          </a:solidFill>
          <a:ln/>
        </p:spPr>
        <p:txBody>
          <a:bodyPr/>
          <a:lstStyle/>
          <a:p>
            <a:endParaRPr lang="en-US"/>
          </a:p>
        </p:txBody>
      </p:sp>
      <p:sp>
        <p:nvSpPr>
          <p:cNvPr id="20" name="Shape 18"/>
          <p:cNvSpPr/>
          <p:nvPr/>
        </p:nvSpPr>
        <p:spPr>
          <a:xfrm>
            <a:off x="548640" y="3639312"/>
            <a:ext cx="64008" cy="969264"/>
          </a:xfrm>
          <a:prstGeom prst="rect">
            <a:avLst/>
          </a:prstGeom>
          <a:solidFill>
            <a:srgbClr val="00703C"/>
          </a:solidFill>
          <a:ln/>
        </p:spPr>
        <p:txBody>
          <a:bodyPr/>
          <a:lstStyle/>
          <a:p>
            <a:endParaRPr lang="en-US"/>
          </a:p>
        </p:txBody>
      </p:sp>
      <p:sp>
        <p:nvSpPr>
          <p:cNvPr id="21" name="Text 19"/>
          <p:cNvSpPr/>
          <p:nvPr/>
        </p:nvSpPr>
        <p:spPr>
          <a:xfrm>
            <a:off x="777240" y="3712464"/>
            <a:ext cx="2468880" cy="411480"/>
          </a:xfrm>
          <a:prstGeom prst="rect">
            <a:avLst/>
          </a:prstGeom>
          <a:noFill/>
          <a:ln/>
        </p:spPr>
        <p:txBody>
          <a:bodyPr wrap="square" lIns="0" tIns="0" rIns="0" bIns="0" rtlCol="0" anchor="ctr"/>
          <a:lstStyle/>
          <a:p>
            <a:pPr marL="0" indent="0">
              <a:buNone/>
            </a:pPr>
            <a:r>
              <a:rPr lang="en-US" sz="1900" b="1" dirty="0">
                <a:solidFill>
                  <a:srgbClr val="00703C"/>
                </a:solidFill>
                <a:latin typeface="Consolas" pitchFamily="34" charset="0"/>
                <a:ea typeface="Consolas" pitchFamily="34" charset="-122"/>
                <a:cs typeface="Consolas" pitchFamily="34" charset="-120"/>
              </a:rPr>
              <a:t>1 + 9</a:t>
            </a:r>
            <a:endParaRPr lang="en-US" sz="1900" dirty="0"/>
          </a:p>
        </p:txBody>
      </p:sp>
      <p:sp>
        <p:nvSpPr>
          <p:cNvPr id="22" name="Text 20"/>
          <p:cNvSpPr/>
          <p:nvPr/>
        </p:nvSpPr>
        <p:spPr>
          <a:xfrm>
            <a:off x="777240" y="4142232"/>
            <a:ext cx="2468880" cy="438912"/>
          </a:xfrm>
          <a:prstGeom prst="rect">
            <a:avLst/>
          </a:prstGeom>
          <a:noFill/>
          <a:ln/>
        </p:spPr>
        <p:txBody>
          <a:bodyPr wrap="square" lIns="0" tIns="0" rIns="0" bIns="0" rtlCol="0" anchor="t"/>
          <a:lstStyle/>
          <a:p>
            <a:pPr marL="0" indent="0">
              <a:buNone/>
            </a:pPr>
            <a:r>
              <a:rPr lang="en-US" sz="1050" dirty="0">
                <a:solidFill>
                  <a:srgbClr val="505A5F"/>
                </a:solidFill>
                <a:latin typeface="Calibri" pitchFamily="34" charset="0"/>
                <a:ea typeface="Calibri" pitchFamily="34" charset="-122"/>
                <a:cs typeface="Calibri" pitchFamily="34" charset="-120"/>
              </a:rPr>
              <a:t>combo components: one shape covers 99.59% of configs</a:t>
            </a:r>
            <a:endParaRPr lang="en-US" sz="1050" dirty="0"/>
          </a:p>
        </p:txBody>
      </p:sp>
      <p:sp>
        <p:nvSpPr>
          <p:cNvPr id="23" name="Text 21"/>
          <p:cNvSpPr/>
          <p:nvPr/>
        </p:nvSpPr>
        <p:spPr>
          <a:xfrm>
            <a:off x="3383280" y="3712464"/>
            <a:ext cx="4754880" cy="841248"/>
          </a:xfrm>
          <a:prstGeom prst="rect">
            <a:avLst/>
          </a:prstGeom>
          <a:noFill/>
          <a:ln/>
        </p:spPr>
        <p:txBody>
          <a:bodyPr wrap="square" lIns="0" tIns="0" rIns="0" bIns="0" rtlCol="0" anchor="ctr"/>
          <a:lstStyle/>
          <a:p>
            <a:pPr marL="0" indent="0">
              <a:buNone/>
            </a:pPr>
            <a:r>
              <a:rPr lang="en-US" sz="1150" dirty="0">
                <a:solidFill>
                  <a:srgbClr val="0B0C0C"/>
                </a:solidFill>
                <a:latin typeface="Calibri" pitchFamily="34" charset="0"/>
                <a:ea typeface="Calibri" pitchFamily="34" charset="-122"/>
                <a:cs typeface="Calibri" pitchFamily="34" charset="-120"/>
              </a:rPr>
              <a:t>Template + scalar: one combo_template with a {{complement}} placeholder; per commodity a single combo_complement_id; 9 small overrides. Blobs reconstructed at query time. Removed 1.6 MB (Story 16).</a:t>
            </a:r>
            <a:endParaRPr lang="en-US" sz="1150" dirty="0"/>
          </a:p>
        </p:txBody>
      </p:sp>
      <p:sp>
        <p:nvSpPr>
          <p:cNvPr id="24" name="Text 22"/>
          <p:cNvSpPr/>
          <p:nvPr/>
        </p:nvSpPr>
        <p:spPr>
          <a:xfrm>
            <a:off x="8321040" y="3712464"/>
            <a:ext cx="3200400" cy="841248"/>
          </a:xfrm>
          <a:prstGeom prst="rect">
            <a:avLst/>
          </a:prstGeom>
          <a:noFill/>
          <a:ln/>
        </p:spPr>
        <p:txBody>
          <a:bodyPr wrap="square" lIns="0" tIns="0" rIns="0" bIns="0" rtlCol="0" anchor="ctr"/>
          <a:lstStyle/>
          <a:p>
            <a:pPr marL="0" indent="0">
              <a:buNone/>
            </a:pPr>
            <a:r>
              <a:rPr lang="en-US" sz="1150" dirty="0">
                <a:solidFill>
                  <a:srgbClr val="0B0C0C"/>
                </a:solidFill>
                <a:latin typeface="Calibri" pitchFamily="34" charset="0"/>
                <a:ea typeface="Calibri" pitchFamily="34" charset="-122"/>
                <a:cs typeface="Calibri" pitchFamily="34" charset="-120"/>
              </a:rPr>
              <a:t>A default with sparse exceptions.</a:t>
            </a:r>
            <a:endParaRPr lang="en-US" sz="1150" dirty="0"/>
          </a:p>
        </p:txBody>
      </p:sp>
      <p:sp>
        <p:nvSpPr>
          <p:cNvPr id="25" name="Shape 23"/>
          <p:cNvSpPr/>
          <p:nvPr/>
        </p:nvSpPr>
        <p:spPr>
          <a:xfrm>
            <a:off x="548640" y="4718304"/>
            <a:ext cx="11064240" cy="969264"/>
          </a:xfrm>
          <a:prstGeom prst="rect">
            <a:avLst/>
          </a:prstGeom>
          <a:solidFill>
            <a:srgbClr val="F3F2F1"/>
          </a:solidFill>
          <a:ln/>
        </p:spPr>
        <p:txBody>
          <a:bodyPr/>
          <a:lstStyle/>
          <a:p>
            <a:endParaRPr lang="en-US"/>
          </a:p>
        </p:txBody>
      </p:sp>
      <p:sp>
        <p:nvSpPr>
          <p:cNvPr id="26" name="Shape 24"/>
          <p:cNvSpPr/>
          <p:nvPr/>
        </p:nvSpPr>
        <p:spPr>
          <a:xfrm>
            <a:off x="548640" y="4718304"/>
            <a:ext cx="64008" cy="969264"/>
          </a:xfrm>
          <a:prstGeom prst="rect">
            <a:avLst/>
          </a:prstGeom>
          <a:solidFill>
            <a:srgbClr val="003078"/>
          </a:solidFill>
          <a:ln/>
        </p:spPr>
        <p:txBody>
          <a:bodyPr/>
          <a:lstStyle/>
          <a:p>
            <a:endParaRPr lang="en-US"/>
          </a:p>
        </p:txBody>
      </p:sp>
      <p:sp>
        <p:nvSpPr>
          <p:cNvPr id="27" name="Text 25"/>
          <p:cNvSpPr/>
          <p:nvPr/>
        </p:nvSpPr>
        <p:spPr>
          <a:xfrm>
            <a:off x="777240" y="4791456"/>
            <a:ext cx="2468880" cy="411480"/>
          </a:xfrm>
          <a:prstGeom prst="rect">
            <a:avLst/>
          </a:prstGeom>
          <a:noFill/>
          <a:ln/>
        </p:spPr>
        <p:txBody>
          <a:bodyPr wrap="square" lIns="0" tIns="0" rIns="0" bIns="0" rtlCol="0" anchor="ctr"/>
          <a:lstStyle/>
          <a:p>
            <a:pPr marL="0" indent="0">
              <a:buNone/>
            </a:pPr>
            <a:r>
              <a:rPr lang="en-US" sz="1900" b="1" dirty="0">
                <a:solidFill>
                  <a:srgbClr val="003078"/>
                </a:solidFill>
                <a:latin typeface="Consolas" pitchFamily="34" charset="0"/>
                <a:ea typeface="Consolas" pitchFamily="34" charset="-122"/>
                <a:cs typeface="Consolas" pitchFamily="34" charset="-120"/>
              </a:rPr>
              <a:t>~2,176</a:t>
            </a:r>
            <a:endParaRPr lang="en-US" sz="1900" dirty="0"/>
          </a:p>
        </p:txBody>
      </p:sp>
      <p:sp>
        <p:nvSpPr>
          <p:cNvPr id="28" name="Text 26"/>
          <p:cNvSpPr/>
          <p:nvPr/>
        </p:nvSpPr>
        <p:spPr>
          <a:xfrm>
            <a:off x="777240" y="5221224"/>
            <a:ext cx="2468880" cy="438912"/>
          </a:xfrm>
          <a:prstGeom prst="rect">
            <a:avLst/>
          </a:prstGeom>
          <a:noFill/>
          <a:ln/>
        </p:spPr>
        <p:txBody>
          <a:bodyPr wrap="square" lIns="0" tIns="0" rIns="0" bIns="0" rtlCol="0" anchor="t"/>
          <a:lstStyle/>
          <a:p>
            <a:pPr marL="0" indent="0">
              <a:buNone/>
            </a:pPr>
            <a:r>
              <a:rPr lang="en-US" sz="1050" dirty="0">
                <a:solidFill>
                  <a:srgbClr val="505A5F"/>
                </a:solidFill>
                <a:latin typeface="Calibri" pitchFamily="34" charset="0"/>
                <a:ea typeface="Calibri" pitchFamily="34" charset="-122"/>
                <a:cs typeface="Calibri" pitchFamily="34" charset="-120"/>
              </a:rPr>
              <a:t>species description, line item complement, complement IDs</a:t>
            </a:r>
            <a:endParaRPr lang="en-US" sz="1050" dirty="0"/>
          </a:p>
        </p:txBody>
      </p:sp>
      <p:sp>
        <p:nvSpPr>
          <p:cNvPr id="29" name="Text 27"/>
          <p:cNvSpPr/>
          <p:nvPr/>
        </p:nvSpPr>
        <p:spPr>
          <a:xfrm>
            <a:off x="3383280" y="4791456"/>
            <a:ext cx="4754880" cy="841248"/>
          </a:xfrm>
          <a:prstGeom prst="rect">
            <a:avLst/>
          </a:prstGeom>
          <a:noFill/>
          <a:ln/>
        </p:spPr>
        <p:txBody>
          <a:bodyPr wrap="square" lIns="0" tIns="0" rIns="0" bIns="0" rtlCol="0" anchor="ctr"/>
          <a:lstStyle/>
          <a:p>
            <a:pPr marL="0" indent="0">
              <a:buNone/>
            </a:pPr>
            <a:r>
              <a:rPr lang="en-US" sz="1150" dirty="0">
                <a:solidFill>
                  <a:srgbClr val="0B0C0C"/>
                </a:solidFill>
                <a:latin typeface="Calibri" pitchFamily="34" charset="0"/>
                <a:ea typeface="Calibri" pitchFamily="34" charset="-122"/>
                <a:cs typeface="Calibri" pitchFamily="34" charset="-120"/>
              </a:rPr>
              <a:t>Irreducible: every commodity has its own value, so deduplication would lose information. Stored as per-commodity scalars - the 825 KB content floor.</a:t>
            </a:r>
            <a:endParaRPr lang="en-US" sz="1150" dirty="0"/>
          </a:p>
        </p:txBody>
      </p:sp>
      <p:sp>
        <p:nvSpPr>
          <p:cNvPr id="30" name="Text 28"/>
          <p:cNvSpPr/>
          <p:nvPr/>
        </p:nvSpPr>
        <p:spPr>
          <a:xfrm>
            <a:off x="8321040" y="4791456"/>
            <a:ext cx="3200400" cy="841248"/>
          </a:xfrm>
          <a:prstGeom prst="rect">
            <a:avLst/>
          </a:prstGeom>
          <a:noFill/>
          <a:ln/>
        </p:spPr>
        <p:txBody>
          <a:bodyPr wrap="square" lIns="0" tIns="0" rIns="0" bIns="0" rtlCol="0" anchor="ctr"/>
          <a:lstStyle/>
          <a:p>
            <a:pPr marL="0" indent="0">
              <a:buNone/>
            </a:pPr>
            <a:r>
              <a:rPr lang="en-US" sz="1150" dirty="0">
                <a:solidFill>
                  <a:srgbClr val="0B0C0C"/>
                </a:solidFill>
                <a:latin typeface="Calibri" pitchFamily="34" charset="0"/>
                <a:ea typeface="Calibri" pitchFamily="34" charset="-122"/>
                <a:cs typeface="Calibri" pitchFamily="34" charset="-120"/>
              </a:rPr>
              <a:t>Per-commodity facts the engine reads at runtime.</a:t>
            </a:r>
            <a:endParaRPr lang="en-US" sz="1150" dirty="0"/>
          </a:p>
        </p:txBody>
      </p:sp>
      <p:sp>
        <p:nvSpPr>
          <p:cNvPr id="31" name="Shape 29"/>
          <p:cNvSpPr/>
          <p:nvPr/>
        </p:nvSpPr>
        <p:spPr>
          <a:xfrm>
            <a:off x="548640" y="5897880"/>
            <a:ext cx="11064240" cy="658368"/>
          </a:xfrm>
          <a:prstGeom prst="rect">
            <a:avLst/>
          </a:prstGeom>
          <a:solidFill>
            <a:srgbClr val="0B0C0C"/>
          </a:solidFill>
          <a:ln/>
        </p:spPr>
        <p:txBody>
          <a:bodyPr/>
          <a:lstStyle/>
          <a:p>
            <a:endParaRPr lang="en-US"/>
          </a:p>
        </p:txBody>
      </p:sp>
      <p:sp>
        <p:nvSpPr>
          <p:cNvPr id="32" name="Text 30"/>
          <p:cNvSpPr/>
          <p:nvPr/>
        </p:nvSpPr>
        <p:spPr>
          <a:xfrm>
            <a:off x="777240" y="5897880"/>
            <a:ext cx="10607040" cy="658368"/>
          </a:xfrm>
          <a:prstGeom prst="rect">
            <a:avLst/>
          </a:prstGeom>
          <a:noFill/>
          <a:ln/>
        </p:spPr>
        <p:txBody>
          <a:bodyPr wrap="square" lIns="0" tIns="0" rIns="0" bIns="0" rtlCol="0" anchor="ctr"/>
          <a:lstStyle/>
          <a:p>
            <a:pPr marL="0" indent="0">
              <a:spcAft>
                <a:spcPts val="200"/>
              </a:spcAft>
              <a:buNone/>
            </a:pPr>
            <a:r>
              <a:rPr lang="en-US" sz="1350" b="1" dirty="0">
                <a:solidFill>
                  <a:srgbClr val="FFFFFF"/>
                </a:solidFill>
                <a:latin typeface="Trebuchet MS" pitchFamily="34" charset="0"/>
                <a:ea typeface="Trebuchet MS" pitchFamily="34" charset="-122"/>
                <a:cs typeface="Trebuchet MS" pitchFamily="34" charset="-120"/>
              </a:rPr>
              <a:t xml:space="preserve">Result: 2.65 MB → 1.06 MB, with the 825 KB floor proven irreducible. </a:t>
            </a:r>
            <a:endParaRPr lang="en-US" sz="1350" dirty="0"/>
          </a:p>
          <a:p>
            <a:pPr marL="0" indent="0">
              <a:spcAft>
                <a:spcPts val="200"/>
              </a:spcAft>
              <a:buNone/>
            </a:pPr>
            <a:r>
              <a:rPr lang="en-US" sz="1200" b="1" dirty="0">
                <a:solidFill>
                  <a:srgbClr val="B1B4B6"/>
                </a:solidFill>
                <a:latin typeface="Trebuchet MS" pitchFamily="34" charset="0"/>
                <a:ea typeface="Trebuchet MS" pitchFamily="34" charset="-122"/>
                <a:cs typeface="Trebuchet MS" pitchFamily="34" charset="-120"/>
              </a:rPr>
              <a:t>The distribution is also the obligation engine's design input: it names the decision logic each component needs.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sessions/relaxed-epic-ritchie/mnt/Field Config Analysis/slide-visuals/pipeline-process.png"/>
          <p:cNvPicPr>
            <a:picLocks noChangeAspect="1"/>
          </p:cNvPicPr>
          <p:nvPr/>
        </p:nvPicPr>
        <p:blipFill>
          <a:blip r:embed="rId3"/>
          <a:stretch>
            <a:fillRect/>
          </a:stretch>
        </p:blipFill>
        <p:spPr>
          <a:xfrm>
            <a:off x="274320" y="886968"/>
            <a:ext cx="11612880" cy="50840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marL="0" indent="0">
              <a:buNone/>
            </a:pPr>
            <a:r>
              <a:rPr lang="en-US" sz="2600" b="1" dirty="0">
                <a:solidFill>
                  <a:srgbClr val="0B0C0C"/>
                </a:solidFill>
                <a:latin typeface="Trebuchet MS" pitchFamily="34" charset="0"/>
                <a:ea typeface="Trebuchet MS" pitchFamily="34" charset="-122"/>
                <a:cs typeface="Trebuchet MS" pitchFamily="34" charset="-120"/>
              </a:rPr>
              <a:t>DuckDB: SQL over the source, with no ceremony</a:t>
            </a:r>
            <a:endParaRPr lang="en-US" sz="2600" dirty="0"/>
          </a:p>
        </p:txBody>
      </p:sp>
      <p:sp>
        <p:nvSpPr>
          <p:cNvPr id="3" name="Text 1"/>
          <p:cNvSpPr/>
          <p:nvPr/>
        </p:nvSpPr>
        <p:spPr>
          <a:xfrm>
            <a:off x="548640" y="749808"/>
            <a:ext cx="11064240" cy="320040"/>
          </a:xfrm>
          <a:prstGeom prst="rect">
            <a:avLst/>
          </a:prstGeom>
          <a:noFill/>
          <a:ln/>
        </p:spPr>
        <p:txBody>
          <a:bodyPr wrap="square" lIns="0" tIns="0" rIns="0" bIns="0" rtlCol="0" anchor="ctr"/>
          <a:lstStyle/>
          <a:p>
            <a:pPr marL="0" indent="0">
              <a:buNone/>
            </a:pPr>
            <a:r>
              <a:rPr lang="en-US" sz="1350" dirty="0">
                <a:solidFill>
                  <a:srgbClr val="505A5F"/>
                </a:solidFill>
                <a:latin typeface="Calibri" pitchFamily="34" charset="0"/>
                <a:ea typeface="Calibri" pitchFamily="34" charset="-122"/>
                <a:cs typeface="Calibri" pitchFamily="34" charset="-120"/>
              </a:rPr>
              <a:t>An in-memory analytical database inside the build script. One line imports the CSV; from there the collapse is a query, not a data structure.</a:t>
            </a:r>
            <a:endParaRPr lang="en-US" sz="1350" dirty="0"/>
          </a:p>
        </p:txBody>
      </p:sp>
      <p:sp>
        <p:nvSpPr>
          <p:cNvPr id="4" name="Shape 2"/>
          <p:cNvSpPr/>
          <p:nvPr/>
        </p:nvSpPr>
        <p:spPr>
          <a:xfrm>
            <a:off x="548640" y="1207008"/>
            <a:ext cx="4663440" cy="475488"/>
          </a:xfrm>
          <a:prstGeom prst="rect">
            <a:avLst/>
          </a:prstGeom>
          <a:solidFill>
            <a:srgbClr val="F3F2F1"/>
          </a:solidFill>
          <a:ln/>
        </p:spPr>
        <p:txBody>
          <a:bodyPr/>
          <a:lstStyle/>
          <a:p>
            <a:endParaRPr lang="en-US"/>
          </a:p>
        </p:txBody>
      </p:sp>
      <p:sp>
        <p:nvSpPr>
          <p:cNvPr id="5" name="Text 3"/>
          <p:cNvSpPr/>
          <p:nvPr/>
        </p:nvSpPr>
        <p:spPr>
          <a:xfrm>
            <a:off x="685800" y="1234440"/>
            <a:ext cx="2743200" cy="420624"/>
          </a:xfrm>
          <a:prstGeom prst="rect">
            <a:avLst/>
          </a:prstGeom>
          <a:noFill/>
          <a:ln/>
        </p:spPr>
        <p:txBody>
          <a:bodyPr wrap="square" lIns="0" tIns="0" rIns="0" bIns="0" rtlCol="0" anchor="ctr"/>
          <a:lstStyle/>
          <a:p>
            <a:pPr marL="0" indent="0">
              <a:buNone/>
            </a:pPr>
            <a:r>
              <a:rPr lang="en-US" sz="1200" b="1" dirty="0">
                <a:solidFill>
                  <a:srgbClr val="003078"/>
                </a:solidFill>
                <a:latin typeface="Consolas" pitchFamily="34" charset="0"/>
                <a:ea typeface="Consolas" pitchFamily="34" charset="-122"/>
                <a:cs typeface="Consolas" pitchFamily="34" charset="-120"/>
              </a:rPr>
              <a:t>vnet-data.csv</a:t>
            </a:r>
            <a:endParaRPr lang="en-US" sz="1200" dirty="0"/>
          </a:p>
        </p:txBody>
      </p:sp>
      <p:sp>
        <p:nvSpPr>
          <p:cNvPr id="6" name="Text 4"/>
          <p:cNvSpPr/>
          <p:nvPr/>
        </p:nvSpPr>
        <p:spPr>
          <a:xfrm>
            <a:off x="3108960" y="1234440"/>
            <a:ext cx="2057400" cy="420624"/>
          </a:xfrm>
          <a:prstGeom prst="rect">
            <a:avLst/>
          </a:prstGeom>
          <a:noFill/>
          <a:ln/>
        </p:spPr>
        <p:txBody>
          <a:bodyPr wrap="square" lIns="0" tIns="0" rIns="0" bIns="0" rtlCol="0" anchor="ctr"/>
          <a:lstStyle/>
          <a:p>
            <a:pPr marL="0" indent="0">
              <a:buNone/>
            </a:pPr>
            <a:r>
              <a:rPr lang="en-US" sz="950" dirty="0">
                <a:solidFill>
                  <a:srgbClr val="0B0C0C"/>
                </a:solidFill>
                <a:latin typeface="Calibri" pitchFamily="34" charset="0"/>
                <a:ea typeface="Calibri" pitchFamily="34" charset="-122"/>
                <a:cs typeface="Calibri" pitchFamily="34" charset="-120"/>
              </a:rPr>
              <a:t>3,254 rows, all cert types</a:t>
            </a:r>
            <a:endParaRPr lang="en-US" sz="950" dirty="0"/>
          </a:p>
        </p:txBody>
      </p:sp>
      <p:sp>
        <p:nvSpPr>
          <p:cNvPr id="7" name="Text 5"/>
          <p:cNvSpPr/>
          <p:nvPr/>
        </p:nvSpPr>
        <p:spPr>
          <a:xfrm>
            <a:off x="777240" y="1696212"/>
            <a:ext cx="4389120" cy="274320"/>
          </a:xfrm>
          <a:prstGeom prst="rect">
            <a:avLst/>
          </a:prstGeom>
          <a:noFill/>
          <a:ln/>
        </p:spPr>
        <p:txBody>
          <a:bodyPr wrap="square" lIns="0" tIns="0" rIns="0" bIns="0" rtlCol="0" anchor="ctr"/>
          <a:lstStyle/>
          <a:p>
            <a:pPr marL="0" indent="0">
              <a:buNone/>
            </a:pPr>
            <a:r>
              <a:rPr lang="en-US" sz="1000" i="1" dirty="0">
                <a:solidFill>
                  <a:srgbClr val="505A5F"/>
                </a:solidFill>
                <a:latin typeface="Calibri" pitchFamily="34" charset="0"/>
                <a:ea typeface="Calibri" pitchFamily="34" charset="-122"/>
                <a:cs typeface="Calibri" pitchFamily="34" charset="-120"/>
              </a:rPr>
              <a:t>↓  importCSV - one line, no ETL</a:t>
            </a:r>
            <a:endParaRPr lang="en-US" sz="1000" dirty="0"/>
          </a:p>
        </p:txBody>
      </p:sp>
      <p:sp>
        <p:nvSpPr>
          <p:cNvPr id="8" name="Shape 6"/>
          <p:cNvSpPr/>
          <p:nvPr/>
        </p:nvSpPr>
        <p:spPr>
          <a:xfrm>
            <a:off x="548640" y="1993392"/>
            <a:ext cx="4663440" cy="475488"/>
          </a:xfrm>
          <a:prstGeom prst="rect">
            <a:avLst/>
          </a:prstGeom>
          <a:solidFill>
            <a:srgbClr val="F3F2F1"/>
          </a:solidFill>
          <a:ln/>
        </p:spPr>
        <p:txBody>
          <a:bodyPr/>
          <a:lstStyle/>
          <a:p>
            <a:endParaRPr lang="en-US"/>
          </a:p>
        </p:txBody>
      </p:sp>
      <p:sp>
        <p:nvSpPr>
          <p:cNvPr id="9" name="Text 7"/>
          <p:cNvSpPr/>
          <p:nvPr/>
        </p:nvSpPr>
        <p:spPr>
          <a:xfrm>
            <a:off x="685800" y="2020824"/>
            <a:ext cx="2743200" cy="420624"/>
          </a:xfrm>
          <a:prstGeom prst="rect">
            <a:avLst/>
          </a:prstGeom>
          <a:noFill/>
          <a:ln/>
        </p:spPr>
        <p:txBody>
          <a:bodyPr wrap="square" lIns="0" tIns="0" rIns="0" bIns="0" rtlCol="0" anchor="ctr"/>
          <a:lstStyle/>
          <a:p>
            <a:pPr marL="0" indent="0">
              <a:buNone/>
            </a:pPr>
            <a:r>
              <a:rPr lang="en-US" sz="1200" b="1" dirty="0">
                <a:solidFill>
                  <a:srgbClr val="003078"/>
                </a:solidFill>
                <a:latin typeface="Consolas" pitchFamily="34" charset="0"/>
                <a:ea typeface="Consolas" pitchFamily="34" charset="-122"/>
                <a:cs typeface="Consolas" pitchFamily="34" charset="-120"/>
              </a:rPr>
              <a:t>raw_configs</a:t>
            </a:r>
            <a:endParaRPr lang="en-US" sz="1200" dirty="0"/>
          </a:p>
        </p:txBody>
      </p:sp>
      <p:sp>
        <p:nvSpPr>
          <p:cNvPr id="10" name="Text 8"/>
          <p:cNvSpPr/>
          <p:nvPr/>
        </p:nvSpPr>
        <p:spPr>
          <a:xfrm>
            <a:off x="3108960" y="2020824"/>
            <a:ext cx="2057400" cy="420624"/>
          </a:xfrm>
          <a:prstGeom prst="rect">
            <a:avLst/>
          </a:prstGeom>
          <a:noFill/>
          <a:ln/>
        </p:spPr>
        <p:txBody>
          <a:bodyPr wrap="square" lIns="0" tIns="0" rIns="0" bIns="0" rtlCol="0" anchor="ctr"/>
          <a:lstStyle/>
          <a:p>
            <a:pPr marL="0" indent="0">
              <a:buNone/>
            </a:pPr>
            <a:r>
              <a:rPr lang="en-US" sz="950" dirty="0">
                <a:solidFill>
                  <a:srgbClr val="0B0C0C"/>
                </a:solidFill>
                <a:latin typeface="Calibri" pitchFamily="34" charset="0"/>
                <a:ea typeface="Calibri" pitchFamily="34" charset="-122"/>
                <a:cs typeface="Calibri" pitchFamily="34" charset="-120"/>
              </a:rPr>
              <a:t>id, cert type, commodity code, data (JSON string)</a:t>
            </a:r>
            <a:endParaRPr lang="en-US" sz="950" dirty="0"/>
          </a:p>
        </p:txBody>
      </p:sp>
      <p:sp>
        <p:nvSpPr>
          <p:cNvPr id="11" name="Text 9"/>
          <p:cNvSpPr/>
          <p:nvPr/>
        </p:nvSpPr>
        <p:spPr>
          <a:xfrm>
            <a:off x="777240" y="2482596"/>
            <a:ext cx="4389120" cy="274320"/>
          </a:xfrm>
          <a:prstGeom prst="rect">
            <a:avLst/>
          </a:prstGeom>
          <a:noFill/>
          <a:ln/>
        </p:spPr>
        <p:txBody>
          <a:bodyPr wrap="square" lIns="0" tIns="0" rIns="0" bIns="0" rtlCol="0" anchor="ctr"/>
          <a:lstStyle/>
          <a:p>
            <a:pPr marL="0" indent="0">
              <a:buNone/>
            </a:pPr>
            <a:r>
              <a:rPr lang="en-US" sz="1000" i="1" dirty="0">
                <a:solidFill>
                  <a:srgbClr val="505A5F"/>
                </a:solidFill>
                <a:latin typeface="Calibri" pitchFamily="34" charset="0"/>
                <a:ea typeface="Calibri" pitchFamily="34" charset="-122"/>
                <a:cs typeface="Calibri" pitchFamily="34" charset="-120"/>
              </a:rPr>
              <a:t>↓  SQL: WHERE certificate_type = 'ced'; JS walks the JSON tree</a:t>
            </a:r>
            <a:endParaRPr lang="en-US" sz="1000" dirty="0"/>
          </a:p>
        </p:txBody>
      </p:sp>
      <p:sp>
        <p:nvSpPr>
          <p:cNvPr id="12" name="Shape 10"/>
          <p:cNvSpPr/>
          <p:nvPr/>
        </p:nvSpPr>
        <p:spPr>
          <a:xfrm>
            <a:off x="548640" y="2779776"/>
            <a:ext cx="4663440" cy="475488"/>
          </a:xfrm>
          <a:prstGeom prst="rect">
            <a:avLst/>
          </a:prstGeom>
          <a:solidFill>
            <a:srgbClr val="F3F2F1"/>
          </a:solidFill>
          <a:ln/>
        </p:spPr>
        <p:txBody>
          <a:bodyPr/>
          <a:lstStyle/>
          <a:p>
            <a:endParaRPr lang="en-US"/>
          </a:p>
        </p:txBody>
      </p:sp>
      <p:sp>
        <p:nvSpPr>
          <p:cNvPr id="13" name="Text 11"/>
          <p:cNvSpPr/>
          <p:nvPr/>
        </p:nvSpPr>
        <p:spPr>
          <a:xfrm>
            <a:off x="685800" y="2807208"/>
            <a:ext cx="2743200" cy="420624"/>
          </a:xfrm>
          <a:prstGeom prst="rect">
            <a:avLst/>
          </a:prstGeom>
          <a:noFill/>
          <a:ln/>
        </p:spPr>
        <p:txBody>
          <a:bodyPr wrap="square" lIns="0" tIns="0" rIns="0" bIns="0" rtlCol="0" anchor="ctr"/>
          <a:lstStyle/>
          <a:p>
            <a:pPr marL="0" indent="0">
              <a:buNone/>
            </a:pPr>
            <a:r>
              <a:rPr lang="en-US" sz="1200" b="1" dirty="0">
                <a:solidFill>
                  <a:srgbClr val="003078"/>
                </a:solidFill>
                <a:latin typeface="Consolas" pitchFamily="34" charset="0"/>
                <a:ea typeface="Consolas" pitchFamily="34" charset="-122"/>
                <a:cs typeface="Consolas" pitchFamily="34" charset="-120"/>
              </a:rPr>
              <a:t>ced_flat</a:t>
            </a:r>
            <a:endParaRPr lang="en-US" sz="1200" dirty="0"/>
          </a:p>
        </p:txBody>
      </p:sp>
      <p:sp>
        <p:nvSpPr>
          <p:cNvPr id="14" name="Text 12"/>
          <p:cNvSpPr/>
          <p:nvPr/>
        </p:nvSpPr>
        <p:spPr>
          <a:xfrm>
            <a:off x="3108960" y="2807208"/>
            <a:ext cx="2057400" cy="420624"/>
          </a:xfrm>
          <a:prstGeom prst="rect">
            <a:avLst/>
          </a:prstGeom>
          <a:noFill/>
          <a:ln/>
        </p:spPr>
        <p:txBody>
          <a:bodyPr wrap="square" lIns="0" tIns="0" rIns="0" bIns="0" rtlCol="0" anchor="ctr"/>
          <a:lstStyle/>
          <a:p>
            <a:pPr marL="0" indent="0">
              <a:buNone/>
            </a:pPr>
            <a:r>
              <a:rPr lang="en-US" sz="950" dirty="0">
                <a:solidFill>
                  <a:srgbClr val="0B0C0C"/>
                </a:solidFill>
                <a:latin typeface="Calibri" pitchFamily="34" charset="0"/>
                <a:ea typeface="Calibri" pitchFamily="34" charset="-122"/>
                <a:cs typeface="Calibri" pitchFamily="34" charset="-120"/>
              </a:rPr>
              <a:t>~160,000 rows - one per (commodity, page, section, component)</a:t>
            </a:r>
            <a:endParaRPr lang="en-US" sz="950" dirty="0"/>
          </a:p>
        </p:txBody>
      </p:sp>
      <p:sp>
        <p:nvSpPr>
          <p:cNvPr id="15" name="Text 13"/>
          <p:cNvSpPr/>
          <p:nvPr/>
        </p:nvSpPr>
        <p:spPr>
          <a:xfrm>
            <a:off x="777240" y="3268980"/>
            <a:ext cx="4389120" cy="274320"/>
          </a:xfrm>
          <a:prstGeom prst="rect">
            <a:avLst/>
          </a:prstGeom>
          <a:noFill/>
          <a:ln/>
        </p:spPr>
        <p:txBody>
          <a:bodyPr wrap="square" lIns="0" tIns="0" rIns="0" bIns="0" rtlCol="0" anchor="ctr"/>
          <a:lstStyle/>
          <a:p>
            <a:pPr marL="0" indent="0">
              <a:buNone/>
            </a:pPr>
            <a:r>
              <a:rPr lang="en-US" sz="1000" i="1" dirty="0">
                <a:solidFill>
                  <a:srgbClr val="505A5F"/>
                </a:solidFill>
                <a:latin typeface="Calibri" pitchFamily="34" charset="0"/>
                <a:ea typeface="Calibri" pitchFamily="34" charset="-122"/>
                <a:cs typeface="Calibri" pitchFamily="34" charset="-120"/>
              </a:rPr>
              <a:t>↓  JS: SHA-256 over options + values + visibility flags</a:t>
            </a:r>
            <a:endParaRPr lang="en-US" sz="1000" dirty="0"/>
          </a:p>
        </p:txBody>
      </p:sp>
      <p:sp>
        <p:nvSpPr>
          <p:cNvPr id="16" name="Shape 14"/>
          <p:cNvSpPr/>
          <p:nvPr/>
        </p:nvSpPr>
        <p:spPr>
          <a:xfrm>
            <a:off x="548640" y="3566160"/>
            <a:ext cx="4663440" cy="475488"/>
          </a:xfrm>
          <a:prstGeom prst="rect">
            <a:avLst/>
          </a:prstGeom>
          <a:solidFill>
            <a:srgbClr val="F3F2F1"/>
          </a:solidFill>
          <a:ln/>
        </p:spPr>
        <p:txBody>
          <a:bodyPr/>
          <a:lstStyle/>
          <a:p>
            <a:endParaRPr lang="en-US"/>
          </a:p>
        </p:txBody>
      </p:sp>
      <p:sp>
        <p:nvSpPr>
          <p:cNvPr id="17" name="Text 15"/>
          <p:cNvSpPr/>
          <p:nvPr/>
        </p:nvSpPr>
        <p:spPr>
          <a:xfrm>
            <a:off x="685800" y="3593592"/>
            <a:ext cx="2743200" cy="420624"/>
          </a:xfrm>
          <a:prstGeom prst="rect">
            <a:avLst/>
          </a:prstGeom>
          <a:noFill/>
          <a:ln/>
        </p:spPr>
        <p:txBody>
          <a:bodyPr wrap="square" lIns="0" tIns="0" rIns="0" bIns="0" rtlCol="0" anchor="ctr"/>
          <a:lstStyle/>
          <a:p>
            <a:pPr marL="0" indent="0">
              <a:buNone/>
            </a:pPr>
            <a:r>
              <a:rPr lang="en-US" sz="1200" b="1" dirty="0">
                <a:solidFill>
                  <a:srgbClr val="003078"/>
                </a:solidFill>
                <a:latin typeface="Consolas" pitchFamily="34" charset="0"/>
                <a:ea typeface="Consolas" pitchFamily="34" charset="-122"/>
                <a:cs typeface="Consolas" pitchFamily="34" charset="-120"/>
              </a:rPr>
              <a:t>ced_fingerprints_v2</a:t>
            </a:r>
            <a:endParaRPr lang="en-US" sz="1200" dirty="0"/>
          </a:p>
        </p:txBody>
      </p:sp>
      <p:sp>
        <p:nvSpPr>
          <p:cNvPr id="18" name="Text 16"/>
          <p:cNvSpPr/>
          <p:nvPr/>
        </p:nvSpPr>
        <p:spPr>
          <a:xfrm>
            <a:off x="3108960" y="3593592"/>
            <a:ext cx="2057400" cy="420624"/>
          </a:xfrm>
          <a:prstGeom prst="rect">
            <a:avLst/>
          </a:prstGeom>
          <a:noFill/>
          <a:ln/>
        </p:spPr>
        <p:txBody>
          <a:bodyPr wrap="square" lIns="0" tIns="0" rIns="0" bIns="0" rtlCol="0" anchor="ctr"/>
          <a:lstStyle/>
          <a:p>
            <a:pPr marL="0" indent="0">
              <a:buNone/>
            </a:pPr>
            <a:r>
              <a:rPr lang="en-US" sz="950" dirty="0">
                <a:solidFill>
                  <a:srgbClr val="0B0C0C"/>
                </a:solidFill>
                <a:latin typeface="Calibri" pitchFamily="34" charset="0"/>
                <a:ea typeface="Calibri" pitchFamily="34" charset="-122"/>
                <a:cs typeface="Calibri" pitchFamily="34" charset="-120"/>
              </a:rPr>
              <a:t>(commodity, page, section, component, fingerprint)</a:t>
            </a:r>
            <a:endParaRPr lang="en-US" sz="950" dirty="0"/>
          </a:p>
        </p:txBody>
      </p:sp>
      <p:sp>
        <p:nvSpPr>
          <p:cNvPr id="19" name="Text 17"/>
          <p:cNvSpPr/>
          <p:nvPr/>
        </p:nvSpPr>
        <p:spPr>
          <a:xfrm>
            <a:off x="777240" y="4055364"/>
            <a:ext cx="4389120" cy="274320"/>
          </a:xfrm>
          <a:prstGeom prst="rect">
            <a:avLst/>
          </a:prstGeom>
          <a:noFill/>
          <a:ln/>
        </p:spPr>
        <p:txBody>
          <a:bodyPr wrap="square" lIns="0" tIns="0" rIns="0" bIns="0" rtlCol="0" anchor="ctr"/>
          <a:lstStyle/>
          <a:p>
            <a:pPr marL="0" indent="0">
              <a:buNone/>
            </a:pPr>
            <a:r>
              <a:rPr lang="en-US" sz="1000" i="1" dirty="0">
                <a:solidFill>
                  <a:srgbClr val="505A5F"/>
                </a:solidFill>
                <a:latin typeface="Calibri" pitchFamily="34" charset="0"/>
                <a:ea typeface="Calibri" pitchFamily="34" charset="-122"/>
                <a:cs typeface="Calibri" pitchFamily="34" charset="-120"/>
              </a:rPr>
              <a:t>↓  SQL: GROUP BY fingerprint</a:t>
            </a:r>
            <a:endParaRPr lang="en-US" sz="1000" dirty="0"/>
          </a:p>
        </p:txBody>
      </p:sp>
      <p:sp>
        <p:nvSpPr>
          <p:cNvPr id="20" name="Shape 18"/>
          <p:cNvSpPr/>
          <p:nvPr/>
        </p:nvSpPr>
        <p:spPr>
          <a:xfrm>
            <a:off x="548640" y="4352544"/>
            <a:ext cx="4663440" cy="475488"/>
          </a:xfrm>
          <a:prstGeom prst="rect">
            <a:avLst/>
          </a:prstGeom>
          <a:solidFill>
            <a:srgbClr val="F3F2F1"/>
          </a:solidFill>
          <a:ln/>
        </p:spPr>
        <p:txBody>
          <a:bodyPr/>
          <a:lstStyle/>
          <a:p>
            <a:endParaRPr lang="en-US"/>
          </a:p>
        </p:txBody>
      </p:sp>
      <p:sp>
        <p:nvSpPr>
          <p:cNvPr id="21" name="Text 19"/>
          <p:cNvSpPr/>
          <p:nvPr/>
        </p:nvSpPr>
        <p:spPr>
          <a:xfrm>
            <a:off x="685800" y="4379976"/>
            <a:ext cx="2743200" cy="420624"/>
          </a:xfrm>
          <a:prstGeom prst="rect">
            <a:avLst/>
          </a:prstGeom>
          <a:noFill/>
          <a:ln/>
        </p:spPr>
        <p:txBody>
          <a:bodyPr wrap="square" lIns="0" tIns="0" rIns="0" bIns="0" rtlCol="0" anchor="ctr"/>
          <a:lstStyle/>
          <a:p>
            <a:pPr marL="0" indent="0">
              <a:buNone/>
            </a:pPr>
            <a:r>
              <a:rPr lang="en-US" sz="1200" b="1" dirty="0">
                <a:solidFill>
                  <a:srgbClr val="003078"/>
                </a:solidFill>
                <a:latin typeface="Consolas" pitchFamily="34" charset="0"/>
                <a:ea typeface="Consolas" pitchFamily="34" charset="-122"/>
                <a:cs typeface="Consolas" pitchFamily="34" charset="-120"/>
              </a:rPr>
              <a:t>variance report</a:t>
            </a:r>
            <a:endParaRPr lang="en-US" sz="1200" dirty="0"/>
          </a:p>
        </p:txBody>
      </p:sp>
      <p:sp>
        <p:nvSpPr>
          <p:cNvPr id="22" name="Text 20"/>
          <p:cNvSpPr/>
          <p:nvPr/>
        </p:nvSpPr>
        <p:spPr>
          <a:xfrm>
            <a:off x="3108960" y="4379976"/>
            <a:ext cx="2057400" cy="420624"/>
          </a:xfrm>
          <a:prstGeom prst="rect">
            <a:avLst/>
          </a:prstGeom>
          <a:noFill/>
          <a:ln/>
        </p:spPr>
        <p:txBody>
          <a:bodyPr wrap="square" lIns="0" tIns="0" rIns="0" bIns="0" rtlCol="0" anchor="ctr"/>
          <a:lstStyle/>
          <a:p>
            <a:pPr marL="0" indent="0">
              <a:buNone/>
            </a:pPr>
            <a:r>
              <a:rPr lang="en-US" sz="950" dirty="0">
                <a:solidFill>
                  <a:srgbClr val="0B0C0C"/>
                </a:solidFill>
                <a:latin typeface="Calibri" pitchFamily="34" charset="0"/>
                <a:ea typeface="Calibri" pitchFamily="34" charset="-122"/>
                <a:cs typeface="Calibri" pitchFamily="34" charset="-120"/>
              </a:rPr>
              <a:t>universal[], varying[], definitions, commodity mappings</a:t>
            </a:r>
            <a:endParaRPr lang="en-US" sz="950" dirty="0"/>
          </a:p>
        </p:txBody>
      </p:sp>
      <p:sp>
        <p:nvSpPr>
          <p:cNvPr id="23" name="Text 21"/>
          <p:cNvSpPr/>
          <p:nvPr/>
        </p:nvSpPr>
        <p:spPr>
          <a:xfrm>
            <a:off x="777240" y="4841748"/>
            <a:ext cx="4389120" cy="274320"/>
          </a:xfrm>
          <a:prstGeom prst="rect">
            <a:avLst/>
          </a:prstGeom>
          <a:noFill/>
          <a:ln/>
        </p:spPr>
        <p:txBody>
          <a:bodyPr wrap="square" lIns="0" tIns="0" rIns="0" bIns="0" rtlCol="0" anchor="ctr"/>
          <a:lstStyle/>
          <a:p>
            <a:pPr marL="0" indent="0">
              <a:buNone/>
            </a:pPr>
            <a:r>
              <a:rPr lang="en-US" sz="1000" i="1" dirty="0">
                <a:solidFill>
                  <a:srgbClr val="505A5F"/>
                </a:solidFill>
                <a:latin typeface="Calibri" pitchFamily="34" charset="0"/>
                <a:ea typeface="Calibri" pitchFamily="34" charset="-122"/>
                <a:cs typeface="Calibri" pitchFamily="34" charset="-120"/>
              </a:rPr>
              <a:t>↓  JS: assemble layers</a:t>
            </a:r>
            <a:endParaRPr lang="en-US" sz="1000" dirty="0"/>
          </a:p>
        </p:txBody>
      </p:sp>
      <p:sp>
        <p:nvSpPr>
          <p:cNvPr id="24" name="Shape 22"/>
          <p:cNvSpPr/>
          <p:nvPr/>
        </p:nvSpPr>
        <p:spPr>
          <a:xfrm>
            <a:off x="548640" y="5138928"/>
            <a:ext cx="4663440" cy="475488"/>
          </a:xfrm>
          <a:prstGeom prst="rect">
            <a:avLst/>
          </a:prstGeom>
          <a:solidFill>
            <a:srgbClr val="F3F2F1"/>
          </a:solidFill>
          <a:ln/>
        </p:spPr>
        <p:txBody>
          <a:bodyPr/>
          <a:lstStyle/>
          <a:p>
            <a:endParaRPr lang="en-US"/>
          </a:p>
        </p:txBody>
      </p:sp>
      <p:sp>
        <p:nvSpPr>
          <p:cNvPr id="25" name="Text 23"/>
          <p:cNvSpPr/>
          <p:nvPr/>
        </p:nvSpPr>
        <p:spPr>
          <a:xfrm>
            <a:off x="685800" y="5166360"/>
            <a:ext cx="4389120" cy="420624"/>
          </a:xfrm>
          <a:prstGeom prst="rect">
            <a:avLst/>
          </a:prstGeom>
          <a:noFill/>
          <a:ln/>
        </p:spPr>
        <p:txBody>
          <a:bodyPr wrap="square" lIns="0" tIns="0" rIns="0" bIns="0" rtlCol="0" anchor="ctr"/>
          <a:lstStyle/>
          <a:p>
            <a:pPr marL="0" indent="0">
              <a:buNone/>
            </a:pPr>
            <a:r>
              <a:rPr lang="en-US" sz="1200" b="1" dirty="0">
                <a:solidFill>
                  <a:srgbClr val="003078"/>
                </a:solidFill>
                <a:latin typeface="Consolas" pitchFamily="34" charset="0"/>
                <a:ea typeface="Consolas" pitchFamily="34" charset="-122"/>
                <a:cs typeface="Consolas" pitchFamily="34" charset="-120"/>
              </a:rPr>
              <a:t>chedd-products-staging.json</a:t>
            </a:r>
            <a:endParaRPr lang="en-US" sz="1200" dirty="0"/>
          </a:p>
        </p:txBody>
      </p:sp>
      <p:sp>
        <p:nvSpPr>
          <p:cNvPr id="26" name="Shape 24"/>
          <p:cNvSpPr/>
          <p:nvPr/>
        </p:nvSpPr>
        <p:spPr>
          <a:xfrm>
            <a:off x="5577840" y="1207008"/>
            <a:ext cx="6035040" cy="2395728"/>
          </a:xfrm>
          <a:prstGeom prst="rect">
            <a:avLst/>
          </a:prstGeom>
          <a:solidFill>
            <a:srgbClr val="0B0C0C"/>
          </a:solidFill>
          <a:ln/>
        </p:spPr>
        <p:txBody>
          <a:bodyPr/>
          <a:lstStyle/>
          <a:p>
            <a:endParaRPr lang="en-US"/>
          </a:p>
        </p:txBody>
      </p:sp>
      <p:sp>
        <p:nvSpPr>
          <p:cNvPr id="27" name="Text 25"/>
          <p:cNvSpPr/>
          <p:nvPr/>
        </p:nvSpPr>
        <p:spPr>
          <a:xfrm>
            <a:off x="5806440" y="1298448"/>
            <a:ext cx="5577840" cy="256032"/>
          </a:xfrm>
          <a:prstGeom prst="rect">
            <a:avLst/>
          </a:prstGeom>
          <a:noFill/>
          <a:ln/>
        </p:spPr>
        <p:txBody>
          <a:bodyPr wrap="square" lIns="0" tIns="0" rIns="0" bIns="0" rtlCol="0" anchor="ctr"/>
          <a:lstStyle/>
          <a:p>
            <a:pPr marL="0" indent="0">
              <a:buNone/>
            </a:pPr>
            <a:r>
              <a:rPr lang="en-US" sz="1050" b="1" kern="0" spc="150" dirty="0">
                <a:solidFill>
                  <a:srgbClr val="F47738"/>
                </a:solidFill>
                <a:latin typeface="Calibri" pitchFamily="34" charset="0"/>
                <a:ea typeface="Calibri" pitchFamily="34" charset="-122"/>
                <a:cs typeface="Calibri" pitchFamily="34" charset="-120"/>
              </a:rPr>
              <a:t>THE HINGE QUERY - WHERE THE DEDUP DECISION IS MADE</a:t>
            </a:r>
            <a:endParaRPr lang="en-US" sz="1050" dirty="0"/>
          </a:p>
        </p:txBody>
      </p:sp>
      <p:sp>
        <p:nvSpPr>
          <p:cNvPr id="28" name="Text 26"/>
          <p:cNvSpPr/>
          <p:nvPr/>
        </p:nvSpPr>
        <p:spPr>
          <a:xfrm>
            <a:off x="5806440" y="1591056"/>
            <a:ext cx="5577840" cy="1920240"/>
          </a:xfrm>
          <a:prstGeom prst="rect">
            <a:avLst/>
          </a:prstGeom>
          <a:noFill/>
          <a:ln/>
        </p:spPr>
        <p:txBody>
          <a:bodyPr wrap="square" lIns="0" tIns="0" rIns="0" bIns="0" rtlCol="0" anchor="t"/>
          <a:lstStyle/>
          <a:p>
            <a:pPr marL="0" indent="0">
              <a:buNone/>
            </a:pPr>
            <a:r>
              <a:rPr lang="en-US" sz="1150" dirty="0">
                <a:solidFill>
                  <a:srgbClr val="FFFFFF"/>
                </a:solidFill>
                <a:latin typeface="Consolas" pitchFamily="34" charset="0"/>
                <a:ea typeface="Consolas" pitchFamily="34" charset="-122"/>
                <a:cs typeface="Consolas" pitchFamily="34" charset="-120"/>
              </a:rPr>
              <a:t>SELECT f.fingerprint,</a:t>
            </a:r>
            <a:endParaRPr lang="en-US" sz="1150" dirty="0"/>
          </a:p>
          <a:p>
            <a:pPr marL="0" indent="0">
              <a:buNone/>
            </a:pPr>
            <a:r>
              <a:rPr lang="en-US" sz="1150" dirty="0">
                <a:solidFill>
                  <a:srgbClr val="FFFFFF"/>
                </a:solidFill>
                <a:latin typeface="Consolas" pitchFamily="34" charset="0"/>
                <a:ea typeface="Consolas" pitchFamily="34" charset="-122"/>
                <a:cs typeface="Consolas" pitchFamily="34" charset="-120"/>
              </a:rPr>
              <a:t xml:space="preserve">       GROUP_CONCAT(f.commodity_code) AS commodities,</a:t>
            </a:r>
            <a:endParaRPr lang="en-US" sz="1150" dirty="0"/>
          </a:p>
          <a:p>
            <a:pPr marL="0" indent="0">
              <a:buNone/>
            </a:pPr>
            <a:r>
              <a:rPr lang="en-US" sz="1150" dirty="0">
                <a:solidFill>
                  <a:srgbClr val="FFFFFF"/>
                </a:solidFill>
                <a:latin typeface="Consolas" pitchFamily="34" charset="0"/>
                <a:ea typeface="Consolas" pitchFamily="34" charset="-122"/>
                <a:cs typeface="Consolas" pitchFamily="34" charset="-120"/>
              </a:rPr>
              <a:t xml:space="preserve">       MIN(t.options_json), MIN(t.values_json)</a:t>
            </a:r>
            <a:endParaRPr lang="en-US" sz="1150" dirty="0"/>
          </a:p>
          <a:p>
            <a:pPr marL="0" indent="0">
              <a:buNone/>
            </a:pPr>
            <a:r>
              <a:rPr lang="en-US" sz="1150" dirty="0">
                <a:solidFill>
                  <a:srgbClr val="FFFFFF"/>
                </a:solidFill>
                <a:latin typeface="Consolas" pitchFamily="34" charset="0"/>
                <a:ea typeface="Consolas" pitchFamily="34" charset="-122"/>
                <a:cs typeface="Consolas" pitchFamily="34" charset="-120"/>
              </a:rPr>
              <a:t>FROM   ced_fingerprints_v2 f</a:t>
            </a:r>
            <a:endParaRPr lang="en-US" sz="1150" dirty="0"/>
          </a:p>
          <a:p>
            <a:pPr marL="0" indent="0">
              <a:buNone/>
            </a:pPr>
            <a:r>
              <a:rPr lang="en-US" sz="1150" dirty="0">
                <a:solidFill>
                  <a:srgbClr val="FFFFFF"/>
                </a:solidFill>
                <a:latin typeface="Consolas" pitchFamily="34" charset="0"/>
                <a:ea typeface="Consolas" pitchFamily="34" charset="-122"/>
                <a:cs typeface="Consolas" pitchFamily="34" charset="-120"/>
              </a:rPr>
              <a:t>JOIN   ced_flat t USING (commodity_code, page_name,</a:t>
            </a:r>
            <a:endParaRPr lang="en-US" sz="1150" dirty="0"/>
          </a:p>
          <a:p>
            <a:pPr marL="0" indent="0">
              <a:buNone/>
            </a:pPr>
            <a:r>
              <a:rPr lang="en-US" sz="1150" dirty="0">
                <a:solidFill>
                  <a:srgbClr val="FFFFFF"/>
                </a:solidFill>
                <a:latin typeface="Consolas" pitchFamily="34" charset="0"/>
                <a:ea typeface="Consolas" pitchFamily="34" charset="-122"/>
                <a:cs typeface="Consolas" pitchFamily="34" charset="-120"/>
              </a:rPr>
              <a:t xml:space="preserve">                         section_name, component_name)</a:t>
            </a:r>
            <a:endParaRPr lang="en-US" sz="1150" dirty="0"/>
          </a:p>
          <a:p>
            <a:pPr marL="0" indent="0">
              <a:buNone/>
            </a:pPr>
            <a:r>
              <a:rPr lang="en-US" sz="1150" dirty="0">
                <a:solidFill>
                  <a:srgbClr val="FFFFFF"/>
                </a:solidFill>
                <a:latin typeface="Consolas" pitchFamily="34" charset="0"/>
                <a:ea typeface="Consolas" pitchFamily="34" charset="-122"/>
                <a:cs typeface="Consolas" pitchFamily="34" charset="-120"/>
              </a:rPr>
              <a:t>WHERE  page_name = 'Commodity'</a:t>
            </a:r>
            <a:endParaRPr lang="en-US" sz="1150" dirty="0"/>
          </a:p>
          <a:p>
            <a:pPr marL="0" indent="0">
              <a:buNone/>
            </a:pPr>
            <a:r>
              <a:rPr lang="en-US" sz="1150" dirty="0">
                <a:solidFill>
                  <a:srgbClr val="FFFFFF"/>
                </a:solidFill>
                <a:latin typeface="Consolas" pitchFamily="34" charset="0"/>
                <a:ea typeface="Consolas" pitchFamily="34" charset="-122"/>
                <a:cs typeface="Consolas" pitchFamily="34" charset="-120"/>
              </a:rPr>
              <a:t xml:space="preserve">  AND  component_name = 'internalMarket'</a:t>
            </a:r>
            <a:endParaRPr lang="en-US" sz="1150" dirty="0"/>
          </a:p>
          <a:p>
            <a:pPr marL="0" indent="0">
              <a:buNone/>
            </a:pPr>
            <a:r>
              <a:rPr lang="en-US" sz="1150" dirty="0">
                <a:solidFill>
                  <a:srgbClr val="FFFFFF"/>
                </a:solidFill>
                <a:latin typeface="Consolas" pitchFamily="34" charset="0"/>
                <a:ea typeface="Consolas" pitchFamily="34" charset="-122"/>
                <a:cs typeface="Consolas" pitchFamily="34" charset="-120"/>
              </a:rPr>
              <a:t>GROUP  BY f.fingerprint</a:t>
            </a:r>
            <a:endParaRPr lang="en-US" sz="1150" dirty="0"/>
          </a:p>
          <a:p>
            <a:pPr marL="0" indent="0">
              <a:buNone/>
            </a:pPr>
            <a:r>
              <a:rPr lang="en-US" sz="1150" dirty="0">
                <a:solidFill>
                  <a:srgbClr val="97BC62"/>
                </a:solidFill>
                <a:latin typeface="Consolas" pitchFamily="34" charset="0"/>
                <a:ea typeface="Consolas" pitchFamily="34" charset="-122"/>
                <a:cs typeface="Consolas" pitchFamily="34" charset="-120"/>
              </a:rPr>
              <a:t>-- returns 5 rows: 2,116 / 26 / 1 / 1 / 1 commodities</a:t>
            </a:r>
            <a:endParaRPr lang="en-US" sz="1150" dirty="0"/>
          </a:p>
        </p:txBody>
      </p:sp>
      <p:sp>
        <p:nvSpPr>
          <p:cNvPr id="29" name="Text 27"/>
          <p:cNvSpPr/>
          <p:nvPr/>
        </p:nvSpPr>
        <p:spPr>
          <a:xfrm>
            <a:off x="5577840" y="3730752"/>
            <a:ext cx="6035040" cy="56692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Five rows out of ~2,145 inputs. The JS layer then frequency-orders the rows, assigns internalMarket_set_01..05, and writes per-commodity references. The same pattern served Stories 13-16; Story 17 only consumed the report.</a:t>
            </a:r>
            <a:endParaRPr lang="en-US" sz="1150" dirty="0"/>
          </a:p>
        </p:txBody>
      </p:sp>
      <p:sp>
        <p:nvSpPr>
          <p:cNvPr id="30" name="Shape 28"/>
          <p:cNvSpPr/>
          <p:nvPr/>
        </p:nvSpPr>
        <p:spPr>
          <a:xfrm>
            <a:off x="5577840" y="4407408"/>
            <a:ext cx="6035040" cy="969264"/>
          </a:xfrm>
          <a:prstGeom prst="rect">
            <a:avLst/>
          </a:prstGeom>
          <a:solidFill>
            <a:srgbClr val="F3F2F1"/>
          </a:solidFill>
          <a:ln/>
        </p:spPr>
        <p:txBody>
          <a:bodyPr/>
          <a:lstStyle/>
          <a:p>
            <a:endParaRPr lang="en-US"/>
          </a:p>
        </p:txBody>
      </p:sp>
      <p:sp>
        <p:nvSpPr>
          <p:cNvPr id="31" name="Shape 29"/>
          <p:cNvSpPr/>
          <p:nvPr/>
        </p:nvSpPr>
        <p:spPr>
          <a:xfrm>
            <a:off x="2411730" y="7198644"/>
            <a:ext cx="45719" cy="336012"/>
          </a:xfrm>
          <a:prstGeom prst="rect">
            <a:avLst/>
          </a:prstGeom>
          <a:solidFill>
            <a:srgbClr val="00703C"/>
          </a:solidFill>
          <a:ln/>
        </p:spPr>
        <p:txBody>
          <a:bodyPr/>
          <a:lstStyle/>
          <a:p>
            <a:endParaRPr lang="en-US"/>
          </a:p>
        </p:txBody>
      </p:sp>
      <p:sp>
        <p:nvSpPr>
          <p:cNvPr id="32" name="Text 30"/>
          <p:cNvSpPr/>
          <p:nvPr/>
        </p:nvSpPr>
        <p:spPr>
          <a:xfrm>
            <a:off x="5779008" y="4480560"/>
            <a:ext cx="5715000" cy="841248"/>
          </a:xfrm>
          <a:prstGeom prst="rect">
            <a:avLst/>
          </a:prstGeom>
          <a:noFill/>
          <a:ln/>
        </p:spPr>
        <p:txBody>
          <a:bodyPr wrap="square" lIns="0" tIns="0" rIns="0" bIns="0" rtlCol="0" anchor="t"/>
          <a:lstStyle/>
          <a:p>
            <a:pPr marL="0" indent="0">
              <a:buNone/>
            </a:pPr>
            <a:r>
              <a:rPr lang="en-US" sz="1100" b="1" dirty="0">
                <a:solidFill>
                  <a:srgbClr val="0B0C0C"/>
                </a:solidFill>
                <a:latin typeface="Calibri" pitchFamily="34" charset="0"/>
                <a:ea typeface="Calibri" pitchFamily="34" charset="-122"/>
                <a:cs typeface="Calibri" pitchFamily="34" charset="-120"/>
              </a:rPr>
              <a:t xml:space="preserve">Why DuckDB, not Postgres or plain JS. </a:t>
            </a:r>
            <a:r>
              <a:rPr lang="en-US" sz="1100" dirty="0">
                <a:solidFill>
                  <a:srgbClr val="0B0C0C"/>
                </a:solidFill>
                <a:latin typeface="Calibri" pitchFamily="34" charset="0"/>
                <a:ea typeface="Calibri" pitchFamily="34" charset="-122"/>
                <a:cs typeface="Calibri" pitchFamily="34" charset="-120"/>
              </a:rPr>
              <a:t>The work is ephemeral - in-memory mode matches a build that emits one file. The queries are analytical (GROUP BY over 160 K rows): its columnar sweet spot. Zero infrastructure: a Node script, no server, no schema migration.</a:t>
            </a:r>
            <a:endParaRPr lang="en-US" sz="1100" dirty="0"/>
          </a:p>
        </p:txBody>
      </p:sp>
      <p:sp>
        <p:nvSpPr>
          <p:cNvPr id="33" name="Shape 31"/>
          <p:cNvSpPr/>
          <p:nvPr/>
        </p:nvSpPr>
        <p:spPr>
          <a:xfrm>
            <a:off x="5577840" y="5486400"/>
            <a:ext cx="6035040" cy="841248"/>
          </a:xfrm>
          <a:prstGeom prst="rect">
            <a:avLst/>
          </a:prstGeom>
          <a:solidFill>
            <a:srgbClr val="F3F2F1"/>
          </a:solidFill>
          <a:ln/>
        </p:spPr>
        <p:txBody>
          <a:bodyPr/>
          <a:lstStyle/>
          <a:p>
            <a:endParaRPr lang="en-US"/>
          </a:p>
        </p:txBody>
      </p:sp>
      <p:sp>
        <p:nvSpPr>
          <p:cNvPr id="34" name="Shape 32"/>
          <p:cNvSpPr/>
          <p:nvPr/>
        </p:nvSpPr>
        <p:spPr>
          <a:xfrm>
            <a:off x="5577840" y="5486400"/>
            <a:ext cx="64008" cy="841248"/>
          </a:xfrm>
          <a:prstGeom prst="rect">
            <a:avLst/>
          </a:prstGeom>
          <a:solidFill>
            <a:srgbClr val="1D70B8"/>
          </a:solidFill>
          <a:ln/>
        </p:spPr>
        <p:txBody>
          <a:bodyPr/>
          <a:lstStyle/>
          <a:p>
            <a:endParaRPr lang="en-US"/>
          </a:p>
        </p:txBody>
      </p:sp>
      <p:sp>
        <p:nvSpPr>
          <p:cNvPr id="35" name="Text 33"/>
          <p:cNvSpPr/>
          <p:nvPr/>
        </p:nvSpPr>
        <p:spPr>
          <a:xfrm>
            <a:off x="5779008" y="5559552"/>
            <a:ext cx="5715000" cy="713232"/>
          </a:xfrm>
          <a:prstGeom prst="rect">
            <a:avLst/>
          </a:prstGeom>
          <a:noFill/>
          <a:ln/>
        </p:spPr>
        <p:txBody>
          <a:bodyPr wrap="square" lIns="0" tIns="0" rIns="0" bIns="0" rtlCol="0" anchor="t"/>
          <a:lstStyle/>
          <a:p>
            <a:pPr marL="0" indent="0">
              <a:buNone/>
            </a:pPr>
            <a:r>
              <a:rPr lang="en-US" sz="1100" b="1" dirty="0">
                <a:solidFill>
                  <a:srgbClr val="0B0C0C"/>
                </a:solidFill>
                <a:latin typeface="Calibri" pitchFamily="34" charset="0"/>
                <a:ea typeface="Calibri" pitchFamily="34" charset="-122"/>
                <a:cs typeface="Calibri" pitchFamily="34" charset="-120"/>
              </a:rPr>
              <a:t xml:space="preserve">What it did not do. </a:t>
            </a:r>
            <a:r>
              <a:rPr lang="en-US" sz="1100" dirty="0">
                <a:solidFill>
                  <a:srgbClr val="0B0C0C"/>
                </a:solidFill>
                <a:latin typeface="Calibri" pitchFamily="34" charset="0"/>
                <a:ea typeface="Calibri" pitchFamily="34" charset="-122"/>
                <a:cs typeface="Calibri" pitchFamily="34" charset="-120"/>
              </a:rPr>
              <a:t>Choosing what to fingerprint and the collapse strategy are pure JS. Nothing persists between builds: every run starts from :memory:, which is why same CSV in means same JSON out, byte for byte.</a:t>
            </a:r>
            <a:endParaRPr lang="en-US" sz="1100" dirty="0"/>
          </a:p>
        </p:txBody>
      </p:sp>
      <p:sp>
        <p:nvSpPr>
          <p:cNvPr id="36" name="Shape 34"/>
          <p:cNvSpPr/>
          <p:nvPr/>
        </p:nvSpPr>
        <p:spPr>
          <a:xfrm>
            <a:off x="548640" y="6400800"/>
            <a:ext cx="11064240" cy="384048"/>
          </a:xfrm>
          <a:prstGeom prst="rect">
            <a:avLst/>
          </a:prstGeom>
          <a:solidFill>
            <a:srgbClr val="0B0C0C"/>
          </a:solidFill>
          <a:ln/>
        </p:spPr>
        <p:txBody>
          <a:bodyPr/>
          <a:lstStyle/>
          <a:p>
            <a:endParaRPr lang="en-US"/>
          </a:p>
        </p:txBody>
      </p:sp>
      <p:sp>
        <p:nvSpPr>
          <p:cNvPr id="37" name="Text 35"/>
          <p:cNvSpPr/>
          <p:nvPr/>
        </p:nvSpPr>
        <p:spPr>
          <a:xfrm>
            <a:off x="777240" y="6400800"/>
            <a:ext cx="10607040" cy="38404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DuckDB gave us the GROUP BY. The collapse became writing the right SQL, not the right data structure.</a:t>
            </a:r>
            <a:endParaRPr lang="en-US" sz="1200" dirty="0"/>
          </a:p>
        </p:txBody>
      </p:sp>
      <p:pic>
        <p:nvPicPr>
          <p:cNvPr id="39" name="Graphic 38">
            <a:extLst>
              <a:ext uri="{FF2B5EF4-FFF2-40B4-BE49-F238E27FC236}">
                <a16:creationId xmlns:a16="http://schemas.microsoft.com/office/drawing/2014/main" id="{C8D4467A-D88E-5BB2-E833-179B4F2D5F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8640" y="5797296"/>
            <a:ext cx="1651000" cy="4754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sessions/relaxed-epic-ritchie/mnt/Field Config Analysis/slide-visuals/journey-config-shapes.png"/>
          <p:cNvPicPr>
            <a:picLocks noChangeAspect="1"/>
          </p:cNvPicPr>
          <p:nvPr/>
        </p:nvPicPr>
        <p:blipFill>
          <a:blip r:embed="rId3"/>
          <a:stretch>
            <a:fillRect/>
          </a:stretch>
        </p:blipFill>
        <p:spPr>
          <a:xfrm>
            <a:off x="411480" y="176022"/>
            <a:ext cx="11338560" cy="65196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02920"/>
          </a:xfrm>
          <a:prstGeom prst="rect">
            <a:avLst/>
          </a:prstGeom>
          <a:noFill/>
          <a:ln/>
        </p:spPr>
        <p:txBody>
          <a:bodyPr wrap="square" lIns="0" tIns="0" rIns="0" bIns="0" rtlCol="0" anchor="ctr"/>
          <a:lstStyle/>
          <a:p>
            <a:pPr marL="0" indent="0">
              <a:buNone/>
            </a:pPr>
            <a:r>
              <a:rPr lang="en-US" sz="2800" b="1" dirty="0">
                <a:solidFill>
                  <a:srgbClr val="0B0C0C"/>
                </a:solidFill>
                <a:latin typeface="Trebuchet MS" pitchFamily="34" charset="0"/>
                <a:ea typeface="Trebuchet MS" pitchFamily="34" charset="-122"/>
                <a:cs typeface="Trebuchet MS" pitchFamily="34" charset="-120"/>
              </a:rPr>
              <a:t>Journey configuration as data</a:t>
            </a:r>
            <a:endParaRPr lang="en-US" sz="2800" dirty="0"/>
          </a:p>
        </p:txBody>
      </p:sp>
      <p:sp>
        <p:nvSpPr>
          <p:cNvPr id="3" name="Text 1"/>
          <p:cNvSpPr/>
          <p:nvPr/>
        </p:nvSpPr>
        <p:spPr>
          <a:xfrm>
            <a:off x="548640" y="804672"/>
            <a:ext cx="11064240" cy="320040"/>
          </a:xfrm>
          <a:prstGeom prst="rect">
            <a:avLst/>
          </a:prstGeom>
          <a:noFill/>
          <a:ln/>
        </p:spPr>
        <p:txBody>
          <a:bodyPr wrap="square" lIns="0" tIns="0" rIns="0" bIns="0" rtlCol="0" anchor="ctr"/>
          <a:lstStyle/>
          <a:p>
            <a:pPr marL="0" indent="0">
              <a:buNone/>
            </a:pPr>
            <a:r>
              <a:rPr lang="en-US" sz="1400" dirty="0">
                <a:solidFill>
                  <a:srgbClr val="505A5F"/>
                </a:solidFill>
                <a:latin typeface="Calibri" pitchFamily="34" charset="0"/>
                <a:ea typeface="Calibri" pitchFamily="34" charset="-122"/>
                <a:cs typeface="Calibri" pitchFamily="34" charset="-120"/>
              </a:rPr>
              <a:t>One directory per journey. Two files are data; two carry rules (next section); one assembles them.</a:t>
            </a:r>
            <a:endParaRPr lang="en-US" sz="1400" dirty="0"/>
          </a:p>
        </p:txBody>
      </p:sp>
      <p:sp>
        <p:nvSpPr>
          <p:cNvPr id="4" name="Shape 2"/>
          <p:cNvSpPr/>
          <p:nvPr/>
        </p:nvSpPr>
        <p:spPr>
          <a:xfrm>
            <a:off x="548640" y="1325880"/>
            <a:ext cx="4572000" cy="3931920"/>
          </a:xfrm>
          <a:prstGeom prst="rect">
            <a:avLst/>
          </a:prstGeom>
          <a:solidFill>
            <a:srgbClr val="0B0C0C"/>
          </a:solidFill>
          <a:ln/>
        </p:spPr>
        <p:txBody>
          <a:bodyPr/>
          <a:lstStyle/>
          <a:p>
            <a:endParaRPr lang="en-US"/>
          </a:p>
        </p:txBody>
      </p:sp>
      <p:sp>
        <p:nvSpPr>
          <p:cNvPr id="5" name="Text 3"/>
          <p:cNvSpPr/>
          <p:nvPr/>
        </p:nvSpPr>
        <p:spPr>
          <a:xfrm>
            <a:off x="777240" y="1508760"/>
            <a:ext cx="4206240" cy="3566160"/>
          </a:xfrm>
          <a:prstGeom prst="rect">
            <a:avLst/>
          </a:prstGeom>
          <a:noFill/>
          <a:ln/>
        </p:spPr>
        <p:txBody>
          <a:bodyPr wrap="square" lIns="0" tIns="0" rIns="0" bIns="0" rtlCol="0" anchor="t"/>
          <a:lstStyle/>
          <a:p>
            <a:pPr marL="0" indent="0">
              <a:spcAft>
                <a:spcPts val="600"/>
              </a:spcAft>
              <a:buNone/>
            </a:pPr>
            <a:r>
              <a:rPr lang="en-US" sz="1300" b="1" dirty="0">
                <a:solidFill>
                  <a:srgbClr val="FFFFFF"/>
                </a:solidFill>
                <a:latin typeface="Consolas" pitchFamily="34" charset="0"/>
                <a:ea typeface="Consolas" pitchFamily="34" charset="-122"/>
                <a:cs typeface="Consolas" pitchFamily="34" charset="-120"/>
              </a:rPr>
              <a:t>journeys/eu-live-animals/</a:t>
            </a:r>
            <a:endParaRPr lang="en-US" sz="1300" dirty="0"/>
          </a:p>
          <a:p>
            <a:pPr marL="0" indent="0">
              <a:spcAft>
                <a:spcPts val="600"/>
              </a:spcAft>
              <a:buNone/>
            </a:pPr>
            <a:endParaRPr lang="en-US" sz="1300" dirty="0"/>
          </a:p>
          <a:p>
            <a:pPr marL="0" indent="0">
              <a:spcAft>
                <a:spcPts val="600"/>
              </a:spcAft>
              <a:buNone/>
            </a:pPr>
            <a:r>
              <a:rPr lang="en-US" sz="1300" dirty="0">
                <a:solidFill>
                  <a:srgbClr val="FFFFFF"/>
                </a:solidFill>
                <a:latin typeface="Consolas" pitchFamily="34" charset="0"/>
                <a:ea typeface="Consolas" pitchFamily="34" charset="-122"/>
                <a:cs typeface="Consolas" pitchFamily="34" charset="-120"/>
              </a:rPr>
              <a:t xml:space="preserve">  journey.json      </a:t>
            </a:r>
            <a:r>
              <a:rPr lang="en-US" sz="1300" i="1" dirty="0">
                <a:solidFill>
                  <a:srgbClr val="97BC62"/>
                </a:solidFill>
                <a:latin typeface="Consolas" pitchFamily="34" charset="0"/>
                <a:ea typeface="Consolas" pitchFamily="34" charset="-122"/>
                <a:cs typeface="Consolas" pitchFamily="34" charset="-120"/>
              </a:rPr>
              <a:t>the page tree</a:t>
            </a:r>
            <a:endParaRPr lang="en-US" sz="1300" dirty="0"/>
          </a:p>
          <a:p>
            <a:pPr marL="0" indent="0">
              <a:spcAft>
                <a:spcPts val="600"/>
              </a:spcAft>
              <a:buNone/>
            </a:pPr>
            <a:r>
              <a:rPr lang="en-US" sz="1300" dirty="0">
                <a:solidFill>
                  <a:srgbClr val="FFFFFF"/>
                </a:solidFill>
                <a:latin typeface="Consolas" pitchFamily="34" charset="0"/>
                <a:ea typeface="Consolas" pitchFamily="34" charset="-122"/>
                <a:cs typeface="Consolas" pitchFamily="34" charset="-120"/>
              </a:rPr>
              <a:t xml:space="preserve">  refdata.json      </a:t>
            </a:r>
            <a:r>
              <a:rPr lang="en-US" sz="1300" i="1" dirty="0">
                <a:solidFill>
                  <a:srgbClr val="97BC62"/>
                </a:solidFill>
                <a:latin typeface="Consolas" pitchFamily="34" charset="0"/>
                <a:ea typeface="Consolas" pitchFamily="34" charset="-122"/>
                <a:cs typeface="Consolas" pitchFamily="34" charset="-120"/>
              </a:rPr>
              <a:t>lookup tables</a:t>
            </a:r>
            <a:endParaRPr lang="en-US" sz="1300" dirty="0"/>
          </a:p>
          <a:p>
            <a:pPr marL="0" indent="0">
              <a:spcAft>
                <a:spcPts val="600"/>
              </a:spcAft>
              <a:buNone/>
            </a:pPr>
            <a:endParaRPr lang="en-US" sz="1300" dirty="0"/>
          </a:p>
          <a:p>
            <a:pPr marL="0" indent="0">
              <a:spcAft>
                <a:spcPts val="600"/>
              </a:spcAft>
              <a:buNone/>
            </a:pPr>
            <a:r>
              <a:rPr lang="en-US" sz="1300" dirty="0">
                <a:solidFill>
                  <a:srgbClr val="B1B4B6"/>
                </a:solidFill>
                <a:latin typeface="Consolas" pitchFamily="34" charset="0"/>
                <a:ea typeface="Consolas" pitchFamily="34" charset="-122"/>
                <a:cs typeface="Consolas" pitchFamily="34" charset="-120"/>
              </a:rPr>
              <a:t xml:space="preserve">  obligations.json  </a:t>
            </a:r>
            <a:r>
              <a:rPr lang="en-US" sz="1300" i="1" dirty="0">
                <a:solidFill>
                  <a:srgbClr val="B1B4B6"/>
                </a:solidFill>
                <a:latin typeface="Consolas" pitchFamily="34" charset="0"/>
                <a:ea typeface="Consolas" pitchFamily="34" charset="-122"/>
                <a:cs typeface="Consolas" pitchFamily="34" charset="-120"/>
              </a:rPr>
              <a:t>requirements - Section B</a:t>
            </a:r>
            <a:endParaRPr lang="en-US" sz="1300" dirty="0"/>
          </a:p>
          <a:p>
            <a:pPr marL="0" indent="0">
              <a:spcAft>
                <a:spcPts val="600"/>
              </a:spcAft>
              <a:buNone/>
            </a:pPr>
            <a:r>
              <a:rPr lang="en-US" sz="1300" dirty="0">
                <a:solidFill>
                  <a:srgbClr val="B1B4B6"/>
                </a:solidFill>
                <a:latin typeface="Consolas" pitchFamily="34" charset="0"/>
                <a:ea typeface="Consolas" pitchFamily="34" charset="-122"/>
                <a:cs typeface="Consolas" pitchFamily="34" charset="-120"/>
              </a:rPr>
              <a:t xml:space="preserve">  resolvers.js      </a:t>
            </a:r>
            <a:r>
              <a:rPr lang="en-US" sz="1300" i="1" dirty="0">
                <a:solidFill>
                  <a:srgbClr val="B1B4B6"/>
                </a:solidFill>
                <a:latin typeface="Consolas" pitchFamily="34" charset="0"/>
                <a:ea typeface="Consolas" pitchFamily="34" charset="-122"/>
                <a:cs typeface="Consolas" pitchFamily="34" charset="-120"/>
              </a:rPr>
              <a:t>facts + tests - Section B</a:t>
            </a:r>
            <a:endParaRPr lang="en-US" sz="1300" dirty="0"/>
          </a:p>
          <a:p>
            <a:pPr marL="0" indent="0">
              <a:spcAft>
                <a:spcPts val="600"/>
              </a:spcAft>
              <a:buNone/>
            </a:pPr>
            <a:r>
              <a:rPr lang="en-US" sz="1300" dirty="0">
                <a:solidFill>
                  <a:srgbClr val="B1B4B6"/>
                </a:solidFill>
                <a:latin typeface="Consolas" pitchFamily="34" charset="0"/>
                <a:ea typeface="Consolas" pitchFamily="34" charset="-122"/>
                <a:cs typeface="Consolas" pitchFamily="34" charset="-120"/>
              </a:rPr>
              <a:t xml:space="preserve">  index.js          </a:t>
            </a:r>
            <a:r>
              <a:rPr lang="en-US" sz="1300" i="1" dirty="0">
                <a:solidFill>
                  <a:srgbClr val="B1B4B6"/>
                </a:solidFill>
                <a:latin typeface="Consolas" pitchFamily="34" charset="0"/>
                <a:ea typeface="Consolas" pitchFamily="34" charset="-122"/>
                <a:cs typeface="Consolas" pitchFamily="34" charset="-120"/>
              </a:rPr>
              <a:t>assembles the adapter</a:t>
            </a:r>
            <a:endParaRPr lang="en-US" sz="1300" dirty="0"/>
          </a:p>
        </p:txBody>
      </p:sp>
      <p:sp>
        <p:nvSpPr>
          <p:cNvPr id="6" name="Shape 4"/>
          <p:cNvSpPr/>
          <p:nvPr/>
        </p:nvSpPr>
        <p:spPr>
          <a:xfrm>
            <a:off x="5440680" y="1325880"/>
            <a:ext cx="6172200" cy="1188720"/>
          </a:xfrm>
          <a:prstGeom prst="rect">
            <a:avLst/>
          </a:prstGeom>
          <a:solidFill>
            <a:srgbClr val="F3F2F1"/>
          </a:solidFill>
          <a:ln/>
        </p:spPr>
        <p:txBody>
          <a:bodyPr/>
          <a:lstStyle/>
          <a:p>
            <a:endParaRPr lang="en-US"/>
          </a:p>
        </p:txBody>
      </p:sp>
      <p:sp>
        <p:nvSpPr>
          <p:cNvPr id="7" name="Shape 5"/>
          <p:cNvSpPr/>
          <p:nvPr/>
        </p:nvSpPr>
        <p:spPr>
          <a:xfrm>
            <a:off x="5440680" y="1325880"/>
            <a:ext cx="73152" cy="1188720"/>
          </a:xfrm>
          <a:prstGeom prst="rect">
            <a:avLst/>
          </a:prstGeom>
          <a:solidFill>
            <a:srgbClr val="1D70B8"/>
          </a:solidFill>
          <a:ln/>
        </p:spPr>
        <p:txBody>
          <a:bodyPr/>
          <a:lstStyle/>
          <a:p>
            <a:endParaRPr lang="en-US"/>
          </a:p>
        </p:txBody>
      </p:sp>
      <p:sp>
        <p:nvSpPr>
          <p:cNvPr id="8" name="Text 6"/>
          <p:cNvSpPr/>
          <p:nvPr/>
        </p:nvSpPr>
        <p:spPr>
          <a:xfrm>
            <a:off x="5669280" y="1444752"/>
            <a:ext cx="5760720" cy="292608"/>
          </a:xfrm>
          <a:prstGeom prst="rect">
            <a:avLst/>
          </a:prstGeom>
          <a:noFill/>
          <a:ln/>
        </p:spPr>
        <p:txBody>
          <a:bodyPr wrap="square" lIns="0" tIns="0" rIns="0" bIns="0" rtlCol="0" anchor="ctr"/>
          <a:lstStyle/>
          <a:p>
            <a:pPr marL="0" indent="0">
              <a:buNone/>
            </a:pPr>
            <a:r>
              <a:rPr lang="en-US" sz="1400" b="1" dirty="0">
                <a:solidFill>
                  <a:srgbClr val="0B0C0C"/>
                </a:solidFill>
                <a:latin typeface="Trebuchet MS" pitchFamily="34" charset="0"/>
                <a:ea typeface="Trebuchet MS" pitchFamily="34" charset="-122"/>
                <a:cs typeface="Trebuchet MS" pitchFamily="34" charset="-120"/>
              </a:rPr>
              <a:t>journey.json - the page tree</a:t>
            </a:r>
            <a:endParaRPr lang="en-US" sz="1400" dirty="0"/>
          </a:p>
        </p:txBody>
      </p:sp>
      <p:sp>
        <p:nvSpPr>
          <p:cNvPr id="9" name="Text 7"/>
          <p:cNvSpPr/>
          <p:nvPr/>
        </p:nvSpPr>
        <p:spPr>
          <a:xfrm>
            <a:off x="5669280" y="1755648"/>
            <a:ext cx="5760720" cy="685800"/>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Sections contain screens; screens contain fields. The tree carries no logic: reading it tells you what is on which screen, nothing about whether anything is required or conditional.</a:t>
            </a:r>
            <a:endParaRPr lang="en-US" sz="1250" dirty="0"/>
          </a:p>
        </p:txBody>
      </p:sp>
      <p:sp>
        <p:nvSpPr>
          <p:cNvPr id="10" name="Shape 8"/>
          <p:cNvSpPr/>
          <p:nvPr/>
        </p:nvSpPr>
        <p:spPr>
          <a:xfrm>
            <a:off x="5440680" y="2788920"/>
            <a:ext cx="6172200" cy="1143000"/>
          </a:xfrm>
          <a:prstGeom prst="rect">
            <a:avLst/>
          </a:prstGeom>
          <a:solidFill>
            <a:srgbClr val="F3F2F1"/>
          </a:solidFill>
          <a:ln/>
        </p:spPr>
        <p:txBody>
          <a:bodyPr/>
          <a:lstStyle/>
          <a:p>
            <a:endParaRPr lang="en-US"/>
          </a:p>
        </p:txBody>
      </p:sp>
      <p:sp>
        <p:nvSpPr>
          <p:cNvPr id="11" name="Shape 9"/>
          <p:cNvSpPr/>
          <p:nvPr/>
        </p:nvSpPr>
        <p:spPr>
          <a:xfrm>
            <a:off x="5440680" y="2788920"/>
            <a:ext cx="73152" cy="1143000"/>
          </a:xfrm>
          <a:prstGeom prst="rect">
            <a:avLst/>
          </a:prstGeom>
          <a:solidFill>
            <a:srgbClr val="1D70B8"/>
          </a:solidFill>
          <a:ln/>
        </p:spPr>
        <p:txBody>
          <a:bodyPr/>
          <a:lstStyle/>
          <a:p>
            <a:endParaRPr lang="en-US"/>
          </a:p>
        </p:txBody>
      </p:sp>
      <p:sp>
        <p:nvSpPr>
          <p:cNvPr id="12" name="Text 10"/>
          <p:cNvSpPr/>
          <p:nvPr/>
        </p:nvSpPr>
        <p:spPr>
          <a:xfrm>
            <a:off x="5669280" y="2907792"/>
            <a:ext cx="5760720" cy="292608"/>
          </a:xfrm>
          <a:prstGeom prst="rect">
            <a:avLst/>
          </a:prstGeom>
          <a:noFill/>
          <a:ln/>
        </p:spPr>
        <p:txBody>
          <a:bodyPr wrap="square" lIns="0" tIns="0" rIns="0" bIns="0" rtlCol="0" anchor="ctr"/>
          <a:lstStyle/>
          <a:p>
            <a:pPr marL="0" indent="0">
              <a:buNone/>
            </a:pPr>
            <a:r>
              <a:rPr lang="en-US" sz="1400" b="1" dirty="0">
                <a:solidFill>
                  <a:srgbClr val="0B0C0C"/>
                </a:solidFill>
                <a:latin typeface="Trebuchet MS" pitchFamily="34" charset="0"/>
                <a:ea typeface="Trebuchet MS" pitchFamily="34" charset="-122"/>
                <a:cs typeface="Trebuchet MS" pitchFamily="34" charset="-120"/>
              </a:rPr>
              <a:t>refdata.json - animals</a:t>
            </a:r>
            <a:endParaRPr lang="en-US" sz="1400" dirty="0"/>
          </a:p>
        </p:txBody>
      </p:sp>
      <p:sp>
        <p:nvSpPr>
          <p:cNvPr id="13" name="Text 11"/>
          <p:cNvSpPr/>
          <p:nvPr/>
        </p:nvSpPr>
        <p:spPr>
          <a:xfrm>
            <a:off x="5669280" y="3218688"/>
            <a:ext cx="5760720" cy="676656"/>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A routing table of a few hundred entries keyed by commodity|species, with a commodity-only fallback. Each entry holds the flags that drive conditional obligations: cph_number, permanent_address, transporter_address.</a:t>
            </a:r>
            <a:endParaRPr lang="en-US" sz="1250" dirty="0"/>
          </a:p>
        </p:txBody>
      </p:sp>
      <p:sp>
        <p:nvSpPr>
          <p:cNvPr id="14" name="Shape 12"/>
          <p:cNvSpPr/>
          <p:nvPr/>
        </p:nvSpPr>
        <p:spPr>
          <a:xfrm>
            <a:off x="5440680" y="4206240"/>
            <a:ext cx="6172200" cy="1143000"/>
          </a:xfrm>
          <a:prstGeom prst="rect">
            <a:avLst/>
          </a:prstGeom>
          <a:solidFill>
            <a:srgbClr val="F3F2F1"/>
          </a:solidFill>
          <a:ln/>
        </p:spPr>
        <p:txBody>
          <a:bodyPr/>
          <a:lstStyle/>
          <a:p>
            <a:endParaRPr lang="en-US"/>
          </a:p>
        </p:txBody>
      </p:sp>
      <p:sp>
        <p:nvSpPr>
          <p:cNvPr id="15" name="Shape 13"/>
          <p:cNvSpPr/>
          <p:nvPr/>
        </p:nvSpPr>
        <p:spPr>
          <a:xfrm>
            <a:off x="5440680" y="4206240"/>
            <a:ext cx="73152" cy="1143000"/>
          </a:xfrm>
          <a:prstGeom prst="rect">
            <a:avLst/>
          </a:prstGeom>
          <a:solidFill>
            <a:srgbClr val="1D70B8"/>
          </a:solidFill>
          <a:ln/>
        </p:spPr>
        <p:txBody>
          <a:bodyPr/>
          <a:lstStyle/>
          <a:p>
            <a:endParaRPr lang="en-US"/>
          </a:p>
        </p:txBody>
      </p:sp>
      <p:sp>
        <p:nvSpPr>
          <p:cNvPr id="16" name="Text 14"/>
          <p:cNvSpPr/>
          <p:nvPr/>
        </p:nvSpPr>
        <p:spPr>
          <a:xfrm>
            <a:off x="5669280" y="4325112"/>
            <a:ext cx="5760720" cy="292608"/>
          </a:xfrm>
          <a:prstGeom prst="rect">
            <a:avLst/>
          </a:prstGeom>
          <a:noFill/>
          <a:ln/>
        </p:spPr>
        <p:txBody>
          <a:bodyPr wrap="square" lIns="0" tIns="0" rIns="0" bIns="0" rtlCol="0" anchor="ctr"/>
          <a:lstStyle/>
          <a:p>
            <a:pPr marL="0" indent="0">
              <a:buNone/>
            </a:pPr>
            <a:r>
              <a:rPr lang="en-US" sz="1400" b="1" dirty="0">
                <a:solidFill>
                  <a:srgbClr val="0B0C0C"/>
                </a:solidFill>
                <a:latin typeface="Trebuchet MS" pitchFamily="34" charset="0"/>
                <a:ea typeface="Trebuchet MS" pitchFamily="34" charset="-122"/>
                <a:cs typeface="Trebuchet MS" pitchFamily="34" charset="-120"/>
              </a:rPr>
              <a:t>refdata.json - plants</a:t>
            </a:r>
            <a:endParaRPr lang="en-US" sz="1400" dirty="0"/>
          </a:p>
        </p:txBody>
      </p:sp>
      <p:sp>
        <p:nvSpPr>
          <p:cNvPr id="17" name="Text 15"/>
          <p:cNvSpPr/>
          <p:nvPr/>
        </p:nvSpPr>
        <p:spPr>
          <a:xfrm>
            <a:off x="5669280" y="4636008"/>
            <a:ext cx="5760720" cy="676656"/>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521 commodity entries + 5,321 species entries, derived from ~486,000 (commodity, species) pairs in the upstream microservice. 98.9% of pairs carry no journey variance and are represented by absence: no species entry means PHSI-only.</a:t>
            </a:r>
            <a:endParaRPr lang="en-US" sz="1250" dirty="0"/>
          </a:p>
        </p:txBody>
      </p:sp>
      <p:sp>
        <p:nvSpPr>
          <p:cNvPr id="18" name="Shape 16"/>
          <p:cNvSpPr/>
          <p:nvPr/>
        </p:nvSpPr>
        <p:spPr>
          <a:xfrm>
            <a:off x="548640" y="5623560"/>
            <a:ext cx="11064240" cy="640080"/>
          </a:xfrm>
          <a:prstGeom prst="rect">
            <a:avLst/>
          </a:prstGeom>
          <a:solidFill>
            <a:srgbClr val="0B0C0C"/>
          </a:solidFill>
          <a:ln/>
        </p:spPr>
        <p:txBody>
          <a:bodyPr/>
          <a:lstStyle/>
          <a:p>
            <a:endParaRPr lang="en-US"/>
          </a:p>
        </p:txBody>
      </p:sp>
      <p:sp>
        <p:nvSpPr>
          <p:cNvPr id="19" name="Text 17"/>
          <p:cNvSpPr/>
          <p:nvPr/>
        </p:nvSpPr>
        <p:spPr>
          <a:xfrm>
            <a:off x="777240" y="5623560"/>
            <a:ext cx="10607040" cy="64008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Refdata is journey-private. The engine passes it to the journey's own tests and does nothing else with it - two journeys cannot couple through shared reference data.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02920"/>
          </a:xfrm>
          <a:prstGeom prst="rect">
            <a:avLst/>
          </a:prstGeom>
          <a:noFill/>
          <a:ln/>
        </p:spPr>
        <p:txBody>
          <a:bodyPr wrap="square" lIns="0" tIns="0" rIns="0" bIns="0" rtlCol="0" anchor="ctr"/>
          <a:lstStyle/>
          <a:p>
            <a:pPr marL="0" indent="0">
              <a:buNone/>
            </a:pPr>
            <a:r>
              <a:rPr lang="en-US" sz="2800" b="1" dirty="0">
                <a:solidFill>
                  <a:srgbClr val="0B0C0C"/>
                </a:solidFill>
                <a:latin typeface="Trebuchet MS" pitchFamily="34" charset="0"/>
                <a:ea typeface="Trebuchet MS" pitchFamily="34" charset="-122"/>
                <a:cs typeface="Trebuchet MS" pitchFamily="34" charset="-120"/>
              </a:rPr>
              <a:t>The configuration API</a:t>
            </a:r>
            <a:endParaRPr lang="en-US" sz="2800" dirty="0"/>
          </a:p>
        </p:txBody>
      </p:sp>
      <p:sp>
        <p:nvSpPr>
          <p:cNvPr id="3" name="Text 1"/>
          <p:cNvSpPr/>
          <p:nvPr/>
        </p:nvSpPr>
        <p:spPr>
          <a:xfrm>
            <a:off x="548640" y="804672"/>
            <a:ext cx="11064240" cy="320040"/>
          </a:xfrm>
          <a:prstGeom prst="rect">
            <a:avLst/>
          </a:prstGeom>
          <a:noFill/>
          <a:ln/>
        </p:spPr>
        <p:txBody>
          <a:bodyPr wrap="square" lIns="0" tIns="0" rIns="0" bIns="0" rtlCol="0" anchor="ctr"/>
          <a:lstStyle/>
          <a:p>
            <a:pPr marL="0" indent="0">
              <a:buNone/>
            </a:pPr>
            <a:r>
              <a:rPr lang="en-US" sz="1400" dirty="0">
                <a:solidFill>
                  <a:srgbClr val="505A5F"/>
                </a:solidFill>
                <a:latin typeface="Calibri" pitchFamily="34" charset="0"/>
                <a:ea typeface="Calibri" pitchFamily="34" charset="-122"/>
                <a:cs typeface="Calibri" pitchFamily="34" charset="-120"/>
              </a:rPr>
              <a:t>/api/config/* answers “what is the journey?” - documented in OpenAPI, served via Swagger UI, importable into Postman.</a:t>
            </a:r>
            <a:endParaRPr lang="en-US" sz="1400" dirty="0"/>
          </a:p>
        </p:txBody>
      </p:sp>
      <p:sp>
        <p:nvSpPr>
          <p:cNvPr id="4" name="Shape 2"/>
          <p:cNvSpPr/>
          <p:nvPr/>
        </p:nvSpPr>
        <p:spPr>
          <a:xfrm>
            <a:off x="548640" y="1325880"/>
            <a:ext cx="11064240" cy="658368"/>
          </a:xfrm>
          <a:prstGeom prst="rect">
            <a:avLst/>
          </a:prstGeom>
          <a:solidFill>
            <a:srgbClr val="F3F2F1"/>
          </a:solidFill>
          <a:ln/>
        </p:spPr>
        <p:txBody>
          <a:bodyPr/>
          <a:lstStyle/>
          <a:p>
            <a:endParaRPr lang="en-US"/>
          </a:p>
        </p:txBody>
      </p:sp>
      <p:sp>
        <p:nvSpPr>
          <p:cNvPr id="5" name="Text 3"/>
          <p:cNvSpPr/>
          <p:nvPr/>
        </p:nvSpPr>
        <p:spPr>
          <a:xfrm>
            <a:off x="777240" y="1362456"/>
            <a:ext cx="5577840" cy="585216"/>
          </a:xfrm>
          <a:prstGeom prst="rect">
            <a:avLst/>
          </a:prstGeom>
          <a:noFill/>
          <a:ln/>
        </p:spPr>
        <p:txBody>
          <a:bodyPr wrap="square" lIns="0" tIns="0" rIns="0" bIns="0" rtlCol="0" anchor="ctr"/>
          <a:lstStyle/>
          <a:p>
            <a:pPr marL="0" indent="0">
              <a:buNone/>
            </a:pPr>
            <a:r>
              <a:rPr lang="en-US" sz="1350" b="1" dirty="0">
                <a:solidFill>
                  <a:srgbClr val="003078"/>
                </a:solidFill>
                <a:latin typeface="Consolas" pitchFamily="34" charset="0"/>
                <a:ea typeface="Consolas" pitchFamily="34" charset="-122"/>
                <a:cs typeface="Consolas" pitchFamily="34" charset="-120"/>
              </a:rPr>
              <a:t>GET /api/config/journeys</a:t>
            </a:r>
            <a:endParaRPr lang="en-US" sz="1350" dirty="0"/>
          </a:p>
        </p:txBody>
      </p:sp>
      <p:sp>
        <p:nvSpPr>
          <p:cNvPr id="6" name="Text 4"/>
          <p:cNvSpPr/>
          <p:nvPr/>
        </p:nvSpPr>
        <p:spPr>
          <a:xfrm>
            <a:off x="6492240" y="1362456"/>
            <a:ext cx="4937760" cy="585216"/>
          </a:xfrm>
          <a:prstGeom prst="rect">
            <a:avLst/>
          </a:prstGeom>
          <a:noFill/>
          <a:ln/>
        </p:spPr>
        <p:txBody>
          <a:bodyPr wrap="square" lIns="0" tIns="0" rIns="0" bIns="0" rtlCol="0" anchor="ctr"/>
          <a:lstStyle/>
          <a:p>
            <a:pPr marL="0" indent="0">
              <a:buNone/>
            </a:pPr>
            <a:r>
              <a:rPr lang="en-US" sz="1250" dirty="0">
                <a:solidFill>
                  <a:srgbClr val="0B0C0C"/>
                </a:solidFill>
                <a:latin typeface="Calibri" pitchFamily="34" charset="0"/>
                <a:ea typeface="Calibri" pitchFamily="34" charset="-122"/>
                <a:cs typeface="Calibri" pitchFamily="34" charset="-120"/>
              </a:rPr>
              <a:t>Lists the journeys the service hosts.</a:t>
            </a:r>
            <a:endParaRPr lang="en-US" sz="1250" dirty="0"/>
          </a:p>
        </p:txBody>
      </p:sp>
      <p:sp>
        <p:nvSpPr>
          <p:cNvPr id="7" name="Shape 5"/>
          <p:cNvSpPr/>
          <p:nvPr/>
        </p:nvSpPr>
        <p:spPr>
          <a:xfrm>
            <a:off x="548640" y="2258568"/>
            <a:ext cx="11064240" cy="658368"/>
          </a:xfrm>
          <a:prstGeom prst="rect">
            <a:avLst/>
          </a:prstGeom>
          <a:solidFill>
            <a:srgbClr val="F3F2F1"/>
          </a:solidFill>
          <a:ln/>
        </p:spPr>
        <p:txBody>
          <a:bodyPr/>
          <a:lstStyle/>
          <a:p>
            <a:endParaRPr lang="en-US"/>
          </a:p>
        </p:txBody>
      </p:sp>
      <p:sp>
        <p:nvSpPr>
          <p:cNvPr id="8" name="Text 6"/>
          <p:cNvSpPr/>
          <p:nvPr/>
        </p:nvSpPr>
        <p:spPr>
          <a:xfrm>
            <a:off x="777240" y="2295144"/>
            <a:ext cx="5577840" cy="585216"/>
          </a:xfrm>
          <a:prstGeom prst="rect">
            <a:avLst/>
          </a:prstGeom>
          <a:noFill/>
          <a:ln/>
        </p:spPr>
        <p:txBody>
          <a:bodyPr wrap="square" lIns="0" tIns="0" rIns="0" bIns="0" rtlCol="0" anchor="ctr"/>
          <a:lstStyle/>
          <a:p>
            <a:pPr marL="0" indent="0">
              <a:buNone/>
            </a:pPr>
            <a:r>
              <a:rPr lang="en-US" sz="1350" b="1" dirty="0">
                <a:solidFill>
                  <a:srgbClr val="003078"/>
                </a:solidFill>
                <a:latin typeface="Consolas" pitchFamily="34" charset="0"/>
                <a:ea typeface="Consolas" pitchFamily="34" charset="-122"/>
                <a:cs typeface="Consolas" pitchFamily="34" charset="-120"/>
              </a:rPr>
              <a:t>GET /api/config/journeys/{key}/commodities/{code}</a:t>
            </a:r>
            <a:endParaRPr lang="en-US" sz="1350" dirty="0"/>
          </a:p>
        </p:txBody>
      </p:sp>
      <p:sp>
        <p:nvSpPr>
          <p:cNvPr id="9" name="Text 7"/>
          <p:cNvSpPr/>
          <p:nvPr/>
        </p:nvSpPr>
        <p:spPr>
          <a:xfrm>
            <a:off x="6492240" y="2295144"/>
            <a:ext cx="4937760" cy="585216"/>
          </a:xfrm>
          <a:prstGeom prst="rect">
            <a:avLst/>
          </a:prstGeom>
          <a:noFill/>
          <a:ln/>
        </p:spPr>
        <p:txBody>
          <a:bodyPr wrap="square" lIns="0" tIns="0" rIns="0" bIns="0" rtlCol="0" anchor="ctr"/>
          <a:lstStyle/>
          <a:p>
            <a:pPr marL="0" indent="0">
              <a:buNone/>
            </a:pPr>
            <a:r>
              <a:rPr lang="en-US" sz="1250" dirty="0">
                <a:solidFill>
                  <a:srgbClr val="0B0C0C"/>
                </a:solidFill>
                <a:latin typeface="Calibri" pitchFamily="34" charset="0"/>
                <a:ea typeface="Calibri" pitchFamily="34" charset="-122"/>
                <a:cs typeface="Calibri" pitchFamily="34" charset="-120"/>
              </a:rPr>
              <a:t>What selecting a commodity unlocks: routing flags, regulatory authority, marketing standard.</a:t>
            </a:r>
            <a:endParaRPr lang="en-US" sz="1250" dirty="0"/>
          </a:p>
        </p:txBody>
      </p:sp>
      <p:sp>
        <p:nvSpPr>
          <p:cNvPr id="10" name="Shape 8"/>
          <p:cNvSpPr/>
          <p:nvPr/>
        </p:nvSpPr>
        <p:spPr>
          <a:xfrm>
            <a:off x="548640" y="3191256"/>
            <a:ext cx="11064240" cy="658368"/>
          </a:xfrm>
          <a:prstGeom prst="rect">
            <a:avLst/>
          </a:prstGeom>
          <a:solidFill>
            <a:srgbClr val="F3F2F1"/>
          </a:solidFill>
          <a:ln/>
        </p:spPr>
        <p:txBody>
          <a:bodyPr/>
          <a:lstStyle/>
          <a:p>
            <a:endParaRPr lang="en-US"/>
          </a:p>
        </p:txBody>
      </p:sp>
      <p:sp>
        <p:nvSpPr>
          <p:cNvPr id="11" name="Text 9"/>
          <p:cNvSpPr/>
          <p:nvPr/>
        </p:nvSpPr>
        <p:spPr>
          <a:xfrm>
            <a:off x="777240" y="3227832"/>
            <a:ext cx="5577840" cy="585216"/>
          </a:xfrm>
          <a:prstGeom prst="rect">
            <a:avLst/>
          </a:prstGeom>
          <a:noFill/>
          <a:ln/>
        </p:spPr>
        <p:txBody>
          <a:bodyPr wrap="square" lIns="0" tIns="0" rIns="0" bIns="0" rtlCol="0" anchor="ctr"/>
          <a:lstStyle/>
          <a:p>
            <a:pPr marL="0" indent="0">
              <a:buNone/>
            </a:pPr>
            <a:r>
              <a:rPr lang="en-US" sz="1350" b="1" dirty="0">
                <a:solidFill>
                  <a:srgbClr val="003078"/>
                </a:solidFill>
                <a:latin typeface="Consolas" pitchFamily="34" charset="0"/>
                <a:ea typeface="Consolas" pitchFamily="34" charset="-122"/>
                <a:cs typeface="Consolas" pitchFamily="34" charset="-120"/>
              </a:rPr>
              <a:t>GET .../commodities/{code}/page-variance</a:t>
            </a:r>
            <a:endParaRPr lang="en-US" sz="1350" dirty="0"/>
          </a:p>
        </p:txBody>
      </p:sp>
      <p:sp>
        <p:nvSpPr>
          <p:cNvPr id="12" name="Text 10"/>
          <p:cNvSpPr/>
          <p:nvPr/>
        </p:nvSpPr>
        <p:spPr>
          <a:xfrm>
            <a:off x="6492240" y="3227832"/>
            <a:ext cx="4937760" cy="585216"/>
          </a:xfrm>
          <a:prstGeom prst="rect">
            <a:avLst/>
          </a:prstGeom>
          <a:noFill/>
          <a:ln/>
        </p:spPr>
        <p:txBody>
          <a:bodyPr wrap="square" lIns="0" tIns="0" rIns="0" bIns="0" rtlCol="0" anchor="ctr"/>
          <a:lstStyle/>
          <a:p>
            <a:pPr marL="0" indent="0">
              <a:buNone/>
            </a:pPr>
            <a:r>
              <a:rPr lang="en-US" sz="1250" dirty="0">
                <a:solidFill>
                  <a:srgbClr val="0B0C0C"/>
                </a:solidFill>
                <a:latin typeface="Calibri" pitchFamily="34" charset="0"/>
                <a:ea typeface="Calibri" pitchFamily="34" charset="-122"/>
                <a:cs typeface="Calibri" pitchFamily="34" charset="-120"/>
              </a:rPr>
              <a:t>Which pages apply for this commodity - the page-variance question answered directly.</a:t>
            </a:r>
            <a:endParaRPr lang="en-US" sz="1250" dirty="0"/>
          </a:p>
        </p:txBody>
      </p:sp>
      <p:sp>
        <p:nvSpPr>
          <p:cNvPr id="13" name="Shape 11"/>
          <p:cNvSpPr/>
          <p:nvPr/>
        </p:nvSpPr>
        <p:spPr>
          <a:xfrm>
            <a:off x="548640" y="4114800"/>
            <a:ext cx="11064240" cy="1234440"/>
          </a:xfrm>
          <a:prstGeom prst="rect">
            <a:avLst/>
          </a:prstGeom>
          <a:solidFill>
            <a:srgbClr val="F3F2F1"/>
          </a:solidFill>
          <a:ln/>
        </p:spPr>
        <p:txBody>
          <a:bodyPr/>
          <a:lstStyle/>
          <a:p>
            <a:endParaRPr lang="en-US"/>
          </a:p>
        </p:txBody>
      </p:sp>
      <p:sp>
        <p:nvSpPr>
          <p:cNvPr id="14" name="Shape 12"/>
          <p:cNvSpPr/>
          <p:nvPr/>
        </p:nvSpPr>
        <p:spPr>
          <a:xfrm>
            <a:off x="548640" y="4114800"/>
            <a:ext cx="73152" cy="1234440"/>
          </a:xfrm>
          <a:prstGeom prst="rect">
            <a:avLst/>
          </a:prstGeom>
          <a:solidFill>
            <a:srgbClr val="D4351C"/>
          </a:solidFill>
          <a:ln/>
        </p:spPr>
        <p:txBody>
          <a:bodyPr/>
          <a:lstStyle/>
          <a:p>
            <a:endParaRPr lang="en-US"/>
          </a:p>
        </p:txBody>
      </p:sp>
      <p:sp>
        <p:nvSpPr>
          <p:cNvPr id="15" name="Text 13"/>
          <p:cNvSpPr/>
          <p:nvPr/>
        </p:nvSpPr>
        <p:spPr>
          <a:xfrm>
            <a:off x="777240" y="4114800"/>
            <a:ext cx="10607040" cy="1234440"/>
          </a:xfrm>
          <a:prstGeom prst="rect">
            <a:avLst/>
          </a:prstGeom>
          <a:noFill/>
          <a:ln/>
        </p:spPr>
        <p:txBody>
          <a:bodyPr wrap="square" lIns="0" tIns="0" rIns="0" bIns="0" rtlCol="0" anchor="ctr"/>
          <a:lstStyle/>
          <a:p>
            <a:pPr marL="0" indent="0">
              <a:buNone/>
            </a:pPr>
            <a:r>
              <a:rPr lang="en-US" sz="1350" b="1" dirty="0">
                <a:solidFill>
                  <a:srgbClr val="0B0C0C"/>
                </a:solidFill>
                <a:latin typeface="Calibri" pitchFamily="34" charset="0"/>
                <a:ea typeface="Calibri" pitchFamily="34" charset="-122"/>
                <a:cs typeface="Calibri" pitchFamily="34" charset="-120"/>
              </a:rPr>
              <a:t xml:space="preserve">The contrast with field config. </a:t>
            </a:r>
            <a:r>
              <a:rPr lang="en-US" sz="1350" dirty="0">
                <a:solidFill>
                  <a:srgbClr val="0B0C0C"/>
                </a:solidFill>
                <a:latin typeface="Calibri" pitchFamily="34" charset="0"/>
                <a:ea typeface="Calibri" pitchFamily="34" charset="-122"/>
                <a:cs typeface="Calibri" pitchFamily="34" charset="-120"/>
              </a:rPr>
              <a:t>Field config returned the whole blob for any question - up to 200 KB to answer a single-value check. This surface answers the question asked: a commodity lookup returns that commodity's facts, a page-variance call returns page names. Responses are sized by the question, not by the storage format.</a:t>
            </a:r>
            <a:endParaRPr lang="en-US" sz="1350" dirty="0"/>
          </a:p>
        </p:txBody>
      </p:sp>
      <p:sp>
        <p:nvSpPr>
          <p:cNvPr id="16" name="Shape 14"/>
          <p:cNvSpPr/>
          <p:nvPr/>
        </p:nvSpPr>
        <p:spPr>
          <a:xfrm>
            <a:off x="548640" y="5623560"/>
            <a:ext cx="11064240" cy="640080"/>
          </a:xfrm>
          <a:prstGeom prst="rect">
            <a:avLst/>
          </a:prstGeom>
          <a:solidFill>
            <a:srgbClr val="0B0C0C"/>
          </a:solidFill>
          <a:ln/>
        </p:spPr>
        <p:txBody>
          <a:bodyPr/>
          <a:lstStyle/>
          <a:p>
            <a:endParaRPr lang="en-US"/>
          </a:p>
        </p:txBody>
      </p:sp>
      <p:sp>
        <p:nvSpPr>
          <p:cNvPr id="17" name="Text 15"/>
          <p:cNvSpPr/>
          <p:nvPr/>
        </p:nvSpPr>
        <p:spPr>
          <a:xfrm>
            <a:off x="777240" y="5623560"/>
            <a:ext cx="10607040" cy="64008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Section A conclusion: form structure and reference data live in one place per journey, served over a documented HTTP surface.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02920"/>
          </a:xfrm>
          <a:prstGeom prst="rect">
            <a:avLst/>
          </a:prstGeom>
          <a:noFill/>
          <a:ln/>
        </p:spPr>
        <p:txBody>
          <a:bodyPr wrap="square" lIns="0" tIns="0" rIns="0" bIns="0" rtlCol="0" anchor="ctr"/>
          <a:lstStyle/>
          <a:p>
            <a:pPr marL="0" indent="0">
              <a:buNone/>
            </a:pPr>
            <a:r>
              <a:rPr lang="en-US" sz="2800" b="1" dirty="0">
                <a:solidFill>
                  <a:srgbClr val="0B0C0C"/>
                </a:solidFill>
                <a:latin typeface="Trebuchet MS" pitchFamily="34" charset="0"/>
                <a:ea typeface="Trebuchet MS" pitchFamily="34" charset="-122"/>
                <a:cs typeface="Trebuchet MS" pitchFamily="34" charset="-120"/>
              </a:rPr>
              <a:t>The bigger idea: configuration you can execute</a:t>
            </a:r>
            <a:endParaRPr lang="en-US" sz="2800" dirty="0"/>
          </a:p>
        </p:txBody>
      </p:sp>
      <p:sp>
        <p:nvSpPr>
          <p:cNvPr id="3" name="Text 1"/>
          <p:cNvSpPr/>
          <p:nvPr/>
        </p:nvSpPr>
        <p:spPr>
          <a:xfrm>
            <a:off x="548640" y="804672"/>
            <a:ext cx="11064240" cy="320040"/>
          </a:xfrm>
          <a:prstGeom prst="rect">
            <a:avLst/>
          </a:prstGeom>
          <a:noFill/>
          <a:ln/>
        </p:spPr>
        <p:txBody>
          <a:bodyPr wrap="square" lIns="0" tIns="0" rIns="0" bIns="0" rtlCol="0" anchor="ctr"/>
          <a:lstStyle/>
          <a:p>
            <a:pPr marL="0" indent="0">
              <a:buNone/>
            </a:pPr>
            <a:r>
              <a:rPr lang="en-US" sz="1400" dirty="0">
                <a:solidFill>
                  <a:srgbClr val="505A5F"/>
                </a:solidFill>
                <a:latin typeface="Calibri" pitchFamily="34" charset="0"/>
                <a:ea typeface="Calibri" pitchFamily="34" charset="-122"/>
                <a:cs typeface="Calibri" pitchFamily="34" charset="-120"/>
              </a:rPr>
              <a:t>The configuration API serves the data. The question that follows: can the same configuration drive the journey itself?</a:t>
            </a:r>
            <a:endParaRPr lang="en-US" sz="1400" dirty="0"/>
          </a:p>
        </p:txBody>
      </p:sp>
      <p:sp>
        <p:nvSpPr>
          <p:cNvPr id="4" name="Shape 2"/>
          <p:cNvSpPr/>
          <p:nvPr/>
        </p:nvSpPr>
        <p:spPr>
          <a:xfrm>
            <a:off x="548640" y="1325880"/>
            <a:ext cx="2606040" cy="1325880"/>
          </a:xfrm>
          <a:prstGeom prst="rect">
            <a:avLst/>
          </a:prstGeom>
          <a:solidFill>
            <a:srgbClr val="F3F2F1"/>
          </a:solidFill>
          <a:ln/>
        </p:spPr>
        <p:txBody>
          <a:bodyPr/>
          <a:lstStyle/>
          <a:p>
            <a:endParaRPr lang="en-US"/>
          </a:p>
        </p:txBody>
      </p:sp>
      <p:sp>
        <p:nvSpPr>
          <p:cNvPr id="5" name="Shape 3"/>
          <p:cNvSpPr/>
          <p:nvPr/>
        </p:nvSpPr>
        <p:spPr>
          <a:xfrm>
            <a:off x="548640" y="1325880"/>
            <a:ext cx="2606040" cy="64008"/>
          </a:xfrm>
          <a:prstGeom prst="rect">
            <a:avLst/>
          </a:prstGeom>
          <a:solidFill>
            <a:srgbClr val="1D70B8"/>
          </a:solidFill>
          <a:ln/>
        </p:spPr>
        <p:txBody>
          <a:bodyPr/>
          <a:lstStyle/>
          <a:p>
            <a:endParaRPr lang="en-US"/>
          </a:p>
        </p:txBody>
      </p:sp>
      <p:sp>
        <p:nvSpPr>
          <p:cNvPr id="6" name="Text 4"/>
          <p:cNvSpPr/>
          <p:nvPr/>
        </p:nvSpPr>
        <p:spPr>
          <a:xfrm>
            <a:off x="713232" y="1463040"/>
            <a:ext cx="2286000" cy="502920"/>
          </a:xfrm>
          <a:prstGeom prst="rect">
            <a:avLst/>
          </a:prstGeom>
          <a:noFill/>
          <a:ln/>
        </p:spPr>
        <p:txBody>
          <a:bodyPr wrap="square" lIns="0" tIns="0" rIns="0" bIns="0" rtlCol="0" anchor="ctr"/>
          <a:lstStyle/>
          <a:p>
            <a:pPr marL="0" indent="0">
              <a:buNone/>
            </a:pPr>
            <a:r>
              <a:rPr lang="en-US" sz="1450" b="1" dirty="0">
                <a:solidFill>
                  <a:srgbClr val="0B0C0C"/>
                </a:solidFill>
                <a:latin typeface="Trebuchet MS" pitchFamily="34" charset="0"/>
                <a:ea typeface="Trebuchet MS" pitchFamily="34" charset="-122"/>
                <a:cs typeface="Trebuchet MS" pitchFamily="34" charset="-120"/>
              </a:rPr>
              <a:t>Journey configuration</a:t>
            </a:r>
            <a:endParaRPr lang="en-US" sz="1450" dirty="0"/>
          </a:p>
        </p:txBody>
      </p:sp>
      <p:sp>
        <p:nvSpPr>
          <p:cNvPr id="7" name="Text 5"/>
          <p:cNvSpPr/>
          <p:nvPr/>
        </p:nvSpPr>
        <p:spPr>
          <a:xfrm>
            <a:off x="713232" y="1947672"/>
            <a:ext cx="2286000" cy="65836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journey.json, obligations.json, refdata.json, resolvers.js - inter-related facts</a:t>
            </a:r>
            <a:endParaRPr lang="en-US" sz="1150" dirty="0"/>
          </a:p>
        </p:txBody>
      </p:sp>
      <p:sp>
        <p:nvSpPr>
          <p:cNvPr id="8" name="Text 6"/>
          <p:cNvSpPr/>
          <p:nvPr/>
        </p:nvSpPr>
        <p:spPr>
          <a:xfrm>
            <a:off x="3154680" y="1783080"/>
            <a:ext cx="301752" cy="411480"/>
          </a:xfrm>
          <a:prstGeom prst="rect">
            <a:avLst/>
          </a:prstGeom>
          <a:noFill/>
          <a:ln/>
        </p:spPr>
        <p:txBody>
          <a:bodyPr wrap="square" lIns="0" tIns="0" rIns="0" bIns="0" rtlCol="0" anchor="ctr"/>
          <a:lstStyle/>
          <a:p>
            <a:pPr marL="0" indent="0" algn="ctr">
              <a:buNone/>
            </a:pPr>
            <a:r>
              <a:rPr lang="en-US" sz="2000" b="1" dirty="0">
                <a:solidFill>
                  <a:srgbClr val="505A5F"/>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456432" y="1325880"/>
            <a:ext cx="2606040" cy="1325880"/>
          </a:xfrm>
          <a:prstGeom prst="rect">
            <a:avLst/>
          </a:prstGeom>
          <a:solidFill>
            <a:srgbClr val="F3F2F1"/>
          </a:solidFill>
          <a:ln/>
        </p:spPr>
        <p:txBody>
          <a:bodyPr/>
          <a:lstStyle/>
          <a:p>
            <a:endParaRPr lang="en-US"/>
          </a:p>
        </p:txBody>
      </p:sp>
      <p:sp>
        <p:nvSpPr>
          <p:cNvPr id="10" name="Shape 8"/>
          <p:cNvSpPr/>
          <p:nvPr/>
        </p:nvSpPr>
        <p:spPr>
          <a:xfrm>
            <a:off x="3456432" y="1325880"/>
            <a:ext cx="2606040" cy="64008"/>
          </a:xfrm>
          <a:prstGeom prst="rect">
            <a:avLst/>
          </a:prstGeom>
          <a:solidFill>
            <a:srgbClr val="1D70B8"/>
          </a:solidFill>
          <a:ln/>
        </p:spPr>
        <p:txBody>
          <a:bodyPr/>
          <a:lstStyle/>
          <a:p>
            <a:endParaRPr lang="en-US"/>
          </a:p>
        </p:txBody>
      </p:sp>
      <p:sp>
        <p:nvSpPr>
          <p:cNvPr id="11" name="Text 9"/>
          <p:cNvSpPr/>
          <p:nvPr/>
        </p:nvSpPr>
        <p:spPr>
          <a:xfrm>
            <a:off x="3621024" y="1463040"/>
            <a:ext cx="2286000" cy="502920"/>
          </a:xfrm>
          <a:prstGeom prst="rect">
            <a:avLst/>
          </a:prstGeom>
          <a:noFill/>
          <a:ln/>
        </p:spPr>
        <p:txBody>
          <a:bodyPr wrap="square" lIns="0" tIns="0" rIns="0" bIns="0" rtlCol="0" anchor="ctr"/>
          <a:lstStyle/>
          <a:p>
            <a:pPr marL="0" indent="0">
              <a:buNone/>
            </a:pPr>
            <a:r>
              <a:rPr lang="en-US" sz="1450" b="1" dirty="0">
                <a:solidFill>
                  <a:srgbClr val="0B0C0C"/>
                </a:solidFill>
                <a:latin typeface="Trebuchet MS" pitchFamily="34" charset="0"/>
                <a:ea typeface="Trebuchet MS" pitchFamily="34" charset="-122"/>
                <a:cs typeface="Trebuchet MS" pitchFamily="34" charset="-120"/>
              </a:rPr>
              <a:t>Obligation engine</a:t>
            </a:r>
            <a:endParaRPr lang="en-US" sz="1450" dirty="0"/>
          </a:p>
        </p:txBody>
      </p:sp>
      <p:sp>
        <p:nvSpPr>
          <p:cNvPr id="12" name="Text 10"/>
          <p:cNvSpPr/>
          <p:nvPr/>
        </p:nvSpPr>
        <p:spPr>
          <a:xfrm>
            <a:off x="3621024" y="1947672"/>
            <a:ext cx="2286000" cy="65836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A pure-function library that reasons over those facts</a:t>
            </a:r>
            <a:endParaRPr lang="en-US" sz="1150" dirty="0"/>
          </a:p>
        </p:txBody>
      </p:sp>
      <p:sp>
        <p:nvSpPr>
          <p:cNvPr id="13" name="Text 11"/>
          <p:cNvSpPr/>
          <p:nvPr/>
        </p:nvSpPr>
        <p:spPr>
          <a:xfrm>
            <a:off x="6062472" y="1783080"/>
            <a:ext cx="301752" cy="411480"/>
          </a:xfrm>
          <a:prstGeom prst="rect">
            <a:avLst/>
          </a:prstGeom>
          <a:noFill/>
          <a:ln/>
        </p:spPr>
        <p:txBody>
          <a:bodyPr wrap="square" lIns="0" tIns="0" rIns="0" bIns="0" rtlCol="0" anchor="ctr"/>
          <a:lstStyle/>
          <a:p>
            <a:pPr marL="0" indent="0" algn="ctr">
              <a:buNone/>
            </a:pPr>
            <a:r>
              <a:rPr lang="en-US" sz="2000" b="1" dirty="0">
                <a:solidFill>
                  <a:srgbClr val="505A5F"/>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364224" y="1325880"/>
            <a:ext cx="2606040" cy="1325880"/>
          </a:xfrm>
          <a:prstGeom prst="rect">
            <a:avLst/>
          </a:prstGeom>
          <a:solidFill>
            <a:srgbClr val="F3F2F1"/>
          </a:solidFill>
          <a:ln/>
        </p:spPr>
        <p:txBody>
          <a:bodyPr/>
          <a:lstStyle/>
          <a:p>
            <a:endParaRPr lang="en-US"/>
          </a:p>
        </p:txBody>
      </p:sp>
      <p:sp>
        <p:nvSpPr>
          <p:cNvPr id="15" name="Shape 13"/>
          <p:cNvSpPr/>
          <p:nvPr/>
        </p:nvSpPr>
        <p:spPr>
          <a:xfrm>
            <a:off x="6364224" y="1325880"/>
            <a:ext cx="2606040" cy="64008"/>
          </a:xfrm>
          <a:prstGeom prst="rect">
            <a:avLst/>
          </a:prstGeom>
          <a:solidFill>
            <a:srgbClr val="1D70B8"/>
          </a:solidFill>
          <a:ln/>
        </p:spPr>
        <p:txBody>
          <a:bodyPr/>
          <a:lstStyle/>
          <a:p>
            <a:endParaRPr lang="en-US"/>
          </a:p>
        </p:txBody>
      </p:sp>
      <p:sp>
        <p:nvSpPr>
          <p:cNvPr id="16" name="Text 14"/>
          <p:cNvSpPr/>
          <p:nvPr/>
        </p:nvSpPr>
        <p:spPr>
          <a:xfrm>
            <a:off x="6528816" y="1463040"/>
            <a:ext cx="2286000" cy="502920"/>
          </a:xfrm>
          <a:prstGeom prst="rect">
            <a:avLst/>
          </a:prstGeom>
          <a:noFill/>
          <a:ln/>
        </p:spPr>
        <p:txBody>
          <a:bodyPr wrap="square" lIns="0" tIns="0" rIns="0" bIns="0" rtlCol="0" anchor="ctr"/>
          <a:lstStyle/>
          <a:p>
            <a:pPr marL="0" indent="0">
              <a:buNone/>
            </a:pPr>
            <a:r>
              <a:rPr lang="en-US" sz="1450" b="1" dirty="0">
                <a:solidFill>
                  <a:srgbClr val="0B0C0C"/>
                </a:solidFill>
                <a:latin typeface="Trebuchet MS" pitchFamily="34" charset="0"/>
                <a:ea typeface="Trebuchet MS" pitchFamily="34" charset="-122"/>
                <a:cs typeface="Trebuchet MS" pitchFamily="34" charset="-120"/>
              </a:rPr>
              <a:t>Journey understanding</a:t>
            </a:r>
            <a:endParaRPr lang="en-US" sz="1450" dirty="0"/>
          </a:p>
        </p:txBody>
      </p:sp>
      <p:sp>
        <p:nvSpPr>
          <p:cNvPr id="17" name="Text 15"/>
          <p:cNvSpPr/>
          <p:nvPr/>
        </p:nvSpPr>
        <p:spPr>
          <a:xfrm>
            <a:off x="6528816" y="1947672"/>
            <a:ext cx="2286000" cy="65836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Completeness, ordering, submittability - per notification</a:t>
            </a:r>
            <a:endParaRPr lang="en-US" sz="1150" dirty="0"/>
          </a:p>
        </p:txBody>
      </p:sp>
      <p:sp>
        <p:nvSpPr>
          <p:cNvPr id="18" name="Text 16"/>
          <p:cNvSpPr/>
          <p:nvPr/>
        </p:nvSpPr>
        <p:spPr>
          <a:xfrm>
            <a:off x="8970264" y="1783080"/>
            <a:ext cx="301752" cy="411480"/>
          </a:xfrm>
          <a:prstGeom prst="rect">
            <a:avLst/>
          </a:prstGeom>
          <a:noFill/>
          <a:ln/>
        </p:spPr>
        <p:txBody>
          <a:bodyPr wrap="square" lIns="0" tIns="0" rIns="0" bIns="0" rtlCol="0" anchor="ctr"/>
          <a:lstStyle/>
          <a:p>
            <a:pPr marL="0" indent="0" algn="ctr">
              <a:buNone/>
            </a:pPr>
            <a:r>
              <a:rPr lang="en-US" sz="2000" b="1" dirty="0">
                <a:solidFill>
                  <a:srgbClr val="505A5F"/>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9272016" y="1325880"/>
            <a:ext cx="2606040" cy="1325880"/>
          </a:xfrm>
          <a:prstGeom prst="rect">
            <a:avLst/>
          </a:prstGeom>
          <a:solidFill>
            <a:srgbClr val="F3F2F1"/>
          </a:solidFill>
          <a:ln/>
        </p:spPr>
        <p:txBody>
          <a:bodyPr/>
          <a:lstStyle/>
          <a:p>
            <a:endParaRPr lang="en-US"/>
          </a:p>
        </p:txBody>
      </p:sp>
      <p:sp>
        <p:nvSpPr>
          <p:cNvPr id="20" name="Shape 18"/>
          <p:cNvSpPr/>
          <p:nvPr/>
        </p:nvSpPr>
        <p:spPr>
          <a:xfrm>
            <a:off x="9272016" y="1325880"/>
            <a:ext cx="2606040" cy="64008"/>
          </a:xfrm>
          <a:prstGeom prst="rect">
            <a:avLst/>
          </a:prstGeom>
          <a:solidFill>
            <a:srgbClr val="00703C"/>
          </a:solidFill>
          <a:ln/>
        </p:spPr>
        <p:txBody>
          <a:bodyPr/>
          <a:lstStyle/>
          <a:p>
            <a:endParaRPr lang="en-US"/>
          </a:p>
        </p:txBody>
      </p:sp>
      <p:sp>
        <p:nvSpPr>
          <p:cNvPr id="21" name="Text 19"/>
          <p:cNvSpPr/>
          <p:nvPr/>
        </p:nvSpPr>
        <p:spPr>
          <a:xfrm>
            <a:off x="9436608" y="1463040"/>
            <a:ext cx="2286000" cy="502920"/>
          </a:xfrm>
          <a:prstGeom prst="rect">
            <a:avLst/>
          </a:prstGeom>
          <a:noFill/>
          <a:ln/>
        </p:spPr>
        <p:txBody>
          <a:bodyPr wrap="square" lIns="0" tIns="0" rIns="0" bIns="0" rtlCol="0" anchor="ctr"/>
          <a:lstStyle/>
          <a:p>
            <a:pPr marL="0" indent="0">
              <a:buNone/>
            </a:pPr>
            <a:r>
              <a:rPr lang="en-US" sz="1450" b="1" dirty="0">
                <a:solidFill>
                  <a:srgbClr val="0B0C0C"/>
                </a:solidFill>
                <a:latin typeface="Trebuchet MS" pitchFamily="34" charset="0"/>
                <a:ea typeface="Trebuchet MS" pitchFamily="34" charset="-122"/>
                <a:cs typeface="Trebuchet MS" pitchFamily="34" charset="-120"/>
              </a:rPr>
              <a:t>The UI renders that</a:t>
            </a:r>
            <a:endParaRPr lang="en-US" sz="1450" dirty="0"/>
          </a:p>
        </p:txBody>
      </p:sp>
      <p:sp>
        <p:nvSpPr>
          <p:cNvPr id="22" name="Text 20"/>
          <p:cNvSpPr/>
          <p:nvPr/>
        </p:nvSpPr>
        <p:spPr>
          <a:xfrm>
            <a:off x="9436608" y="1947672"/>
            <a:ext cx="2286000" cy="658368"/>
          </a:xfrm>
          <a:prstGeom prst="rect">
            <a:avLst/>
          </a:prstGeom>
          <a:noFill/>
          <a:ln/>
        </p:spPr>
        <p:txBody>
          <a:bodyPr wrap="square" lIns="0" tIns="0" rIns="0" bIns="0" rtlCol="0" anchor="t"/>
          <a:lstStyle/>
          <a:p>
            <a:pPr marL="0" indent="0">
              <a:buNone/>
            </a:pPr>
            <a:r>
              <a:rPr lang="en-US" sz="1150" dirty="0">
                <a:solidFill>
                  <a:srgbClr val="0B0C0C"/>
                </a:solidFill>
                <a:latin typeface="Calibri" pitchFamily="34" charset="0"/>
                <a:ea typeface="Calibri" pitchFamily="34" charset="-122"/>
                <a:cs typeface="Calibri" pitchFamily="34" charset="-120"/>
              </a:rPr>
              <a:t>Server-driven UI: the display follows the engine's output</a:t>
            </a:r>
            <a:endParaRPr lang="en-US" sz="1150" dirty="0"/>
          </a:p>
        </p:txBody>
      </p:sp>
      <p:sp>
        <p:nvSpPr>
          <p:cNvPr id="23" name="Shape 21"/>
          <p:cNvSpPr/>
          <p:nvPr/>
        </p:nvSpPr>
        <p:spPr>
          <a:xfrm>
            <a:off x="548640" y="3017520"/>
            <a:ext cx="3529584" cy="2103120"/>
          </a:xfrm>
          <a:prstGeom prst="rect">
            <a:avLst/>
          </a:prstGeom>
          <a:solidFill>
            <a:srgbClr val="F3F2F1"/>
          </a:solidFill>
          <a:ln/>
        </p:spPr>
        <p:txBody>
          <a:bodyPr/>
          <a:lstStyle/>
          <a:p>
            <a:endParaRPr lang="en-US"/>
          </a:p>
        </p:txBody>
      </p:sp>
      <p:sp>
        <p:nvSpPr>
          <p:cNvPr id="24" name="Shape 22"/>
          <p:cNvSpPr/>
          <p:nvPr/>
        </p:nvSpPr>
        <p:spPr>
          <a:xfrm>
            <a:off x="548640" y="3017520"/>
            <a:ext cx="3529584" cy="64008"/>
          </a:xfrm>
          <a:prstGeom prst="rect">
            <a:avLst/>
          </a:prstGeom>
          <a:solidFill>
            <a:srgbClr val="00703C"/>
          </a:solidFill>
          <a:ln/>
        </p:spPr>
        <p:txBody>
          <a:bodyPr/>
          <a:lstStyle/>
          <a:p>
            <a:endParaRPr lang="en-US"/>
          </a:p>
        </p:txBody>
      </p:sp>
      <p:sp>
        <p:nvSpPr>
          <p:cNvPr id="25" name="Text 23"/>
          <p:cNvSpPr/>
          <p:nvPr/>
        </p:nvSpPr>
        <p:spPr>
          <a:xfrm>
            <a:off x="731520" y="3154680"/>
            <a:ext cx="3163824" cy="594360"/>
          </a:xfrm>
          <a:prstGeom prst="rect">
            <a:avLst/>
          </a:prstGeom>
          <a:noFill/>
          <a:ln/>
        </p:spPr>
        <p:txBody>
          <a:bodyPr wrap="square" lIns="0" tIns="0" rIns="0" bIns="0" rtlCol="0" anchor="t"/>
          <a:lstStyle/>
          <a:p>
            <a:pPr marL="0" indent="0">
              <a:buNone/>
            </a:pPr>
            <a:r>
              <a:rPr lang="en-US" sz="1400" b="1" dirty="0">
                <a:solidFill>
                  <a:srgbClr val="0B0C0C"/>
                </a:solidFill>
                <a:latin typeface="Trebuchet MS" pitchFamily="34" charset="0"/>
                <a:ea typeface="Trebuchet MS" pitchFamily="34" charset="-122"/>
                <a:cs typeface="Trebuchet MS" pitchFamily="34" charset="-120"/>
              </a:rPr>
              <a:t>One source of truth per journey</a:t>
            </a:r>
            <a:endParaRPr lang="en-US" sz="1400" dirty="0"/>
          </a:p>
        </p:txBody>
      </p:sp>
      <p:sp>
        <p:nvSpPr>
          <p:cNvPr id="26" name="Text 24"/>
          <p:cNvSpPr/>
          <p:nvPr/>
        </p:nvSpPr>
        <p:spPr>
          <a:xfrm>
            <a:off x="731520" y="3767328"/>
            <a:ext cx="3163824" cy="1234440"/>
          </a:xfrm>
          <a:prstGeom prst="rect">
            <a:avLst/>
          </a:prstGeom>
          <a:noFill/>
          <a:ln/>
        </p:spPr>
        <p:txBody>
          <a:bodyPr wrap="square" lIns="0" tIns="0" rIns="0" bIns="0" rtlCol="0" anchor="t"/>
          <a:lstStyle/>
          <a:p>
            <a:pPr marL="0" indent="0">
              <a:buNone/>
            </a:pPr>
            <a:r>
              <a:rPr lang="en-US" sz="1200" dirty="0">
                <a:solidFill>
                  <a:srgbClr val="0B0C0C"/>
                </a:solidFill>
                <a:latin typeface="Calibri" pitchFamily="34" charset="0"/>
                <a:ea typeface="Calibri" pitchFamily="34" charset="-122"/>
                <a:cs typeface="Calibri" pitchFamily="34" charset="-120"/>
              </a:rPr>
              <a:t>Form structure, conditional logic and reference data live in one place, owned by the team that owns the journey. No overrides in handler code; no second service holding a slice of the form.</a:t>
            </a:r>
            <a:endParaRPr lang="en-US" sz="1200" dirty="0"/>
          </a:p>
        </p:txBody>
      </p:sp>
      <p:sp>
        <p:nvSpPr>
          <p:cNvPr id="27" name="Shape 25"/>
          <p:cNvSpPr/>
          <p:nvPr/>
        </p:nvSpPr>
        <p:spPr>
          <a:xfrm>
            <a:off x="4370832" y="3017520"/>
            <a:ext cx="3529584" cy="2103120"/>
          </a:xfrm>
          <a:prstGeom prst="rect">
            <a:avLst/>
          </a:prstGeom>
          <a:solidFill>
            <a:srgbClr val="F3F2F1"/>
          </a:solidFill>
          <a:ln/>
        </p:spPr>
        <p:txBody>
          <a:bodyPr/>
          <a:lstStyle/>
          <a:p>
            <a:endParaRPr lang="en-US"/>
          </a:p>
        </p:txBody>
      </p:sp>
      <p:sp>
        <p:nvSpPr>
          <p:cNvPr id="28" name="Shape 26"/>
          <p:cNvSpPr/>
          <p:nvPr/>
        </p:nvSpPr>
        <p:spPr>
          <a:xfrm>
            <a:off x="4370832" y="3017520"/>
            <a:ext cx="3529584" cy="64008"/>
          </a:xfrm>
          <a:prstGeom prst="rect">
            <a:avLst/>
          </a:prstGeom>
          <a:solidFill>
            <a:srgbClr val="00703C"/>
          </a:solidFill>
          <a:ln/>
        </p:spPr>
        <p:txBody>
          <a:bodyPr/>
          <a:lstStyle/>
          <a:p>
            <a:endParaRPr lang="en-US"/>
          </a:p>
        </p:txBody>
      </p:sp>
      <p:sp>
        <p:nvSpPr>
          <p:cNvPr id="29" name="Text 27"/>
          <p:cNvSpPr/>
          <p:nvPr/>
        </p:nvSpPr>
        <p:spPr>
          <a:xfrm>
            <a:off x="4553712" y="3154680"/>
            <a:ext cx="3163824" cy="594360"/>
          </a:xfrm>
          <a:prstGeom prst="rect">
            <a:avLst/>
          </a:prstGeom>
          <a:noFill/>
          <a:ln/>
        </p:spPr>
        <p:txBody>
          <a:bodyPr wrap="square" lIns="0" tIns="0" rIns="0" bIns="0" rtlCol="0" anchor="t"/>
          <a:lstStyle/>
          <a:p>
            <a:pPr marL="0" indent="0">
              <a:buNone/>
            </a:pPr>
            <a:r>
              <a:rPr lang="en-US" sz="1400" b="1" dirty="0">
                <a:solidFill>
                  <a:srgbClr val="0B0C0C"/>
                </a:solidFill>
                <a:latin typeface="Trebuchet MS" pitchFamily="34" charset="0"/>
                <a:ea typeface="Trebuchet MS" pitchFamily="34" charset="-122"/>
                <a:cs typeface="Trebuchet MS" pitchFamily="34" charset="-120"/>
              </a:rPr>
              <a:t>Simple to configure</a:t>
            </a:r>
            <a:endParaRPr lang="en-US" sz="1400" dirty="0"/>
          </a:p>
        </p:txBody>
      </p:sp>
      <p:sp>
        <p:nvSpPr>
          <p:cNvPr id="30" name="Text 28"/>
          <p:cNvSpPr/>
          <p:nvPr/>
        </p:nvSpPr>
        <p:spPr>
          <a:xfrm>
            <a:off x="4553712" y="3767328"/>
            <a:ext cx="3163824" cy="1234440"/>
          </a:xfrm>
          <a:prstGeom prst="rect">
            <a:avLst/>
          </a:prstGeom>
          <a:noFill/>
          <a:ln/>
        </p:spPr>
        <p:txBody>
          <a:bodyPr wrap="square" lIns="0" tIns="0" rIns="0" bIns="0" rtlCol="0" anchor="t"/>
          <a:lstStyle/>
          <a:p>
            <a:pPr marL="0" indent="0">
              <a:buNone/>
            </a:pPr>
            <a:r>
              <a:rPr lang="en-US" sz="1200" dirty="0">
                <a:solidFill>
                  <a:srgbClr val="0B0C0C"/>
                </a:solidFill>
                <a:latin typeface="Calibri" pitchFamily="34" charset="0"/>
                <a:ea typeface="Calibri" pitchFamily="34" charset="-122"/>
                <a:cs typeface="Calibri" pitchFamily="34" charset="-120"/>
              </a:rPr>
              <a:t>Plain JSON for the data, a small resolver file for the logic, a directory per journey. No JavaScript strings embedded as field values; no incompatible structural shapes.</a:t>
            </a:r>
            <a:endParaRPr lang="en-US" sz="1200" dirty="0"/>
          </a:p>
        </p:txBody>
      </p:sp>
      <p:sp>
        <p:nvSpPr>
          <p:cNvPr id="31" name="Shape 29"/>
          <p:cNvSpPr/>
          <p:nvPr/>
        </p:nvSpPr>
        <p:spPr>
          <a:xfrm>
            <a:off x="8193024" y="3017520"/>
            <a:ext cx="3529584" cy="2103120"/>
          </a:xfrm>
          <a:prstGeom prst="rect">
            <a:avLst/>
          </a:prstGeom>
          <a:solidFill>
            <a:srgbClr val="F3F2F1"/>
          </a:solidFill>
          <a:ln/>
        </p:spPr>
        <p:txBody>
          <a:bodyPr/>
          <a:lstStyle/>
          <a:p>
            <a:endParaRPr lang="en-US"/>
          </a:p>
        </p:txBody>
      </p:sp>
      <p:sp>
        <p:nvSpPr>
          <p:cNvPr id="32" name="Shape 30"/>
          <p:cNvSpPr/>
          <p:nvPr/>
        </p:nvSpPr>
        <p:spPr>
          <a:xfrm>
            <a:off x="8193024" y="3017520"/>
            <a:ext cx="3529584" cy="64008"/>
          </a:xfrm>
          <a:prstGeom prst="rect">
            <a:avLst/>
          </a:prstGeom>
          <a:solidFill>
            <a:srgbClr val="00703C"/>
          </a:solidFill>
          <a:ln/>
        </p:spPr>
        <p:txBody>
          <a:bodyPr/>
          <a:lstStyle/>
          <a:p>
            <a:endParaRPr lang="en-US"/>
          </a:p>
        </p:txBody>
      </p:sp>
      <p:sp>
        <p:nvSpPr>
          <p:cNvPr id="33" name="Text 31"/>
          <p:cNvSpPr/>
          <p:nvPr/>
        </p:nvSpPr>
        <p:spPr>
          <a:xfrm>
            <a:off x="8375904" y="3154680"/>
            <a:ext cx="3163824" cy="594360"/>
          </a:xfrm>
          <a:prstGeom prst="rect">
            <a:avLst/>
          </a:prstGeom>
          <a:noFill/>
          <a:ln/>
        </p:spPr>
        <p:txBody>
          <a:bodyPr wrap="square" lIns="0" tIns="0" rIns="0" bIns="0" rtlCol="0" anchor="t"/>
          <a:lstStyle/>
          <a:p>
            <a:pPr marL="0" indent="0">
              <a:buNone/>
            </a:pPr>
            <a:r>
              <a:rPr lang="en-US" sz="1400" b="1" dirty="0">
                <a:solidFill>
                  <a:srgbClr val="0B0C0C"/>
                </a:solidFill>
                <a:latin typeface="Trebuchet MS" pitchFamily="34" charset="0"/>
                <a:ea typeface="Trebuchet MS" pitchFamily="34" charset="-122"/>
                <a:cs typeface="Trebuchet MS" pitchFamily="34" charset="-120"/>
              </a:rPr>
              <a:t>“Complete” is part of the configuration</a:t>
            </a:r>
            <a:endParaRPr lang="en-US" sz="1400" dirty="0"/>
          </a:p>
        </p:txBody>
      </p:sp>
      <p:sp>
        <p:nvSpPr>
          <p:cNvPr id="34" name="Text 32"/>
          <p:cNvSpPr/>
          <p:nvPr/>
        </p:nvSpPr>
        <p:spPr>
          <a:xfrm>
            <a:off x="8375904" y="3767328"/>
            <a:ext cx="3163824" cy="1234440"/>
          </a:xfrm>
          <a:prstGeom prst="rect">
            <a:avLst/>
          </a:prstGeom>
          <a:noFill/>
          <a:ln/>
        </p:spPr>
        <p:txBody>
          <a:bodyPr wrap="square" lIns="0" tIns="0" rIns="0" bIns="0" rtlCol="0" anchor="t"/>
          <a:lstStyle/>
          <a:p>
            <a:pPr marL="0" indent="0">
              <a:buNone/>
            </a:pPr>
            <a:r>
              <a:rPr lang="en-US" sz="1200" dirty="0">
                <a:solidFill>
                  <a:srgbClr val="0B0C0C"/>
                </a:solidFill>
                <a:latin typeface="Calibri" pitchFamily="34" charset="0"/>
                <a:ea typeface="Calibri" pitchFamily="34" charset="-122"/>
                <a:cs typeface="Calibri" pitchFamily="34" charset="-120"/>
              </a:rPr>
              <a:t>Whether a notification is done is not computed elsewhere. The configuration that says what a journey asks for also says what makes the answer enough.</a:t>
            </a:r>
            <a:endParaRPr lang="en-US" sz="1200" dirty="0"/>
          </a:p>
        </p:txBody>
      </p:sp>
      <p:sp>
        <p:nvSpPr>
          <p:cNvPr id="35" name="Shape 33"/>
          <p:cNvSpPr/>
          <p:nvPr/>
        </p:nvSpPr>
        <p:spPr>
          <a:xfrm>
            <a:off x="548640" y="5440680"/>
            <a:ext cx="11064240" cy="868680"/>
          </a:xfrm>
          <a:prstGeom prst="rect">
            <a:avLst/>
          </a:prstGeom>
          <a:solidFill>
            <a:srgbClr val="0B0C0C"/>
          </a:solidFill>
          <a:ln/>
        </p:spPr>
        <p:txBody>
          <a:bodyPr/>
          <a:lstStyle/>
          <a:p>
            <a:endParaRPr lang="en-US"/>
          </a:p>
        </p:txBody>
      </p:sp>
      <p:sp>
        <p:nvSpPr>
          <p:cNvPr id="36" name="Text 34"/>
          <p:cNvSpPr/>
          <p:nvPr/>
        </p:nvSpPr>
        <p:spPr>
          <a:xfrm>
            <a:off x="777240" y="5440680"/>
            <a:ext cx="10607040" cy="868680"/>
          </a:xfrm>
          <a:prstGeom prst="rect">
            <a:avLst/>
          </a:prstGeom>
          <a:noFill/>
          <a:ln/>
        </p:spPr>
        <p:txBody>
          <a:bodyPr wrap="square" lIns="0" tIns="0" rIns="0" bIns="0" rtlCol="0" anchor="ctr"/>
          <a:lstStyle/>
          <a:p>
            <a:pPr marL="0" indent="0">
              <a:spcAft>
                <a:spcPts val="400"/>
              </a:spcAft>
              <a:buNone/>
            </a:pPr>
            <a:r>
              <a:rPr lang="en-US" sz="1450" b="1" dirty="0">
                <a:solidFill>
                  <a:srgbClr val="FFFFFF"/>
                </a:solidFill>
                <a:latin typeface="Trebuchet MS" pitchFamily="34" charset="0"/>
                <a:ea typeface="Trebuchet MS" pitchFamily="34" charset="-122"/>
                <a:cs typeface="Trebuchet MS" pitchFamily="34" charset="-120"/>
              </a:rPr>
              <a:t>These pair to produce the outcome that matters: a whole journey can be seen and tested without being built.</a:t>
            </a:r>
            <a:endParaRPr lang="en-US" sz="1450" dirty="0"/>
          </a:p>
          <a:p>
            <a:pPr marL="0" indent="0">
              <a:spcAft>
                <a:spcPts val="400"/>
              </a:spcAft>
              <a:buNone/>
            </a:pPr>
            <a:r>
              <a:rPr lang="en-US" sz="1250" b="1" dirty="0">
                <a:solidFill>
                  <a:srgbClr val="B1B4B6"/>
                </a:solidFill>
                <a:latin typeface="Trebuchet MS" pitchFamily="34" charset="0"/>
                <a:ea typeface="Trebuchet MS" pitchFamily="34" charset="-122"/>
                <a:cs typeface="Trebuchet MS" pitchFamily="34" charset="-120"/>
              </a:rPr>
              <a:t>What follows: a demonstration of the engine and the UI, then the mechanics.</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02920"/>
          </a:xfrm>
          <a:prstGeom prst="rect">
            <a:avLst/>
          </a:prstGeom>
          <a:noFill/>
          <a:ln/>
        </p:spPr>
        <p:txBody>
          <a:bodyPr wrap="square" lIns="0" tIns="0" rIns="0" bIns="0" rtlCol="0" anchor="ctr"/>
          <a:lstStyle/>
          <a:p>
            <a:pPr marL="0" indent="0">
              <a:buNone/>
            </a:pPr>
            <a:r>
              <a:rPr lang="en-US" sz="2800" b="1" dirty="0">
                <a:solidFill>
                  <a:srgbClr val="0B0C0C"/>
                </a:solidFill>
                <a:latin typeface="Trebuchet MS" pitchFamily="34" charset="0"/>
                <a:ea typeface="Trebuchet MS" pitchFamily="34" charset="-122"/>
                <a:cs typeface="Trebuchet MS" pitchFamily="34" charset="-120"/>
              </a:rPr>
              <a:t>Obligations: rules as configuration</a:t>
            </a:r>
            <a:endParaRPr lang="en-US" sz="2800" dirty="0"/>
          </a:p>
        </p:txBody>
      </p:sp>
      <p:sp>
        <p:nvSpPr>
          <p:cNvPr id="3" name="Text 1"/>
          <p:cNvSpPr/>
          <p:nvPr/>
        </p:nvSpPr>
        <p:spPr>
          <a:xfrm>
            <a:off x="548640" y="804672"/>
            <a:ext cx="11064240" cy="320040"/>
          </a:xfrm>
          <a:prstGeom prst="rect">
            <a:avLst/>
          </a:prstGeom>
          <a:noFill/>
          <a:ln/>
        </p:spPr>
        <p:txBody>
          <a:bodyPr wrap="square" lIns="0" tIns="0" rIns="0" bIns="0" rtlCol="0" anchor="ctr"/>
          <a:lstStyle/>
          <a:p>
            <a:pPr marL="0" indent="0">
              <a:buNone/>
            </a:pPr>
            <a:r>
              <a:rPr lang="en-US" sz="1400" dirty="0">
                <a:solidFill>
                  <a:srgbClr val="505A5F"/>
                </a:solidFill>
                <a:latin typeface="Calibri" pitchFamily="34" charset="0"/>
                <a:ea typeface="Calibri" pitchFamily="34" charset="-122"/>
                <a:cs typeface="Calibri" pitchFamily="34" charset="-120"/>
              </a:rPr>
              <a:t>An obligation states what the notification must contain and why. A condition, when present, decides whether the requirement applies at all.</a:t>
            </a:r>
            <a:endParaRPr lang="en-US" sz="1400" dirty="0"/>
          </a:p>
        </p:txBody>
      </p:sp>
      <p:sp>
        <p:nvSpPr>
          <p:cNvPr id="4" name="Shape 2"/>
          <p:cNvSpPr/>
          <p:nvPr/>
        </p:nvSpPr>
        <p:spPr>
          <a:xfrm>
            <a:off x="548640" y="1371600"/>
            <a:ext cx="5394960" cy="2286000"/>
          </a:xfrm>
          <a:prstGeom prst="rect">
            <a:avLst/>
          </a:prstGeom>
          <a:solidFill>
            <a:srgbClr val="0B0C0C"/>
          </a:solidFill>
          <a:ln/>
        </p:spPr>
        <p:txBody>
          <a:bodyPr/>
          <a:lstStyle/>
          <a:p>
            <a:endParaRPr lang="en-US"/>
          </a:p>
        </p:txBody>
      </p:sp>
      <p:sp>
        <p:nvSpPr>
          <p:cNvPr id="5" name="Text 3"/>
          <p:cNvSpPr/>
          <p:nvPr/>
        </p:nvSpPr>
        <p:spPr>
          <a:xfrm>
            <a:off x="777240" y="1481328"/>
            <a:ext cx="4937760" cy="274320"/>
          </a:xfrm>
          <a:prstGeom prst="rect">
            <a:avLst/>
          </a:prstGeom>
          <a:noFill/>
          <a:ln/>
        </p:spPr>
        <p:txBody>
          <a:bodyPr wrap="square" lIns="0" tIns="0" rIns="0" bIns="0" rtlCol="0" anchor="ctr"/>
          <a:lstStyle/>
          <a:p>
            <a:pPr marL="0" indent="0">
              <a:buNone/>
            </a:pPr>
            <a:r>
              <a:rPr lang="en-US" sz="1100" kern="0" spc="200" dirty="0">
                <a:solidFill>
                  <a:srgbClr val="97BC62"/>
                </a:solidFill>
                <a:latin typeface="Calibri" pitchFamily="34" charset="0"/>
                <a:ea typeface="Calibri" pitchFamily="34" charset="-122"/>
                <a:cs typeface="Calibri" pitchFamily="34" charset="-120"/>
              </a:rPr>
              <a:t>unconditional</a:t>
            </a:r>
            <a:endParaRPr lang="en-US" sz="1100" dirty="0"/>
          </a:p>
        </p:txBody>
      </p:sp>
      <p:sp>
        <p:nvSpPr>
          <p:cNvPr id="6" name="Text 4"/>
          <p:cNvSpPr/>
          <p:nvPr/>
        </p:nvSpPr>
        <p:spPr>
          <a:xfrm>
            <a:off x="777240" y="1783080"/>
            <a:ext cx="4937760" cy="1783080"/>
          </a:xfrm>
          <a:prstGeom prst="rect">
            <a:avLst/>
          </a:prstGeom>
          <a:noFill/>
          <a:ln/>
        </p:spPr>
        <p:txBody>
          <a:bodyPr wrap="square" lIns="0" tIns="0" rIns="0" bIns="0" rtlCol="0" anchor="t"/>
          <a:lstStyle/>
          <a:p>
            <a:pPr marL="0" indent="0">
              <a:buNone/>
            </a:pPr>
            <a:r>
              <a:rPr lang="en-US" sz="1250" dirty="0">
                <a:solidFill>
                  <a:srgbClr val="FFFFFF"/>
                </a:solidFill>
                <a:latin typeface="Consolas" pitchFamily="34" charset="0"/>
                <a:ea typeface="Consolas" pitchFamily="34" charset="-122"/>
                <a:cs typeface="Consolas" pitchFamily="34" charset="-120"/>
              </a:rPr>
              <a:t>{ "id": "consignment-origin",</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"name": "Region of origin",</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"rationale": "Origin region drives</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the regulatory regime.",</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"schemaPaths": ["origin.country",</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"origin.region"] }</a:t>
            </a:r>
            <a:endParaRPr lang="en-US" sz="1250" dirty="0"/>
          </a:p>
        </p:txBody>
      </p:sp>
      <p:sp>
        <p:nvSpPr>
          <p:cNvPr id="7" name="Shape 5"/>
          <p:cNvSpPr/>
          <p:nvPr/>
        </p:nvSpPr>
        <p:spPr>
          <a:xfrm>
            <a:off x="6217920" y="1371600"/>
            <a:ext cx="5394960" cy="2286000"/>
          </a:xfrm>
          <a:prstGeom prst="rect">
            <a:avLst/>
          </a:prstGeom>
          <a:solidFill>
            <a:srgbClr val="0B0C0C"/>
          </a:solidFill>
          <a:ln/>
        </p:spPr>
        <p:txBody>
          <a:bodyPr/>
          <a:lstStyle/>
          <a:p>
            <a:endParaRPr lang="en-US"/>
          </a:p>
        </p:txBody>
      </p:sp>
      <p:sp>
        <p:nvSpPr>
          <p:cNvPr id="8" name="Text 6"/>
          <p:cNvSpPr/>
          <p:nvPr/>
        </p:nvSpPr>
        <p:spPr>
          <a:xfrm>
            <a:off x="6446520" y="1481328"/>
            <a:ext cx="4937760" cy="274320"/>
          </a:xfrm>
          <a:prstGeom prst="rect">
            <a:avLst/>
          </a:prstGeom>
          <a:noFill/>
          <a:ln/>
        </p:spPr>
        <p:txBody>
          <a:bodyPr wrap="square" lIns="0" tIns="0" rIns="0" bIns="0" rtlCol="0" anchor="ctr"/>
          <a:lstStyle/>
          <a:p>
            <a:pPr marL="0" indent="0">
              <a:buNone/>
            </a:pPr>
            <a:r>
              <a:rPr lang="en-US" sz="1100" kern="0" spc="200" dirty="0">
                <a:solidFill>
                  <a:srgbClr val="F47738"/>
                </a:solidFill>
                <a:latin typeface="Calibri" pitchFamily="34" charset="0"/>
                <a:ea typeface="Calibri" pitchFamily="34" charset="-122"/>
                <a:cs typeface="Calibri" pitchFamily="34" charset="-120"/>
              </a:rPr>
              <a:t>conditional</a:t>
            </a:r>
            <a:endParaRPr lang="en-US" sz="1100" dirty="0"/>
          </a:p>
        </p:txBody>
      </p:sp>
      <p:sp>
        <p:nvSpPr>
          <p:cNvPr id="9" name="Text 7"/>
          <p:cNvSpPr/>
          <p:nvPr/>
        </p:nvSpPr>
        <p:spPr>
          <a:xfrm>
            <a:off x="6446520" y="1783080"/>
            <a:ext cx="4937760" cy="1783080"/>
          </a:xfrm>
          <a:prstGeom prst="rect">
            <a:avLst/>
          </a:prstGeom>
          <a:noFill/>
          <a:ln/>
        </p:spPr>
        <p:txBody>
          <a:bodyPr wrap="square" lIns="0" tIns="0" rIns="0" bIns="0" rtlCol="0" anchor="t"/>
          <a:lstStyle/>
          <a:p>
            <a:pPr marL="0" indent="0">
              <a:buNone/>
            </a:pPr>
            <a:r>
              <a:rPr lang="en-US" sz="1250" dirty="0">
                <a:solidFill>
                  <a:srgbClr val="FFFFFF"/>
                </a:solidFill>
                <a:latin typeface="Consolas" pitchFamily="34" charset="0"/>
                <a:ea typeface="Consolas" pitchFamily="34" charset="-122"/>
                <a:cs typeface="Consolas" pitchFamily="34" charset="-120"/>
              </a:rPr>
              <a:t>{ "id": "transit-routing",</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"schemaPaths": ["destination.exitBIP"],</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"condition": {</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"fact": "purposeGroup",</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"test": "isTransit",</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"description": "Active when the purpose</a:t>
            </a:r>
            <a:endParaRPr lang="en-US" sz="1250" dirty="0"/>
          </a:p>
          <a:p>
            <a:pPr marL="0" indent="0">
              <a:buNone/>
            </a:pPr>
            <a:r>
              <a:rPr lang="en-US" sz="1250" dirty="0">
                <a:solidFill>
                  <a:srgbClr val="FFFFFF"/>
                </a:solidFill>
                <a:latin typeface="Consolas" pitchFamily="34" charset="0"/>
                <a:ea typeface="Consolas" pitchFamily="34" charset="-122"/>
                <a:cs typeface="Consolas" pitchFamily="34" charset="-120"/>
              </a:rPr>
              <a:t xml:space="preserve">       group is a transit purpose." } }</a:t>
            </a:r>
            <a:endParaRPr lang="en-US" sz="1250" dirty="0"/>
          </a:p>
        </p:txBody>
      </p:sp>
      <p:sp>
        <p:nvSpPr>
          <p:cNvPr id="10" name="Shape 8"/>
          <p:cNvSpPr/>
          <p:nvPr/>
        </p:nvSpPr>
        <p:spPr>
          <a:xfrm>
            <a:off x="548640" y="3977640"/>
            <a:ext cx="5394960" cy="1417320"/>
          </a:xfrm>
          <a:prstGeom prst="rect">
            <a:avLst/>
          </a:prstGeom>
          <a:solidFill>
            <a:srgbClr val="F3F2F1"/>
          </a:solidFill>
          <a:ln/>
        </p:spPr>
        <p:txBody>
          <a:bodyPr/>
          <a:lstStyle/>
          <a:p>
            <a:endParaRPr lang="en-US"/>
          </a:p>
        </p:txBody>
      </p:sp>
      <p:sp>
        <p:nvSpPr>
          <p:cNvPr id="11" name="Shape 9"/>
          <p:cNvSpPr/>
          <p:nvPr/>
        </p:nvSpPr>
        <p:spPr>
          <a:xfrm>
            <a:off x="548640" y="3977640"/>
            <a:ext cx="5394960" cy="54864"/>
          </a:xfrm>
          <a:prstGeom prst="rect">
            <a:avLst/>
          </a:prstGeom>
          <a:solidFill>
            <a:srgbClr val="1D70B8"/>
          </a:solidFill>
          <a:ln/>
        </p:spPr>
        <p:txBody>
          <a:bodyPr/>
          <a:lstStyle/>
          <a:p>
            <a:endParaRPr lang="en-US"/>
          </a:p>
        </p:txBody>
      </p:sp>
      <p:sp>
        <p:nvSpPr>
          <p:cNvPr id="12" name="Text 10"/>
          <p:cNvSpPr/>
          <p:nvPr/>
        </p:nvSpPr>
        <p:spPr>
          <a:xfrm>
            <a:off x="777240" y="4114800"/>
            <a:ext cx="4937760" cy="292608"/>
          </a:xfrm>
          <a:prstGeom prst="rect">
            <a:avLst/>
          </a:prstGeom>
          <a:noFill/>
          <a:ln/>
        </p:spPr>
        <p:txBody>
          <a:bodyPr wrap="square" lIns="0" tIns="0" rIns="0" bIns="0" rtlCol="0" anchor="ctr"/>
          <a:lstStyle/>
          <a:p>
            <a:pPr marL="0" indent="0">
              <a:buNone/>
            </a:pPr>
            <a:r>
              <a:rPr lang="en-US" sz="1400" b="1" dirty="0">
                <a:solidFill>
                  <a:srgbClr val="0B0C0C"/>
                </a:solidFill>
                <a:latin typeface="Trebuchet MS" pitchFamily="34" charset="0"/>
                <a:ea typeface="Trebuchet MS" pitchFamily="34" charset="-122"/>
                <a:cs typeface="Trebuchet MS" pitchFamily="34" charset="-120"/>
              </a:rPr>
              <a:t>Page variance as an obligation</a:t>
            </a:r>
            <a:endParaRPr lang="en-US" sz="1400" dirty="0"/>
          </a:p>
        </p:txBody>
      </p:sp>
      <p:sp>
        <p:nvSpPr>
          <p:cNvPr id="13" name="Text 11"/>
          <p:cNvSpPr/>
          <p:nvPr/>
        </p:nvSpPr>
        <p:spPr>
          <a:xfrm>
            <a:off x="777240" y="4425696"/>
            <a:ext cx="4937760" cy="914400"/>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The CHEDPP GMS-declaration page exists in configuration but fires only when a species has HMI authority and GMS marketing standard. The CHED-A CPH-number page fires only for high-risk-EU consignments.</a:t>
            </a:r>
            <a:endParaRPr lang="en-US" sz="1250" dirty="0"/>
          </a:p>
        </p:txBody>
      </p:sp>
      <p:sp>
        <p:nvSpPr>
          <p:cNvPr id="14" name="Shape 12"/>
          <p:cNvSpPr/>
          <p:nvPr/>
        </p:nvSpPr>
        <p:spPr>
          <a:xfrm>
            <a:off x="6217920" y="3977640"/>
            <a:ext cx="5394960" cy="1417320"/>
          </a:xfrm>
          <a:prstGeom prst="rect">
            <a:avLst/>
          </a:prstGeom>
          <a:solidFill>
            <a:srgbClr val="F3F2F1"/>
          </a:solidFill>
          <a:ln/>
        </p:spPr>
        <p:txBody>
          <a:bodyPr/>
          <a:lstStyle/>
          <a:p>
            <a:endParaRPr lang="en-US"/>
          </a:p>
        </p:txBody>
      </p:sp>
      <p:sp>
        <p:nvSpPr>
          <p:cNvPr id="15" name="Shape 13"/>
          <p:cNvSpPr/>
          <p:nvPr/>
        </p:nvSpPr>
        <p:spPr>
          <a:xfrm>
            <a:off x="6217920" y="3977640"/>
            <a:ext cx="5394960" cy="54864"/>
          </a:xfrm>
          <a:prstGeom prst="rect">
            <a:avLst/>
          </a:prstGeom>
          <a:solidFill>
            <a:srgbClr val="1D70B8"/>
          </a:solidFill>
          <a:ln/>
        </p:spPr>
        <p:txBody>
          <a:bodyPr/>
          <a:lstStyle/>
          <a:p>
            <a:endParaRPr lang="en-US"/>
          </a:p>
        </p:txBody>
      </p:sp>
      <p:sp>
        <p:nvSpPr>
          <p:cNvPr id="16" name="Text 14"/>
          <p:cNvSpPr/>
          <p:nvPr/>
        </p:nvSpPr>
        <p:spPr>
          <a:xfrm>
            <a:off x="6446520" y="4114800"/>
            <a:ext cx="4937760" cy="292608"/>
          </a:xfrm>
          <a:prstGeom prst="rect">
            <a:avLst/>
          </a:prstGeom>
          <a:noFill/>
          <a:ln/>
        </p:spPr>
        <p:txBody>
          <a:bodyPr wrap="square" lIns="0" tIns="0" rIns="0" bIns="0" rtlCol="0" anchor="ctr"/>
          <a:lstStyle/>
          <a:p>
            <a:pPr marL="0" indent="0">
              <a:buNone/>
            </a:pPr>
            <a:r>
              <a:rPr lang="en-US" sz="1400" b="1" dirty="0">
                <a:solidFill>
                  <a:srgbClr val="0B0C0C"/>
                </a:solidFill>
                <a:latin typeface="Trebuchet MS" pitchFamily="34" charset="0"/>
                <a:ea typeface="Trebuchet MS" pitchFamily="34" charset="-122"/>
                <a:cs typeface="Trebuchet MS" pitchFamily="34" charset="-120"/>
              </a:rPr>
              <a:t>Content variance as an obligation</a:t>
            </a:r>
            <a:endParaRPr lang="en-US" sz="1400" dirty="0"/>
          </a:p>
        </p:txBody>
      </p:sp>
      <p:sp>
        <p:nvSpPr>
          <p:cNvPr id="17" name="Text 15"/>
          <p:cNvSpPr/>
          <p:nvPr/>
        </p:nvSpPr>
        <p:spPr>
          <a:xfrm>
            <a:off x="6446520" y="4425696"/>
            <a:ext cx="4937760" cy="914400"/>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The animals journey requires “permanent address” only for species kept at a fixed place; plants requires the variety-and-class selection only when both lists are populated for the commodity.</a:t>
            </a:r>
            <a:endParaRPr lang="en-US" sz="1250" dirty="0"/>
          </a:p>
        </p:txBody>
      </p:sp>
      <p:sp>
        <p:nvSpPr>
          <p:cNvPr id="18" name="Text 16"/>
          <p:cNvSpPr/>
          <p:nvPr/>
        </p:nvSpPr>
        <p:spPr>
          <a:xfrm>
            <a:off x="548640" y="5577840"/>
            <a:ext cx="11064240" cy="640080"/>
          </a:xfrm>
          <a:prstGeom prst="rect">
            <a:avLst/>
          </a:prstGeom>
          <a:noFill/>
          <a:ln/>
        </p:spPr>
        <p:txBody>
          <a:bodyPr wrap="square" lIns="0" tIns="0" rIns="0" bIns="0" rtlCol="0" anchor="t"/>
          <a:lstStyle/>
          <a:p>
            <a:pPr marL="0" indent="0">
              <a:buNone/>
            </a:pPr>
            <a:r>
              <a:rPr lang="en-US" sz="1300" dirty="0">
                <a:solidFill>
                  <a:srgbClr val="0B0C0C"/>
                </a:solidFill>
                <a:latin typeface="Calibri" pitchFamily="34" charset="0"/>
                <a:ea typeface="Calibri" pitchFamily="34" charset="-122"/>
                <a:cs typeface="Calibri" pitchFamily="34" charset="-120"/>
              </a:rPr>
              <a:t>Both kinds of variance are the same construct. The two working journeys: eu-live-animals carries 23 obligations across 6 sections and 15 screens; chedpp-plants carries 28 across 7 and 16.</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502920"/>
          </a:xfrm>
          <a:prstGeom prst="rect">
            <a:avLst/>
          </a:prstGeom>
          <a:noFill/>
          <a:ln/>
        </p:spPr>
        <p:txBody>
          <a:bodyPr wrap="square" lIns="0" tIns="0" rIns="0" bIns="0" rtlCol="0" anchor="ctr"/>
          <a:lstStyle/>
          <a:p>
            <a:pPr marL="0" indent="0">
              <a:buNone/>
            </a:pPr>
            <a:r>
              <a:rPr lang="en-US" sz="2800" b="1" dirty="0">
                <a:solidFill>
                  <a:srgbClr val="0B0C0C"/>
                </a:solidFill>
                <a:latin typeface="Trebuchet MS" pitchFamily="34" charset="0"/>
                <a:ea typeface="Trebuchet MS" pitchFamily="34" charset="-122"/>
                <a:cs typeface="Trebuchet MS" pitchFamily="34" charset="-120"/>
              </a:rPr>
              <a:t>The obligation engine: how the files inter-relate</a:t>
            </a:r>
            <a:endParaRPr lang="en-US" sz="2800" dirty="0"/>
          </a:p>
        </p:txBody>
      </p:sp>
      <p:pic>
        <p:nvPicPr>
          <p:cNvPr id="3" name="Image 0" descr="/sessions/relaxed-epic-ritchie/mnt/Field Config Analysis/slide-visuals/engine-files-interrelation.png"/>
          <p:cNvPicPr>
            <a:picLocks noChangeAspect="1"/>
          </p:cNvPicPr>
          <p:nvPr/>
        </p:nvPicPr>
        <p:blipFill>
          <a:blip r:embed="rId3"/>
          <a:stretch>
            <a:fillRect/>
          </a:stretch>
        </p:blipFill>
        <p:spPr>
          <a:xfrm>
            <a:off x="594360" y="960120"/>
            <a:ext cx="10972800" cy="4114800"/>
          </a:xfrm>
          <a:prstGeom prst="rect">
            <a:avLst/>
          </a:prstGeom>
        </p:spPr>
      </p:pic>
      <p:sp>
        <p:nvSpPr>
          <p:cNvPr id="4" name="Text 1"/>
          <p:cNvSpPr/>
          <p:nvPr/>
        </p:nvSpPr>
        <p:spPr>
          <a:xfrm>
            <a:off x="548640" y="5257800"/>
            <a:ext cx="11064240" cy="365760"/>
          </a:xfrm>
          <a:prstGeom prst="rect">
            <a:avLst/>
          </a:prstGeom>
          <a:noFill/>
          <a:ln/>
        </p:spPr>
        <p:txBody>
          <a:bodyPr wrap="square" lIns="0" tIns="0" rIns="0" bIns="0" rtlCol="0" anchor="ctr"/>
          <a:lstStyle/>
          <a:p>
            <a:pPr marL="0" indent="0">
              <a:buNone/>
            </a:pPr>
            <a:r>
              <a:rPr lang="en-US" sz="1300" b="1" dirty="0">
                <a:solidFill>
                  <a:srgbClr val="003078"/>
                </a:solidFill>
                <a:latin typeface="Consolas" pitchFamily="34" charset="0"/>
                <a:ea typeface="Consolas" pitchFamily="34" charset="-122"/>
                <a:cs typeface="Consolas" pitchFamily="34" charset="-120"/>
              </a:rPr>
              <a:t>POST /api/engine/journeys/{key}/evaluate</a:t>
            </a:r>
            <a:r>
              <a:rPr lang="en-US" sz="1300" dirty="0">
                <a:solidFill>
                  <a:srgbClr val="0B0C0C"/>
                </a:solidFill>
                <a:latin typeface="Calibri" pitchFamily="34" charset="0"/>
                <a:ea typeface="Calibri" pitchFamily="34" charset="-122"/>
                <a:cs typeface="Calibri" pitchFamily="34" charset="-120"/>
              </a:rPr>
              <a:t xml:space="preserve">  takes the raw notification as the body; withTrace=true adds reasoning.</a:t>
            </a:r>
            <a:endParaRPr lang="en-US" sz="1300" dirty="0"/>
          </a:p>
        </p:txBody>
      </p:sp>
      <p:sp>
        <p:nvSpPr>
          <p:cNvPr id="5" name="Text 2"/>
          <p:cNvSpPr/>
          <p:nvPr/>
        </p:nvSpPr>
        <p:spPr>
          <a:xfrm>
            <a:off x="548640" y="5669280"/>
            <a:ext cx="11064240" cy="640080"/>
          </a:xfrm>
          <a:prstGeom prst="rect">
            <a:avLst/>
          </a:prstGeom>
          <a:noFill/>
          <a:ln/>
        </p:spPr>
        <p:txBody>
          <a:bodyPr wrap="square" lIns="0" tIns="0" rIns="0" bIns="0" rtlCol="0" anchor="t"/>
          <a:lstStyle/>
          <a:p>
            <a:pPr marL="0" indent="0">
              <a:buNone/>
            </a:pPr>
            <a:r>
              <a:rPr lang="en-US" sz="1300" dirty="0">
                <a:solidFill>
                  <a:srgbClr val="505A5F"/>
                </a:solidFill>
                <a:latin typeface="Calibri" pitchFamily="34" charset="0"/>
                <a:ea typeface="Calibri" pitchFamily="34" charset="-122"/>
                <a:cs typeface="Calibri" pitchFamily="34" charset="-120"/>
              </a:rPr>
              <a:t>The engine is five files plus types, under 600 lines, with zero framework imports. Two tests enforce the boundaries: one asserts the engine module graph contains no @hapi/* dependency; one asserts no UI route imports the engine in-process.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02920"/>
          </a:xfrm>
          <a:prstGeom prst="rect">
            <a:avLst/>
          </a:prstGeom>
          <a:noFill/>
          <a:ln/>
        </p:spPr>
        <p:txBody>
          <a:bodyPr wrap="square" lIns="0" tIns="0" rIns="0" bIns="0" rtlCol="0" anchor="ctr"/>
          <a:lstStyle/>
          <a:p>
            <a:pPr marL="0" indent="0">
              <a:buNone/>
            </a:pPr>
            <a:r>
              <a:rPr lang="en-US" sz="2800" b="1" dirty="0">
                <a:solidFill>
                  <a:srgbClr val="0B0C0C"/>
                </a:solidFill>
                <a:latin typeface="Trebuchet MS" pitchFamily="34" charset="0"/>
                <a:ea typeface="Trebuchet MS" pitchFamily="34" charset="-122"/>
                <a:cs typeface="Trebuchet MS" pitchFamily="34" charset="-120"/>
              </a:rPr>
              <a:t>Server-driven UI: the concept, and the step taken here</a:t>
            </a:r>
            <a:endParaRPr lang="en-US" sz="2800" dirty="0"/>
          </a:p>
        </p:txBody>
      </p:sp>
      <p:sp>
        <p:nvSpPr>
          <p:cNvPr id="3" name="Shape 1"/>
          <p:cNvSpPr/>
          <p:nvPr/>
        </p:nvSpPr>
        <p:spPr>
          <a:xfrm>
            <a:off x="548640" y="1005840"/>
            <a:ext cx="5394960" cy="3108960"/>
          </a:xfrm>
          <a:prstGeom prst="rect">
            <a:avLst/>
          </a:prstGeom>
          <a:solidFill>
            <a:srgbClr val="F3F2F1"/>
          </a:solidFill>
          <a:ln/>
        </p:spPr>
        <p:txBody>
          <a:bodyPr/>
          <a:lstStyle/>
          <a:p>
            <a:endParaRPr lang="en-US"/>
          </a:p>
        </p:txBody>
      </p:sp>
      <p:sp>
        <p:nvSpPr>
          <p:cNvPr id="4" name="Shape 2"/>
          <p:cNvSpPr/>
          <p:nvPr/>
        </p:nvSpPr>
        <p:spPr>
          <a:xfrm>
            <a:off x="548640" y="1005840"/>
            <a:ext cx="5394960" cy="54864"/>
          </a:xfrm>
          <a:prstGeom prst="rect">
            <a:avLst/>
          </a:prstGeom>
          <a:solidFill>
            <a:srgbClr val="1D70B8"/>
          </a:solidFill>
          <a:ln/>
        </p:spPr>
        <p:txBody>
          <a:bodyPr/>
          <a:lstStyle/>
          <a:p>
            <a:endParaRPr lang="en-US"/>
          </a:p>
        </p:txBody>
      </p:sp>
      <p:sp>
        <p:nvSpPr>
          <p:cNvPr id="5" name="Text 3"/>
          <p:cNvSpPr/>
          <p:nvPr/>
        </p:nvSpPr>
        <p:spPr>
          <a:xfrm>
            <a:off x="777240" y="1143000"/>
            <a:ext cx="4937760" cy="320040"/>
          </a:xfrm>
          <a:prstGeom prst="rect">
            <a:avLst/>
          </a:prstGeom>
          <a:noFill/>
          <a:ln/>
        </p:spPr>
        <p:txBody>
          <a:bodyPr wrap="square" lIns="0" tIns="0" rIns="0" bIns="0" rtlCol="0" anchor="ctr"/>
          <a:lstStyle/>
          <a:p>
            <a:pPr marL="0" indent="0">
              <a:buNone/>
            </a:pPr>
            <a:r>
              <a:rPr lang="en-US" sz="1500" b="1" dirty="0">
                <a:solidFill>
                  <a:srgbClr val="0B0C0C"/>
                </a:solidFill>
                <a:latin typeface="Trebuchet MS" pitchFamily="34" charset="0"/>
                <a:ea typeface="Trebuchet MS" pitchFamily="34" charset="-122"/>
                <a:cs typeface="Trebuchet MS" pitchFamily="34" charset="-120"/>
              </a:rPr>
              <a:t>An established pattern, not a new idea</a:t>
            </a:r>
            <a:endParaRPr lang="en-US" sz="1500" dirty="0"/>
          </a:p>
        </p:txBody>
      </p:sp>
      <p:sp>
        <p:nvSpPr>
          <p:cNvPr id="6" name="Text 4"/>
          <p:cNvSpPr/>
          <p:nvPr/>
        </p:nvSpPr>
        <p:spPr>
          <a:xfrm>
            <a:off x="777240" y="1517904"/>
            <a:ext cx="4937760" cy="2514600"/>
          </a:xfrm>
          <a:prstGeom prst="rect">
            <a:avLst/>
          </a:prstGeom>
          <a:noFill/>
          <a:ln/>
        </p:spPr>
        <p:txBody>
          <a:bodyPr wrap="square" lIns="0" tIns="0" rIns="0" bIns="0" rtlCol="0" anchor="t"/>
          <a:lstStyle/>
          <a:p>
            <a:pPr marL="0" indent="0">
              <a:spcAft>
                <a:spcPts val="700"/>
              </a:spcAft>
              <a:buNone/>
            </a:pPr>
            <a:r>
              <a:rPr lang="en-US" sz="1200" b="1" dirty="0">
                <a:solidFill>
                  <a:srgbClr val="0B0C0C"/>
                </a:solidFill>
                <a:latin typeface="Calibri" pitchFamily="34" charset="0"/>
                <a:ea typeface="Calibri" pitchFamily="34" charset="-122"/>
                <a:cs typeface="Calibri" pitchFamily="34" charset="-120"/>
              </a:rPr>
              <a:t xml:space="preserve">Airbnb - Ghost Platform (2021). </a:t>
            </a:r>
            <a:r>
              <a:rPr lang="en-US" sz="1200" dirty="0">
                <a:solidFill>
                  <a:srgbClr val="0B0C0C"/>
                </a:solidFill>
                <a:latin typeface="Calibri" pitchFamily="34" charset="0"/>
                <a:ea typeface="Calibri" pitchFamily="34" charset="-122"/>
                <a:cs typeface="Calibri" pitchFamily="34" charset="-120"/>
              </a:rPr>
              <a:t>Serves search, listings and checkout across web, iOS and Android from one schema. Its primitives are sections and screens: the vocabulary used here.</a:t>
            </a:r>
            <a:endParaRPr lang="en-US" sz="1200" dirty="0"/>
          </a:p>
          <a:p>
            <a:pPr marL="0" indent="0">
              <a:spcAft>
                <a:spcPts val="700"/>
              </a:spcAft>
              <a:buNone/>
            </a:pPr>
            <a:r>
              <a:rPr lang="en-US" sz="1200" b="1" dirty="0">
                <a:solidFill>
                  <a:srgbClr val="0B0C0C"/>
                </a:solidFill>
                <a:latin typeface="Calibri" pitchFamily="34" charset="0"/>
                <a:ea typeface="Calibri" pitchFamily="34" charset="-122"/>
                <a:cs typeface="Calibri" pitchFamily="34" charset="-120"/>
              </a:rPr>
              <a:t xml:space="preserve">Lyft - Canvas. </a:t>
            </a:r>
            <a:r>
              <a:rPr lang="en-US" sz="1200" dirty="0">
                <a:solidFill>
                  <a:srgbClr val="0B0C0C"/>
                </a:solidFill>
                <a:latin typeface="Calibri" pitchFamily="34" charset="0"/>
                <a:ea typeface="Calibri" pitchFamily="34" charset="-122"/>
                <a:cs typeface="Calibri" pitchFamily="34" charset="-120"/>
              </a:rPr>
              <a:t>Protobuf-defined components interpreted by client renderers; cut experiment delivery from two weeks to two days.</a:t>
            </a:r>
            <a:endParaRPr lang="en-US" sz="1200" dirty="0"/>
          </a:p>
          <a:p>
            <a:pPr marL="0" indent="0">
              <a:spcAft>
                <a:spcPts val="700"/>
              </a:spcAft>
              <a:buNone/>
            </a:pPr>
            <a:r>
              <a:rPr lang="en-US" sz="1200" b="1" dirty="0">
                <a:solidFill>
                  <a:srgbClr val="0B0C0C"/>
                </a:solidFill>
                <a:latin typeface="Calibri" pitchFamily="34" charset="0"/>
                <a:ea typeface="Calibri" pitchFamily="34" charset="-122"/>
                <a:cs typeface="Calibri" pitchFamily="34" charset="-120"/>
              </a:rPr>
              <a:t xml:space="preserve">Shopify - Shop app. </a:t>
            </a:r>
            <a:r>
              <a:rPr lang="en-US" sz="1200" dirty="0">
                <a:solidFill>
                  <a:srgbClr val="0B0C0C"/>
                </a:solidFill>
                <a:latin typeface="Calibri" pitchFamily="34" charset="0"/>
                <a:ea typeface="Calibri" pitchFamily="34" charset="-122"/>
                <a:cs typeface="Calibri" pitchFamily="34" charset="-120"/>
              </a:rPr>
              <a:t>Server-controlled store screen; changes ship without app releases.</a:t>
            </a:r>
            <a:endParaRPr lang="en-US" sz="1200" dirty="0"/>
          </a:p>
          <a:p>
            <a:pPr marL="0" indent="0">
              <a:spcAft>
                <a:spcPts val="700"/>
              </a:spcAft>
              <a:buNone/>
            </a:pPr>
            <a:r>
              <a:rPr lang="en-US" sz="1200" b="1" dirty="0">
                <a:solidFill>
                  <a:srgbClr val="0B0C0C"/>
                </a:solidFill>
                <a:latin typeface="Calibri" pitchFamily="34" charset="0"/>
                <a:ea typeface="Calibri" pitchFamily="34" charset="-122"/>
                <a:cs typeface="Calibri" pitchFamily="34" charset="-120"/>
              </a:rPr>
              <a:t xml:space="preserve">The older root: </a:t>
            </a:r>
            <a:r>
              <a:rPr lang="en-US" sz="1200" dirty="0">
                <a:solidFill>
                  <a:srgbClr val="0B0C0C"/>
                </a:solidFill>
                <a:latin typeface="Calibri" pitchFamily="34" charset="0"/>
                <a:ea typeface="Calibri" pitchFamily="34" charset="-122"/>
                <a:cs typeface="Calibri" pitchFamily="34" charset="-120"/>
              </a:rPr>
              <a:t>server-rendered HTML. The server has always been able to drive the UI; SDUI re-applies this to component-based clients.</a:t>
            </a:r>
            <a:endParaRPr lang="en-US" sz="1200" dirty="0"/>
          </a:p>
        </p:txBody>
      </p:sp>
      <p:sp>
        <p:nvSpPr>
          <p:cNvPr id="7" name="Shape 5"/>
          <p:cNvSpPr/>
          <p:nvPr/>
        </p:nvSpPr>
        <p:spPr>
          <a:xfrm>
            <a:off x="6217920" y="1005840"/>
            <a:ext cx="5394960" cy="1463040"/>
          </a:xfrm>
          <a:prstGeom prst="rect">
            <a:avLst/>
          </a:prstGeom>
          <a:solidFill>
            <a:srgbClr val="F3F2F1"/>
          </a:solidFill>
          <a:ln/>
        </p:spPr>
        <p:txBody>
          <a:bodyPr/>
          <a:lstStyle/>
          <a:p>
            <a:endParaRPr lang="en-US"/>
          </a:p>
        </p:txBody>
      </p:sp>
      <p:sp>
        <p:nvSpPr>
          <p:cNvPr id="8" name="Shape 6"/>
          <p:cNvSpPr/>
          <p:nvPr/>
        </p:nvSpPr>
        <p:spPr>
          <a:xfrm>
            <a:off x="6217920" y="1005840"/>
            <a:ext cx="5394960" cy="54864"/>
          </a:xfrm>
          <a:prstGeom prst="rect">
            <a:avLst/>
          </a:prstGeom>
          <a:solidFill>
            <a:srgbClr val="1D70B8"/>
          </a:solidFill>
          <a:ln/>
        </p:spPr>
        <p:txBody>
          <a:bodyPr/>
          <a:lstStyle/>
          <a:p>
            <a:endParaRPr lang="en-US"/>
          </a:p>
        </p:txBody>
      </p:sp>
      <p:sp>
        <p:nvSpPr>
          <p:cNvPr id="9" name="Text 7"/>
          <p:cNvSpPr/>
          <p:nvPr/>
        </p:nvSpPr>
        <p:spPr>
          <a:xfrm>
            <a:off x="6446520" y="1143000"/>
            <a:ext cx="4937760" cy="320040"/>
          </a:xfrm>
          <a:prstGeom prst="rect">
            <a:avLst/>
          </a:prstGeom>
          <a:noFill/>
          <a:ln/>
        </p:spPr>
        <p:txBody>
          <a:bodyPr wrap="square" lIns="0" tIns="0" rIns="0" bIns="0" rtlCol="0" anchor="ctr"/>
          <a:lstStyle/>
          <a:p>
            <a:pPr marL="0" indent="0">
              <a:buNone/>
            </a:pPr>
            <a:r>
              <a:rPr lang="en-US" sz="1500" b="1" dirty="0">
                <a:solidFill>
                  <a:srgbClr val="0B0C0C"/>
                </a:solidFill>
                <a:latin typeface="Trebuchet MS" pitchFamily="34" charset="0"/>
                <a:ea typeface="Trebuchet MS" pitchFamily="34" charset="-122"/>
                <a:cs typeface="Trebuchet MS" pitchFamily="34" charset="-120"/>
              </a:rPr>
              <a:t>The full concept</a:t>
            </a:r>
            <a:endParaRPr lang="en-US" sz="1500" dirty="0"/>
          </a:p>
        </p:txBody>
      </p:sp>
      <p:sp>
        <p:nvSpPr>
          <p:cNvPr id="10" name="Text 8"/>
          <p:cNvSpPr/>
          <p:nvPr/>
        </p:nvSpPr>
        <p:spPr>
          <a:xfrm>
            <a:off x="6446520" y="1481328"/>
            <a:ext cx="4937760" cy="914400"/>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The server decides what to display - components, layout, content. The client owns how to render, from a library of generic components. UI changes deploy server-side.</a:t>
            </a:r>
            <a:endParaRPr lang="en-US" sz="1250" dirty="0"/>
          </a:p>
        </p:txBody>
      </p:sp>
      <p:sp>
        <p:nvSpPr>
          <p:cNvPr id="11" name="Shape 9"/>
          <p:cNvSpPr/>
          <p:nvPr/>
        </p:nvSpPr>
        <p:spPr>
          <a:xfrm>
            <a:off x="6217920" y="2743200"/>
            <a:ext cx="5394960" cy="1371600"/>
          </a:xfrm>
          <a:prstGeom prst="rect">
            <a:avLst/>
          </a:prstGeom>
          <a:solidFill>
            <a:srgbClr val="EEF7F0"/>
          </a:solidFill>
          <a:ln/>
        </p:spPr>
        <p:txBody>
          <a:bodyPr/>
          <a:lstStyle/>
          <a:p>
            <a:endParaRPr lang="en-US"/>
          </a:p>
        </p:txBody>
      </p:sp>
      <p:sp>
        <p:nvSpPr>
          <p:cNvPr id="12" name="Shape 10"/>
          <p:cNvSpPr/>
          <p:nvPr/>
        </p:nvSpPr>
        <p:spPr>
          <a:xfrm>
            <a:off x="6217920" y="2743200"/>
            <a:ext cx="5394960" cy="54864"/>
          </a:xfrm>
          <a:prstGeom prst="rect">
            <a:avLst/>
          </a:prstGeom>
          <a:solidFill>
            <a:srgbClr val="00703C"/>
          </a:solidFill>
          <a:ln/>
        </p:spPr>
        <p:txBody>
          <a:bodyPr/>
          <a:lstStyle/>
          <a:p>
            <a:endParaRPr lang="en-US"/>
          </a:p>
        </p:txBody>
      </p:sp>
      <p:sp>
        <p:nvSpPr>
          <p:cNvPr id="13" name="Text 11"/>
          <p:cNvSpPr/>
          <p:nvPr/>
        </p:nvSpPr>
        <p:spPr>
          <a:xfrm>
            <a:off x="6446520" y="2880360"/>
            <a:ext cx="4937760" cy="320040"/>
          </a:xfrm>
          <a:prstGeom prst="rect">
            <a:avLst/>
          </a:prstGeom>
          <a:noFill/>
          <a:ln/>
        </p:spPr>
        <p:txBody>
          <a:bodyPr wrap="square" lIns="0" tIns="0" rIns="0" bIns="0" rtlCol="0" anchor="ctr"/>
          <a:lstStyle/>
          <a:p>
            <a:pPr marL="0" indent="0">
              <a:buNone/>
            </a:pPr>
            <a:r>
              <a:rPr lang="en-US" sz="1500" b="1" dirty="0">
                <a:solidFill>
                  <a:srgbClr val="00703C"/>
                </a:solidFill>
                <a:latin typeface="Trebuchet MS" pitchFamily="34" charset="0"/>
                <a:ea typeface="Trebuchet MS" pitchFamily="34" charset="-122"/>
                <a:cs typeface="Trebuchet MS" pitchFamily="34" charset="-120"/>
              </a:rPr>
              <a:t>The smallest step, taken here</a:t>
            </a:r>
            <a:endParaRPr lang="en-US" sz="1500" dirty="0"/>
          </a:p>
        </p:txBody>
      </p:sp>
      <p:sp>
        <p:nvSpPr>
          <p:cNvPr id="14" name="Text 12"/>
          <p:cNvSpPr/>
          <p:nvPr/>
        </p:nvSpPr>
        <p:spPr>
          <a:xfrm>
            <a:off x="6446520" y="3218688"/>
            <a:ext cx="4937760" cy="868680"/>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 xml:space="preserve">The server does not send components. It sends journey understanding - sections, screens, statuses - from </a:t>
            </a:r>
            <a:r>
              <a:rPr lang="en-US" sz="1150" dirty="0">
                <a:solidFill>
                  <a:srgbClr val="003078"/>
                </a:solidFill>
                <a:latin typeface="Consolas" pitchFamily="34" charset="0"/>
                <a:ea typeface="Consolas" pitchFamily="34" charset="-122"/>
                <a:cs typeface="Consolas" pitchFamily="34" charset="-120"/>
              </a:rPr>
              <a:t>POST /api/engine/.../sections</a:t>
            </a:r>
            <a:r>
              <a:rPr lang="en-US" sz="1250" dirty="0">
                <a:solidFill>
                  <a:srgbClr val="0B0C0C"/>
                </a:solidFill>
                <a:latin typeface="Calibri" pitchFamily="34" charset="0"/>
                <a:ea typeface="Calibri" pitchFamily="34" charset="-122"/>
                <a:cs typeface="Calibri" pitchFamily="34" charset="-120"/>
              </a:rPr>
              <a:t>. The client maps that onto its own GOV.UK components.</a:t>
            </a:r>
            <a:endParaRPr lang="en-US" sz="1250" dirty="0"/>
          </a:p>
        </p:txBody>
      </p:sp>
      <p:sp>
        <p:nvSpPr>
          <p:cNvPr id="15" name="Text 13"/>
          <p:cNvSpPr/>
          <p:nvPr/>
        </p:nvSpPr>
        <p:spPr>
          <a:xfrm>
            <a:off x="548640" y="4343400"/>
            <a:ext cx="11064240" cy="292608"/>
          </a:xfrm>
          <a:prstGeom prst="rect">
            <a:avLst/>
          </a:prstGeom>
          <a:noFill/>
          <a:ln/>
        </p:spPr>
        <p:txBody>
          <a:bodyPr wrap="square" lIns="0" tIns="0" rIns="0" bIns="0" rtlCol="0" anchor="ctr"/>
          <a:lstStyle/>
          <a:p>
            <a:pPr marL="0" indent="0">
              <a:buNone/>
            </a:pPr>
            <a:r>
              <a:rPr lang="en-US" sz="1300" b="1" dirty="0">
                <a:solidFill>
                  <a:srgbClr val="0B0C0C"/>
                </a:solidFill>
                <a:latin typeface="Calibri" pitchFamily="34" charset="0"/>
                <a:ea typeface="Calibri" pitchFamily="34" charset="-122"/>
                <a:cs typeface="Calibri" pitchFamily="34" charset="-120"/>
              </a:rPr>
              <a:t>How obligation statuses fold into UI state (first matching rule wins):</a:t>
            </a:r>
            <a:endParaRPr lang="en-US" sz="1300" dirty="0"/>
          </a:p>
        </p:txBody>
      </p:sp>
      <p:sp>
        <p:nvSpPr>
          <p:cNvPr id="16" name="Shape 14"/>
          <p:cNvSpPr/>
          <p:nvPr/>
        </p:nvSpPr>
        <p:spPr>
          <a:xfrm>
            <a:off x="548640" y="4709160"/>
            <a:ext cx="2624328" cy="868680"/>
          </a:xfrm>
          <a:prstGeom prst="rect">
            <a:avLst/>
          </a:prstGeom>
          <a:solidFill>
            <a:srgbClr val="F3F2F1"/>
          </a:solidFill>
          <a:ln/>
        </p:spPr>
        <p:txBody>
          <a:bodyPr/>
          <a:lstStyle/>
          <a:p>
            <a:endParaRPr lang="en-US"/>
          </a:p>
        </p:txBody>
      </p:sp>
      <p:sp>
        <p:nvSpPr>
          <p:cNvPr id="17" name="Text 15"/>
          <p:cNvSpPr/>
          <p:nvPr/>
        </p:nvSpPr>
        <p:spPr>
          <a:xfrm>
            <a:off x="685800" y="4800600"/>
            <a:ext cx="2350008" cy="365760"/>
          </a:xfrm>
          <a:prstGeom prst="rect">
            <a:avLst/>
          </a:prstGeom>
          <a:noFill/>
          <a:ln/>
        </p:spPr>
        <p:txBody>
          <a:bodyPr wrap="square" lIns="0" tIns="0" rIns="0" bIns="0" rtlCol="0" anchor="ctr"/>
          <a:lstStyle/>
          <a:p>
            <a:pPr marL="0" indent="0">
              <a:buNone/>
            </a:pPr>
            <a:r>
              <a:rPr lang="en-US" sz="1150" dirty="0">
                <a:solidFill>
                  <a:srgbClr val="505A5F"/>
                </a:solidFill>
                <a:latin typeface="Calibri" pitchFamily="34" charset="0"/>
                <a:ea typeface="Calibri" pitchFamily="34" charset="-122"/>
                <a:cs typeface="Calibri" pitchFamily="34" charset="-120"/>
              </a:rPr>
              <a:t>any field's obligation unsatisfied</a:t>
            </a:r>
            <a:endParaRPr lang="en-US" sz="1150" dirty="0"/>
          </a:p>
        </p:txBody>
      </p:sp>
      <p:sp>
        <p:nvSpPr>
          <p:cNvPr id="18" name="Text 16"/>
          <p:cNvSpPr/>
          <p:nvPr/>
        </p:nvSpPr>
        <p:spPr>
          <a:xfrm>
            <a:off x="685800" y="5138928"/>
            <a:ext cx="2350008" cy="365760"/>
          </a:xfrm>
          <a:prstGeom prst="rect">
            <a:avLst/>
          </a:prstGeom>
          <a:noFill/>
          <a:ln/>
        </p:spPr>
        <p:txBody>
          <a:bodyPr wrap="square" lIns="0" tIns="0" rIns="0" bIns="0" rtlCol="0" anchor="ctr"/>
          <a:lstStyle/>
          <a:p>
            <a:pPr marL="0" indent="0">
              <a:buNone/>
            </a:pPr>
            <a:r>
              <a:rPr lang="en-US" sz="1300" b="1" dirty="0">
                <a:solidFill>
                  <a:srgbClr val="0B0C0C"/>
                </a:solidFill>
                <a:latin typeface="Consolas" pitchFamily="34" charset="0"/>
                <a:ea typeface="Consolas" pitchFamily="34" charset="-122"/>
                <a:cs typeface="Consolas" pitchFamily="34" charset="-120"/>
              </a:rPr>
              <a:t>incomplete</a:t>
            </a:r>
            <a:endParaRPr lang="en-US" sz="1300" dirty="0"/>
          </a:p>
        </p:txBody>
      </p:sp>
      <p:sp>
        <p:nvSpPr>
          <p:cNvPr id="19" name="Shape 17"/>
          <p:cNvSpPr/>
          <p:nvPr/>
        </p:nvSpPr>
        <p:spPr>
          <a:xfrm>
            <a:off x="3355848" y="4709160"/>
            <a:ext cx="2624328" cy="868680"/>
          </a:xfrm>
          <a:prstGeom prst="rect">
            <a:avLst/>
          </a:prstGeom>
          <a:solidFill>
            <a:srgbClr val="F3F2F1"/>
          </a:solidFill>
          <a:ln/>
        </p:spPr>
        <p:txBody>
          <a:bodyPr/>
          <a:lstStyle/>
          <a:p>
            <a:endParaRPr lang="en-US"/>
          </a:p>
        </p:txBody>
      </p:sp>
      <p:sp>
        <p:nvSpPr>
          <p:cNvPr id="20" name="Text 18"/>
          <p:cNvSpPr/>
          <p:nvPr/>
        </p:nvSpPr>
        <p:spPr>
          <a:xfrm>
            <a:off x="3493008" y="4800600"/>
            <a:ext cx="2350008" cy="365760"/>
          </a:xfrm>
          <a:prstGeom prst="rect">
            <a:avLst/>
          </a:prstGeom>
          <a:noFill/>
          <a:ln/>
        </p:spPr>
        <p:txBody>
          <a:bodyPr wrap="square" lIns="0" tIns="0" rIns="0" bIns="0" rtlCol="0" anchor="ctr"/>
          <a:lstStyle/>
          <a:p>
            <a:pPr marL="0" indent="0">
              <a:buNone/>
            </a:pPr>
            <a:r>
              <a:rPr lang="en-US" sz="1150" dirty="0">
                <a:solidFill>
                  <a:srgbClr val="505A5F"/>
                </a:solidFill>
                <a:latin typeface="Calibri" pitchFamily="34" charset="0"/>
                <a:ea typeface="Calibri" pitchFamily="34" charset="-122"/>
                <a:cs typeface="Calibri" pitchFamily="34" charset="-120"/>
              </a:rPr>
              <a:t>none unsatisfied, any deferred</a:t>
            </a:r>
            <a:endParaRPr lang="en-US" sz="1150" dirty="0"/>
          </a:p>
        </p:txBody>
      </p:sp>
      <p:sp>
        <p:nvSpPr>
          <p:cNvPr id="21" name="Text 19"/>
          <p:cNvSpPr/>
          <p:nvPr/>
        </p:nvSpPr>
        <p:spPr>
          <a:xfrm>
            <a:off x="3493008" y="5138928"/>
            <a:ext cx="2350008" cy="365760"/>
          </a:xfrm>
          <a:prstGeom prst="rect">
            <a:avLst/>
          </a:prstGeom>
          <a:noFill/>
          <a:ln/>
        </p:spPr>
        <p:txBody>
          <a:bodyPr wrap="square" lIns="0" tIns="0" rIns="0" bIns="0" rtlCol="0" anchor="ctr"/>
          <a:lstStyle/>
          <a:p>
            <a:pPr marL="0" indent="0">
              <a:buNone/>
            </a:pPr>
            <a:r>
              <a:rPr lang="en-US" sz="1300" b="1" dirty="0">
                <a:solidFill>
                  <a:srgbClr val="0B0C0C"/>
                </a:solidFill>
                <a:latin typeface="Consolas" pitchFamily="34" charset="0"/>
                <a:ea typeface="Consolas" pitchFamily="34" charset="-122"/>
                <a:cs typeface="Consolas" pitchFamily="34" charset="-120"/>
              </a:rPr>
              <a:t>cannotStartYet</a:t>
            </a:r>
            <a:endParaRPr lang="en-US" sz="1300" dirty="0"/>
          </a:p>
        </p:txBody>
      </p:sp>
      <p:sp>
        <p:nvSpPr>
          <p:cNvPr id="22" name="Shape 20"/>
          <p:cNvSpPr/>
          <p:nvPr/>
        </p:nvSpPr>
        <p:spPr>
          <a:xfrm>
            <a:off x="6163056" y="4709160"/>
            <a:ext cx="2624328" cy="868680"/>
          </a:xfrm>
          <a:prstGeom prst="rect">
            <a:avLst/>
          </a:prstGeom>
          <a:solidFill>
            <a:srgbClr val="F3F2F1"/>
          </a:solidFill>
          <a:ln/>
        </p:spPr>
        <p:txBody>
          <a:bodyPr/>
          <a:lstStyle/>
          <a:p>
            <a:endParaRPr lang="en-US"/>
          </a:p>
        </p:txBody>
      </p:sp>
      <p:sp>
        <p:nvSpPr>
          <p:cNvPr id="23" name="Text 21"/>
          <p:cNvSpPr/>
          <p:nvPr/>
        </p:nvSpPr>
        <p:spPr>
          <a:xfrm>
            <a:off x="6300216" y="4800600"/>
            <a:ext cx="2350008" cy="365760"/>
          </a:xfrm>
          <a:prstGeom prst="rect">
            <a:avLst/>
          </a:prstGeom>
          <a:noFill/>
          <a:ln/>
        </p:spPr>
        <p:txBody>
          <a:bodyPr wrap="square" lIns="0" tIns="0" rIns="0" bIns="0" rtlCol="0" anchor="ctr"/>
          <a:lstStyle/>
          <a:p>
            <a:pPr marL="0" indent="0">
              <a:buNone/>
            </a:pPr>
            <a:r>
              <a:rPr lang="en-US" sz="1150" dirty="0">
                <a:solidFill>
                  <a:srgbClr val="505A5F"/>
                </a:solidFill>
                <a:latin typeface="Calibri" pitchFamily="34" charset="0"/>
                <a:ea typeface="Calibri" pitchFamily="34" charset="-122"/>
                <a:cs typeface="Calibri" pitchFamily="34" charset="-120"/>
              </a:rPr>
              <a:t>every obligation inactive</a:t>
            </a:r>
            <a:endParaRPr lang="en-US" sz="1150" dirty="0"/>
          </a:p>
        </p:txBody>
      </p:sp>
      <p:sp>
        <p:nvSpPr>
          <p:cNvPr id="24" name="Text 22"/>
          <p:cNvSpPr/>
          <p:nvPr/>
        </p:nvSpPr>
        <p:spPr>
          <a:xfrm>
            <a:off x="6300216" y="5138928"/>
            <a:ext cx="2350008" cy="365760"/>
          </a:xfrm>
          <a:prstGeom prst="rect">
            <a:avLst/>
          </a:prstGeom>
          <a:noFill/>
          <a:ln/>
        </p:spPr>
        <p:txBody>
          <a:bodyPr wrap="square" lIns="0" tIns="0" rIns="0" bIns="0" rtlCol="0" anchor="ctr"/>
          <a:lstStyle/>
          <a:p>
            <a:pPr marL="0" indent="0">
              <a:buNone/>
            </a:pPr>
            <a:r>
              <a:rPr lang="en-US" sz="1300" b="1" dirty="0">
                <a:solidFill>
                  <a:srgbClr val="0B0C0C"/>
                </a:solidFill>
                <a:latin typeface="Consolas" pitchFamily="34" charset="0"/>
                <a:ea typeface="Consolas" pitchFamily="34" charset="-122"/>
                <a:cs typeface="Consolas" pitchFamily="34" charset="-120"/>
              </a:rPr>
              <a:t>notApplicable</a:t>
            </a:r>
            <a:endParaRPr lang="en-US" sz="1300" dirty="0"/>
          </a:p>
        </p:txBody>
      </p:sp>
      <p:sp>
        <p:nvSpPr>
          <p:cNvPr id="25" name="Shape 23"/>
          <p:cNvSpPr/>
          <p:nvPr/>
        </p:nvSpPr>
        <p:spPr>
          <a:xfrm>
            <a:off x="8970264" y="4709160"/>
            <a:ext cx="2624328" cy="868680"/>
          </a:xfrm>
          <a:prstGeom prst="rect">
            <a:avLst/>
          </a:prstGeom>
          <a:solidFill>
            <a:srgbClr val="F3F2F1"/>
          </a:solidFill>
          <a:ln/>
        </p:spPr>
        <p:txBody>
          <a:bodyPr/>
          <a:lstStyle/>
          <a:p>
            <a:endParaRPr lang="en-US"/>
          </a:p>
        </p:txBody>
      </p:sp>
      <p:sp>
        <p:nvSpPr>
          <p:cNvPr id="26" name="Text 24"/>
          <p:cNvSpPr/>
          <p:nvPr/>
        </p:nvSpPr>
        <p:spPr>
          <a:xfrm>
            <a:off x="9107424" y="4800600"/>
            <a:ext cx="2350008" cy="365760"/>
          </a:xfrm>
          <a:prstGeom prst="rect">
            <a:avLst/>
          </a:prstGeom>
          <a:noFill/>
          <a:ln/>
        </p:spPr>
        <p:txBody>
          <a:bodyPr wrap="square" lIns="0" tIns="0" rIns="0" bIns="0" rtlCol="0" anchor="ctr"/>
          <a:lstStyle/>
          <a:p>
            <a:pPr marL="0" indent="0">
              <a:buNone/>
            </a:pPr>
            <a:r>
              <a:rPr lang="en-US" sz="1150" dirty="0">
                <a:solidFill>
                  <a:srgbClr val="505A5F"/>
                </a:solidFill>
                <a:latin typeface="Calibri" pitchFamily="34" charset="0"/>
                <a:ea typeface="Calibri" pitchFamily="34" charset="-122"/>
                <a:cs typeface="Calibri" pitchFamily="34" charset="-120"/>
              </a:rPr>
              <a:t>otherwise</a:t>
            </a:r>
            <a:endParaRPr lang="en-US" sz="1150" dirty="0"/>
          </a:p>
        </p:txBody>
      </p:sp>
      <p:sp>
        <p:nvSpPr>
          <p:cNvPr id="27" name="Text 25"/>
          <p:cNvSpPr/>
          <p:nvPr/>
        </p:nvSpPr>
        <p:spPr>
          <a:xfrm>
            <a:off x="9107424" y="5138928"/>
            <a:ext cx="2350008" cy="365760"/>
          </a:xfrm>
          <a:prstGeom prst="rect">
            <a:avLst/>
          </a:prstGeom>
          <a:noFill/>
          <a:ln/>
        </p:spPr>
        <p:txBody>
          <a:bodyPr wrap="square" lIns="0" tIns="0" rIns="0" bIns="0" rtlCol="0" anchor="ctr"/>
          <a:lstStyle/>
          <a:p>
            <a:pPr marL="0" indent="0">
              <a:buNone/>
            </a:pPr>
            <a:r>
              <a:rPr lang="en-US" sz="1300" b="1" dirty="0">
                <a:solidFill>
                  <a:srgbClr val="0B0C0C"/>
                </a:solidFill>
                <a:latin typeface="Consolas" pitchFamily="34" charset="0"/>
                <a:ea typeface="Consolas" pitchFamily="34" charset="-122"/>
                <a:cs typeface="Consolas" pitchFamily="34" charset="-120"/>
              </a:rPr>
              <a:t>complete</a:t>
            </a:r>
            <a:endParaRPr lang="en-US" sz="1300" dirty="0"/>
          </a:p>
        </p:txBody>
      </p:sp>
      <p:sp>
        <p:nvSpPr>
          <p:cNvPr id="28" name="Shape 26"/>
          <p:cNvSpPr/>
          <p:nvPr/>
        </p:nvSpPr>
        <p:spPr>
          <a:xfrm>
            <a:off x="548640" y="5870448"/>
            <a:ext cx="11064240" cy="548640"/>
          </a:xfrm>
          <a:prstGeom prst="rect">
            <a:avLst/>
          </a:prstGeom>
          <a:solidFill>
            <a:srgbClr val="0B0C0C"/>
          </a:solidFill>
          <a:ln/>
        </p:spPr>
        <p:txBody>
          <a:bodyPr/>
          <a:lstStyle/>
          <a:p>
            <a:endParaRPr lang="en-US"/>
          </a:p>
        </p:txBody>
      </p:sp>
      <p:sp>
        <p:nvSpPr>
          <p:cNvPr id="29" name="Text 27"/>
          <p:cNvSpPr/>
          <p:nvPr/>
        </p:nvSpPr>
        <p:spPr>
          <a:xfrm>
            <a:off x="777240" y="5870448"/>
            <a:ext cx="10607040" cy="54864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The same evaluation gates submission and drives the task list - the two cannot diverge.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02920"/>
          </a:xfrm>
          <a:prstGeom prst="rect">
            <a:avLst/>
          </a:prstGeom>
          <a:noFill/>
          <a:ln/>
        </p:spPr>
        <p:txBody>
          <a:bodyPr wrap="square" lIns="0" tIns="0" rIns="0" bIns="0" rtlCol="0" anchor="ctr"/>
          <a:lstStyle/>
          <a:p>
            <a:pPr marL="0" indent="0">
              <a:buNone/>
            </a:pPr>
            <a:r>
              <a:rPr lang="en-US" sz="2800" b="1" dirty="0">
                <a:solidFill>
                  <a:srgbClr val="0B0C0C"/>
                </a:solidFill>
                <a:latin typeface="Trebuchet MS" pitchFamily="34" charset="0"/>
                <a:ea typeface="Trebuchet MS" pitchFamily="34" charset="-122"/>
                <a:cs typeface="Trebuchet MS" pitchFamily="34" charset="-120"/>
              </a:rPr>
              <a:t>What this enables: the journey without the build</a:t>
            </a:r>
            <a:endParaRPr lang="en-US" sz="2800" dirty="0"/>
          </a:p>
        </p:txBody>
      </p:sp>
      <p:sp>
        <p:nvSpPr>
          <p:cNvPr id="3" name="Text 1"/>
          <p:cNvSpPr/>
          <p:nvPr/>
        </p:nvSpPr>
        <p:spPr>
          <a:xfrm>
            <a:off x="548640" y="804672"/>
            <a:ext cx="11064240" cy="365760"/>
          </a:xfrm>
          <a:prstGeom prst="rect">
            <a:avLst/>
          </a:prstGeom>
          <a:noFill/>
          <a:ln/>
        </p:spPr>
        <p:txBody>
          <a:bodyPr wrap="square" lIns="0" tIns="0" rIns="0" bIns="0" rtlCol="0" anchor="ctr"/>
          <a:lstStyle/>
          <a:p>
            <a:pPr marL="0" indent="0">
              <a:buNone/>
            </a:pPr>
            <a:r>
              <a:rPr lang="en-US" sz="1400" dirty="0">
                <a:solidFill>
                  <a:srgbClr val="505A5F"/>
                </a:solidFill>
                <a:latin typeface="Calibri" pitchFamily="34" charset="0"/>
                <a:ea typeface="Calibri" pitchFamily="34" charset="-122"/>
                <a:cs typeface="Calibri" pitchFamily="34" charset="-120"/>
              </a:rPr>
              <a:t>A journey's configuration plus a committed scenario set is enough to walk it end-to-end. The UI follows the engine's output.</a:t>
            </a:r>
            <a:endParaRPr lang="en-US" sz="1400" dirty="0"/>
          </a:p>
        </p:txBody>
      </p:sp>
      <p:sp>
        <p:nvSpPr>
          <p:cNvPr id="4" name="Shape 2"/>
          <p:cNvSpPr/>
          <p:nvPr/>
        </p:nvSpPr>
        <p:spPr>
          <a:xfrm>
            <a:off x="548640" y="1371600"/>
            <a:ext cx="5394960" cy="1920240"/>
          </a:xfrm>
          <a:prstGeom prst="rect">
            <a:avLst/>
          </a:prstGeom>
          <a:solidFill>
            <a:srgbClr val="F3F2F1"/>
          </a:solidFill>
          <a:ln/>
        </p:spPr>
        <p:txBody>
          <a:bodyPr/>
          <a:lstStyle/>
          <a:p>
            <a:endParaRPr lang="en-US"/>
          </a:p>
        </p:txBody>
      </p:sp>
      <p:sp>
        <p:nvSpPr>
          <p:cNvPr id="5" name="Shape 3"/>
          <p:cNvSpPr/>
          <p:nvPr/>
        </p:nvSpPr>
        <p:spPr>
          <a:xfrm>
            <a:off x="548640" y="1371600"/>
            <a:ext cx="5394960" cy="54864"/>
          </a:xfrm>
          <a:prstGeom prst="rect">
            <a:avLst/>
          </a:prstGeom>
          <a:solidFill>
            <a:srgbClr val="00703C"/>
          </a:solidFill>
          <a:ln/>
        </p:spPr>
        <p:txBody>
          <a:bodyPr/>
          <a:lstStyle/>
          <a:p>
            <a:endParaRPr lang="en-US"/>
          </a:p>
        </p:txBody>
      </p:sp>
      <p:sp>
        <p:nvSpPr>
          <p:cNvPr id="6" name="Text 4"/>
          <p:cNvSpPr/>
          <p:nvPr/>
        </p:nvSpPr>
        <p:spPr>
          <a:xfrm>
            <a:off x="777240" y="1508760"/>
            <a:ext cx="4937760" cy="347472"/>
          </a:xfrm>
          <a:prstGeom prst="rect">
            <a:avLst/>
          </a:prstGeom>
          <a:noFill/>
          <a:ln/>
        </p:spPr>
        <p:txBody>
          <a:bodyPr wrap="square" lIns="0" tIns="0" rIns="0" bIns="0" rtlCol="0" anchor="ctr"/>
          <a:lstStyle/>
          <a:p>
            <a:pPr marL="0" indent="0">
              <a:buNone/>
            </a:pPr>
            <a:r>
              <a:rPr lang="en-US" sz="1500" b="1" dirty="0">
                <a:solidFill>
                  <a:srgbClr val="0B0C0C"/>
                </a:solidFill>
                <a:latin typeface="Trebuchet MS" pitchFamily="34" charset="0"/>
                <a:ea typeface="Trebuchet MS" pitchFamily="34" charset="-122"/>
                <a:cs typeface="Trebuchet MS" pitchFamily="34" charset="-120"/>
              </a:rPr>
              <a:t>Review without building</a:t>
            </a:r>
            <a:endParaRPr lang="en-US" sz="1500" dirty="0"/>
          </a:p>
        </p:txBody>
      </p:sp>
      <p:sp>
        <p:nvSpPr>
          <p:cNvPr id="7" name="Text 5"/>
          <p:cNvSpPr/>
          <p:nvPr/>
        </p:nvSpPr>
        <p:spPr>
          <a:xfrm>
            <a:off x="777240" y="1901952"/>
            <a:ext cx="4937760" cy="1280160"/>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A journey is reviewable from its three JSON files: journey.json shows the structure, obligations.json the rules and their rationales, refdata.json the data those rules read. A reader who holds these can review a journey design.</a:t>
            </a:r>
            <a:endParaRPr lang="en-US" sz="1250" dirty="0"/>
          </a:p>
        </p:txBody>
      </p:sp>
      <p:sp>
        <p:nvSpPr>
          <p:cNvPr id="8" name="Shape 6"/>
          <p:cNvSpPr/>
          <p:nvPr/>
        </p:nvSpPr>
        <p:spPr>
          <a:xfrm>
            <a:off x="6217920" y="1371600"/>
            <a:ext cx="5394960" cy="1920240"/>
          </a:xfrm>
          <a:prstGeom prst="rect">
            <a:avLst/>
          </a:prstGeom>
          <a:solidFill>
            <a:srgbClr val="F3F2F1"/>
          </a:solidFill>
          <a:ln/>
        </p:spPr>
        <p:txBody>
          <a:bodyPr/>
          <a:lstStyle/>
          <a:p>
            <a:endParaRPr lang="en-US"/>
          </a:p>
        </p:txBody>
      </p:sp>
      <p:sp>
        <p:nvSpPr>
          <p:cNvPr id="9" name="Shape 7"/>
          <p:cNvSpPr/>
          <p:nvPr/>
        </p:nvSpPr>
        <p:spPr>
          <a:xfrm>
            <a:off x="6217920" y="1371600"/>
            <a:ext cx="5394960" cy="54864"/>
          </a:xfrm>
          <a:prstGeom prst="rect">
            <a:avLst/>
          </a:prstGeom>
          <a:solidFill>
            <a:srgbClr val="00703C"/>
          </a:solidFill>
          <a:ln/>
        </p:spPr>
        <p:txBody>
          <a:bodyPr/>
          <a:lstStyle/>
          <a:p>
            <a:endParaRPr lang="en-US"/>
          </a:p>
        </p:txBody>
      </p:sp>
      <p:sp>
        <p:nvSpPr>
          <p:cNvPr id="10" name="Text 8"/>
          <p:cNvSpPr/>
          <p:nvPr/>
        </p:nvSpPr>
        <p:spPr>
          <a:xfrm>
            <a:off x="6446520" y="1508760"/>
            <a:ext cx="4937760" cy="347472"/>
          </a:xfrm>
          <a:prstGeom prst="rect">
            <a:avLst/>
          </a:prstGeom>
          <a:noFill/>
          <a:ln/>
        </p:spPr>
        <p:txBody>
          <a:bodyPr wrap="square" lIns="0" tIns="0" rIns="0" bIns="0" rtlCol="0" anchor="ctr"/>
          <a:lstStyle/>
          <a:p>
            <a:pPr marL="0" indent="0">
              <a:buNone/>
            </a:pPr>
            <a:r>
              <a:rPr lang="en-US" sz="1500" b="1" dirty="0">
                <a:solidFill>
                  <a:srgbClr val="0B0C0C"/>
                </a:solidFill>
                <a:latin typeface="Trebuchet MS" pitchFamily="34" charset="0"/>
                <a:ea typeface="Trebuchet MS" pitchFamily="34" charset="-122"/>
                <a:cs typeface="Trebuchet MS" pitchFamily="34" charset="-120"/>
              </a:rPr>
              <a:t>Execute without building</a:t>
            </a:r>
            <a:endParaRPr lang="en-US" sz="1500" dirty="0"/>
          </a:p>
        </p:txBody>
      </p:sp>
      <p:sp>
        <p:nvSpPr>
          <p:cNvPr id="11" name="Text 9"/>
          <p:cNvSpPr/>
          <p:nvPr/>
        </p:nvSpPr>
        <p:spPr>
          <a:xfrm>
            <a:off x="6446520" y="1901952"/>
            <a:ext cx="4937760" cy="1280160"/>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Scenario sets run against the engine programmatically: each scenario is a notification fixture with expected statuses and submittability. Every scenario × journey × trace mode is also asserted over HTTP by the parity test - the facade and the wire cannot drift.</a:t>
            </a:r>
            <a:endParaRPr lang="en-US" sz="1250" dirty="0"/>
          </a:p>
        </p:txBody>
      </p:sp>
      <p:sp>
        <p:nvSpPr>
          <p:cNvPr id="12" name="Shape 10"/>
          <p:cNvSpPr/>
          <p:nvPr/>
        </p:nvSpPr>
        <p:spPr>
          <a:xfrm>
            <a:off x="548640" y="3611880"/>
            <a:ext cx="5394960" cy="1920240"/>
          </a:xfrm>
          <a:prstGeom prst="rect">
            <a:avLst/>
          </a:prstGeom>
          <a:solidFill>
            <a:srgbClr val="F3F2F1"/>
          </a:solidFill>
          <a:ln/>
        </p:spPr>
        <p:txBody>
          <a:bodyPr/>
          <a:lstStyle/>
          <a:p>
            <a:endParaRPr lang="en-US"/>
          </a:p>
        </p:txBody>
      </p:sp>
      <p:sp>
        <p:nvSpPr>
          <p:cNvPr id="13" name="Shape 11"/>
          <p:cNvSpPr/>
          <p:nvPr/>
        </p:nvSpPr>
        <p:spPr>
          <a:xfrm>
            <a:off x="548640" y="3611880"/>
            <a:ext cx="5394960" cy="54864"/>
          </a:xfrm>
          <a:prstGeom prst="rect">
            <a:avLst/>
          </a:prstGeom>
          <a:solidFill>
            <a:srgbClr val="00703C"/>
          </a:solidFill>
          <a:ln/>
        </p:spPr>
        <p:txBody>
          <a:bodyPr/>
          <a:lstStyle/>
          <a:p>
            <a:endParaRPr lang="en-US"/>
          </a:p>
        </p:txBody>
      </p:sp>
      <p:sp>
        <p:nvSpPr>
          <p:cNvPr id="14" name="Text 12"/>
          <p:cNvSpPr/>
          <p:nvPr/>
        </p:nvSpPr>
        <p:spPr>
          <a:xfrm>
            <a:off x="777240" y="3749040"/>
            <a:ext cx="4937760" cy="347472"/>
          </a:xfrm>
          <a:prstGeom prst="rect">
            <a:avLst/>
          </a:prstGeom>
          <a:noFill/>
          <a:ln/>
        </p:spPr>
        <p:txBody>
          <a:bodyPr wrap="square" lIns="0" tIns="0" rIns="0" bIns="0" rtlCol="0" anchor="ctr"/>
          <a:lstStyle/>
          <a:p>
            <a:pPr marL="0" indent="0">
              <a:buNone/>
            </a:pPr>
            <a:r>
              <a:rPr lang="en-US" sz="1500" b="1" dirty="0">
                <a:solidFill>
                  <a:srgbClr val="0B0C0C"/>
                </a:solidFill>
                <a:latin typeface="Trebuchet MS" pitchFamily="34" charset="0"/>
                <a:ea typeface="Trebuchet MS" pitchFamily="34" charset="-122"/>
                <a:cs typeface="Trebuchet MS" pitchFamily="34" charset="-120"/>
              </a:rPr>
              <a:t>Variance is queryable</a:t>
            </a:r>
            <a:endParaRPr lang="en-US" sz="1500" dirty="0"/>
          </a:p>
        </p:txBody>
      </p:sp>
      <p:sp>
        <p:nvSpPr>
          <p:cNvPr id="15" name="Text 13"/>
          <p:cNvSpPr/>
          <p:nvPr/>
        </p:nvSpPr>
        <p:spPr>
          <a:xfrm>
            <a:off x="777240" y="4142232"/>
            <a:ext cx="4937760" cy="1280160"/>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Page variance and content variance are answered by endpoints, not by rendering: /page-variance returns which pages apply for a commodity; /sections returns which screens and fields apply and their statuses - before any field is filled in.</a:t>
            </a:r>
            <a:endParaRPr lang="en-US" sz="1250" dirty="0"/>
          </a:p>
        </p:txBody>
      </p:sp>
      <p:sp>
        <p:nvSpPr>
          <p:cNvPr id="16" name="Shape 14"/>
          <p:cNvSpPr/>
          <p:nvPr/>
        </p:nvSpPr>
        <p:spPr>
          <a:xfrm>
            <a:off x="6217920" y="3611880"/>
            <a:ext cx="5394960" cy="1920240"/>
          </a:xfrm>
          <a:prstGeom prst="rect">
            <a:avLst/>
          </a:prstGeom>
          <a:solidFill>
            <a:srgbClr val="F3F2F1"/>
          </a:solidFill>
          <a:ln/>
        </p:spPr>
        <p:txBody>
          <a:bodyPr/>
          <a:lstStyle/>
          <a:p>
            <a:endParaRPr lang="en-US"/>
          </a:p>
        </p:txBody>
      </p:sp>
      <p:sp>
        <p:nvSpPr>
          <p:cNvPr id="17" name="Shape 15"/>
          <p:cNvSpPr/>
          <p:nvPr/>
        </p:nvSpPr>
        <p:spPr>
          <a:xfrm>
            <a:off x="6217920" y="3611880"/>
            <a:ext cx="5394960" cy="54864"/>
          </a:xfrm>
          <a:prstGeom prst="rect">
            <a:avLst/>
          </a:prstGeom>
          <a:solidFill>
            <a:srgbClr val="00703C"/>
          </a:solidFill>
          <a:ln/>
        </p:spPr>
        <p:txBody>
          <a:bodyPr/>
          <a:lstStyle/>
          <a:p>
            <a:endParaRPr lang="en-US"/>
          </a:p>
        </p:txBody>
      </p:sp>
      <p:sp>
        <p:nvSpPr>
          <p:cNvPr id="18" name="Text 16"/>
          <p:cNvSpPr/>
          <p:nvPr/>
        </p:nvSpPr>
        <p:spPr>
          <a:xfrm>
            <a:off x="6446520" y="3749040"/>
            <a:ext cx="4937760" cy="347472"/>
          </a:xfrm>
          <a:prstGeom prst="rect">
            <a:avLst/>
          </a:prstGeom>
          <a:noFill/>
          <a:ln/>
        </p:spPr>
        <p:txBody>
          <a:bodyPr wrap="square" lIns="0" tIns="0" rIns="0" bIns="0" rtlCol="0" anchor="ctr"/>
          <a:lstStyle/>
          <a:p>
            <a:pPr marL="0" indent="0">
              <a:buNone/>
            </a:pPr>
            <a:r>
              <a:rPr lang="en-US" sz="1500" b="1" dirty="0">
                <a:solidFill>
                  <a:srgbClr val="0B0C0C"/>
                </a:solidFill>
                <a:latin typeface="Trebuchet MS" pitchFamily="34" charset="0"/>
                <a:ea typeface="Trebuchet MS" pitchFamily="34" charset="-122"/>
                <a:cs typeface="Trebuchet MS" pitchFamily="34" charset="-120"/>
              </a:rPr>
              <a:t>Sign-off through configuration</a:t>
            </a:r>
            <a:endParaRPr lang="en-US" sz="1500" dirty="0"/>
          </a:p>
        </p:txBody>
      </p:sp>
      <p:sp>
        <p:nvSpPr>
          <p:cNvPr id="19" name="Text 17"/>
          <p:cNvSpPr/>
          <p:nvPr/>
        </p:nvSpPr>
        <p:spPr>
          <a:xfrm>
            <a:off x="6446520" y="4142232"/>
            <a:ext cx="4937760" cy="1280160"/>
          </a:xfrm>
          <a:prstGeom prst="rect">
            <a:avLst/>
          </a:prstGeom>
          <a:noFill/>
          <a:ln/>
        </p:spPr>
        <p:txBody>
          <a:bodyPr wrap="square" lIns="0" tIns="0" rIns="0" bIns="0" rtlCol="0" anchor="t"/>
          <a:lstStyle/>
          <a:p>
            <a:pPr marL="0" indent="0">
              <a:buNone/>
            </a:pPr>
            <a:r>
              <a:rPr lang="en-US" sz="1250" dirty="0">
                <a:solidFill>
                  <a:srgbClr val="0B0C0C"/>
                </a:solidFill>
                <a:latin typeface="Calibri" pitchFamily="34" charset="0"/>
                <a:ea typeface="Calibri" pitchFamily="34" charset="-122"/>
                <a:cs typeface="Calibri" pitchFamily="34" charset="-120"/>
              </a:rPr>
              <a:t>A new journey can be reviewed and signed off through configuration and scenarios alone. Adding a journey requires no engine change; the third adapter is a directory, not a development effort in the engine.</a:t>
            </a:r>
            <a:endParaRPr lang="en-US" sz="1250" dirty="0"/>
          </a:p>
        </p:txBody>
      </p:sp>
      <p:sp>
        <p:nvSpPr>
          <p:cNvPr id="20" name="Text 18"/>
          <p:cNvSpPr/>
          <p:nvPr/>
        </p:nvSpPr>
        <p:spPr>
          <a:xfrm>
            <a:off x="548640" y="5760720"/>
            <a:ext cx="11064240" cy="365760"/>
          </a:xfrm>
          <a:prstGeom prst="rect">
            <a:avLst/>
          </a:prstGeom>
          <a:noFill/>
          <a:ln/>
        </p:spPr>
        <p:txBody>
          <a:bodyPr wrap="square" lIns="0" tIns="0" rIns="0" bIns="0" rtlCol="0" anchor="ctr"/>
          <a:lstStyle/>
          <a:p>
            <a:pPr marL="0" indent="0">
              <a:buNone/>
            </a:pPr>
            <a:r>
              <a:rPr lang="en-US" sz="1300" i="1" dirty="0">
                <a:solidFill>
                  <a:srgbClr val="505A5F"/>
                </a:solidFill>
                <a:latin typeface="Calibri" pitchFamily="34" charset="0"/>
                <a:ea typeface="Calibri" pitchFamily="34" charset="-122"/>
                <a:cs typeface="Calibri" pitchFamily="34" charset="-120"/>
              </a:rPr>
              <a:t>Scenario sets are committed alongside the configuration; verification runs in CI like any other test suite.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02920"/>
          </a:xfrm>
          <a:prstGeom prst="rect">
            <a:avLst/>
          </a:prstGeom>
          <a:noFill/>
          <a:ln/>
        </p:spPr>
        <p:txBody>
          <a:bodyPr wrap="square" lIns="0" tIns="0" rIns="0" bIns="0" rtlCol="0" anchor="ctr"/>
          <a:lstStyle/>
          <a:p>
            <a:pPr marL="0" indent="0">
              <a:buNone/>
            </a:pPr>
            <a:r>
              <a:rPr lang="en-US" sz="2800" b="1" dirty="0">
                <a:solidFill>
                  <a:srgbClr val="0B0C0C"/>
                </a:solidFill>
                <a:latin typeface="Trebuchet MS" pitchFamily="34" charset="0"/>
                <a:ea typeface="Trebuchet MS" pitchFamily="34" charset="-122"/>
                <a:cs typeface="Trebuchet MS" pitchFamily="34" charset="-120"/>
              </a:rPr>
              <a:t>Deployment path</a:t>
            </a:r>
            <a:endParaRPr lang="en-US" sz="2800" dirty="0"/>
          </a:p>
        </p:txBody>
      </p:sp>
      <p:sp>
        <p:nvSpPr>
          <p:cNvPr id="3" name="Text 1"/>
          <p:cNvSpPr/>
          <p:nvPr/>
        </p:nvSpPr>
        <p:spPr>
          <a:xfrm>
            <a:off x="548640" y="804672"/>
            <a:ext cx="11064240" cy="320040"/>
          </a:xfrm>
          <a:prstGeom prst="rect">
            <a:avLst/>
          </a:prstGeom>
          <a:noFill/>
          <a:ln/>
        </p:spPr>
        <p:txBody>
          <a:bodyPr wrap="square" lIns="0" tIns="0" rIns="0" bIns="0" rtlCol="0" anchor="ctr"/>
          <a:lstStyle/>
          <a:p>
            <a:pPr marL="0" indent="0">
              <a:buNone/>
            </a:pPr>
            <a:r>
              <a:rPr lang="en-US" sz="1400" dirty="0">
                <a:solidFill>
                  <a:srgbClr val="505A5F"/>
                </a:solidFill>
                <a:latin typeface="Calibri" pitchFamily="34" charset="0"/>
                <a:ea typeface="Calibri" pitchFamily="34" charset="-122"/>
                <a:cs typeface="Calibri" pitchFamily="34" charset="-120"/>
              </a:rPr>
              <a:t>The HTTP seam is already in place. Moving to a service is a deployment change, not a redesign.</a:t>
            </a:r>
            <a:endParaRPr lang="en-US" sz="1400" dirty="0"/>
          </a:p>
        </p:txBody>
      </p:sp>
      <p:sp>
        <p:nvSpPr>
          <p:cNvPr id="4" name="Shape 2"/>
          <p:cNvSpPr/>
          <p:nvPr/>
        </p:nvSpPr>
        <p:spPr>
          <a:xfrm>
            <a:off x="548640" y="1371600"/>
            <a:ext cx="5394960" cy="3566160"/>
          </a:xfrm>
          <a:prstGeom prst="rect">
            <a:avLst/>
          </a:prstGeom>
          <a:solidFill>
            <a:srgbClr val="F3F2F1"/>
          </a:solidFill>
          <a:ln/>
        </p:spPr>
        <p:txBody>
          <a:bodyPr/>
          <a:lstStyle/>
          <a:p>
            <a:endParaRPr lang="en-US"/>
          </a:p>
        </p:txBody>
      </p:sp>
      <p:sp>
        <p:nvSpPr>
          <p:cNvPr id="5" name="Shape 3"/>
          <p:cNvSpPr/>
          <p:nvPr/>
        </p:nvSpPr>
        <p:spPr>
          <a:xfrm>
            <a:off x="548640" y="1371600"/>
            <a:ext cx="5394960" cy="64008"/>
          </a:xfrm>
          <a:prstGeom prst="rect">
            <a:avLst/>
          </a:prstGeom>
          <a:solidFill>
            <a:srgbClr val="00703C"/>
          </a:solidFill>
          <a:ln/>
        </p:spPr>
        <p:txBody>
          <a:bodyPr/>
          <a:lstStyle/>
          <a:p>
            <a:endParaRPr lang="en-US"/>
          </a:p>
        </p:txBody>
      </p:sp>
      <p:sp>
        <p:nvSpPr>
          <p:cNvPr id="6" name="Text 4"/>
          <p:cNvSpPr/>
          <p:nvPr/>
        </p:nvSpPr>
        <p:spPr>
          <a:xfrm>
            <a:off x="777240" y="1517904"/>
            <a:ext cx="4937760" cy="365760"/>
          </a:xfrm>
          <a:prstGeom prst="rect">
            <a:avLst/>
          </a:prstGeom>
          <a:noFill/>
          <a:ln/>
        </p:spPr>
        <p:txBody>
          <a:bodyPr wrap="square" lIns="0" tIns="0" rIns="0" bIns="0" rtlCol="0" anchor="ctr"/>
          <a:lstStyle/>
          <a:p>
            <a:pPr marL="0" indent="0">
              <a:buNone/>
            </a:pPr>
            <a:r>
              <a:rPr lang="en-US" sz="1600" b="1" dirty="0">
                <a:solidFill>
                  <a:srgbClr val="00703C"/>
                </a:solidFill>
                <a:latin typeface="Trebuchet MS" pitchFamily="34" charset="0"/>
                <a:ea typeface="Trebuchet MS" pitchFamily="34" charset="-122"/>
                <a:cs typeface="Trebuchet MS" pitchFamily="34" charset="-120"/>
              </a:rPr>
              <a:t>Ships today</a:t>
            </a:r>
            <a:endParaRPr lang="en-US" sz="1600" dirty="0"/>
          </a:p>
        </p:txBody>
      </p:sp>
      <p:sp>
        <p:nvSpPr>
          <p:cNvPr id="7" name="Text 5"/>
          <p:cNvSpPr/>
          <p:nvPr/>
        </p:nvSpPr>
        <p:spPr>
          <a:xfrm>
            <a:off x="777240" y="1938528"/>
            <a:ext cx="4983480" cy="2880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0B0C0C"/>
                </a:solidFill>
                <a:latin typeface="Calibri" pitchFamily="34" charset="0"/>
                <a:ea typeface="Calibri" pitchFamily="34" charset="-122"/>
                <a:cs typeface="Calibri" pitchFamily="34" charset="-120"/>
              </a:rPr>
              <a:t>One engine, two journeys. No journey-specific code in engine/; a third adapter requires zero engine changes.</a:t>
            </a:r>
            <a:endParaRPr lang="en-US" sz="1250" dirty="0"/>
          </a:p>
          <a:p>
            <a:pPr marL="342900" indent="-342900">
              <a:spcAft>
                <a:spcPts val="800"/>
              </a:spcAft>
              <a:buSzPct val="100000"/>
              <a:buChar char="•"/>
            </a:pPr>
            <a:r>
              <a:rPr lang="en-US" sz="1250" dirty="0">
                <a:solidFill>
                  <a:srgbClr val="0B0C0C"/>
                </a:solidFill>
                <a:latin typeface="Calibri" pitchFamily="34" charset="0"/>
                <a:ea typeface="Calibri" pitchFamily="34" charset="-122"/>
                <a:cs typeface="Calibri" pitchFamily="34" charset="-120"/>
              </a:rPr>
              <a:t>Every page render reaches the backend over HTTP - visible in the browser's Network tab.</a:t>
            </a:r>
            <a:endParaRPr lang="en-US" sz="1250" dirty="0"/>
          </a:p>
          <a:p>
            <a:pPr marL="342900" indent="-342900">
              <a:spcAft>
                <a:spcPts val="800"/>
              </a:spcAft>
              <a:buSzPct val="100000"/>
              <a:buChar char="•"/>
            </a:pPr>
            <a:r>
              <a:rPr lang="en-US" sz="1250" dirty="0">
                <a:solidFill>
                  <a:srgbClr val="0B0C0C"/>
                </a:solidFill>
                <a:latin typeface="Calibri" pitchFamily="34" charset="0"/>
                <a:ea typeface="Calibri" pitchFamily="34" charset="-122"/>
                <a:cs typeface="Calibri" pitchFamily="34" charset="-120"/>
              </a:rPr>
              <a:t>Boundaries are machine-enforced: kernel-isolation test and transitive-import test run in CI.</a:t>
            </a:r>
            <a:endParaRPr lang="en-US" sz="1250" dirty="0"/>
          </a:p>
          <a:p>
            <a:pPr marL="342900" indent="-342900">
              <a:spcAft>
                <a:spcPts val="800"/>
              </a:spcAft>
              <a:buSzPct val="100000"/>
              <a:buChar char="•"/>
            </a:pPr>
            <a:r>
              <a:rPr lang="en-US" sz="1250" dirty="0">
                <a:solidFill>
                  <a:srgbClr val="0B0C0C"/>
                </a:solidFill>
                <a:latin typeface="Calibri" pitchFamily="34" charset="0"/>
                <a:ea typeface="Calibri" pitchFamily="34" charset="-122"/>
                <a:cs typeface="Calibri" pitchFamily="34" charset="-120"/>
              </a:rPr>
              <a:t>Runtime journey switching: the picker swaps the active journey per request against the same surface.</a:t>
            </a:r>
            <a:endParaRPr lang="en-US" sz="1250" dirty="0"/>
          </a:p>
          <a:p>
            <a:pPr marL="342900" indent="-342900">
              <a:spcAft>
                <a:spcPts val="800"/>
              </a:spcAft>
              <a:buSzPct val="100000"/>
              <a:buChar char="•"/>
            </a:pPr>
            <a:r>
              <a:rPr lang="en-US" sz="1250" dirty="0">
                <a:solidFill>
                  <a:srgbClr val="0B0C0C"/>
                </a:solidFill>
                <a:latin typeface="Calibri" pitchFamily="34" charset="0"/>
                <a:ea typeface="Calibri" pitchFamily="34" charset="-122"/>
                <a:cs typeface="Calibri" pitchFamily="34" charset="-120"/>
              </a:rPr>
              <a:t>The UI could be deployed separately today by pointing apiBaseUrl at a remote backend - no code change.</a:t>
            </a:r>
            <a:endParaRPr lang="en-US" sz="1250" dirty="0"/>
          </a:p>
        </p:txBody>
      </p:sp>
      <p:sp>
        <p:nvSpPr>
          <p:cNvPr id="8" name="Shape 6"/>
          <p:cNvSpPr/>
          <p:nvPr/>
        </p:nvSpPr>
        <p:spPr>
          <a:xfrm>
            <a:off x="6217920" y="1371600"/>
            <a:ext cx="5394960" cy="3566160"/>
          </a:xfrm>
          <a:prstGeom prst="rect">
            <a:avLst/>
          </a:prstGeom>
          <a:solidFill>
            <a:srgbClr val="0B0C0C"/>
          </a:solidFill>
          <a:ln/>
        </p:spPr>
        <p:txBody>
          <a:bodyPr/>
          <a:lstStyle/>
          <a:p>
            <a:endParaRPr lang="en-US"/>
          </a:p>
        </p:txBody>
      </p:sp>
      <p:sp>
        <p:nvSpPr>
          <p:cNvPr id="9" name="Text 7"/>
          <p:cNvSpPr/>
          <p:nvPr/>
        </p:nvSpPr>
        <p:spPr>
          <a:xfrm>
            <a:off x="6446520" y="1517904"/>
            <a:ext cx="4937760" cy="365760"/>
          </a:xfrm>
          <a:prstGeom prst="rect">
            <a:avLst/>
          </a:prstGeom>
          <a:noFill/>
          <a:ln/>
        </p:spPr>
        <p:txBody>
          <a:bodyPr wrap="square" lIns="0" tIns="0" rIns="0" bIns="0" rtlCol="0" anchor="ctr"/>
          <a:lstStyle/>
          <a:p>
            <a:pPr marL="0" indent="0">
              <a:buNone/>
            </a:pPr>
            <a:r>
              <a:rPr lang="en-US" sz="1600" b="1" dirty="0">
                <a:solidFill>
                  <a:srgbClr val="F47738"/>
                </a:solidFill>
                <a:latin typeface="Trebuchet MS" pitchFamily="34" charset="0"/>
                <a:ea typeface="Trebuchet MS" pitchFamily="34" charset="-122"/>
                <a:cs typeface="Trebuchet MS" pitchFamily="34" charset="-120"/>
              </a:rPr>
              <a:t>A journey-configuration service adds</a:t>
            </a:r>
            <a:endParaRPr lang="en-US" sz="1600" dirty="0"/>
          </a:p>
        </p:txBody>
      </p:sp>
      <p:sp>
        <p:nvSpPr>
          <p:cNvPr id="10" name="Text 8"/>
          <p:cNvSpPr/>
          <p:nvPr/>
        </p:nvSpPr>
        <p:spPr>
          <a:xfrm>
            <a:off x="6446520" y="1938528"/>
            <a:ext cx="4983480" cy="2880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 deploy boundary at the existing wire - the backend moves to its own process; consumers keep the same API.</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 registry that loads journey adapters at deploy or runtime, replacing the hardcoded list.</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Versioning for the JSON artefacts, so consumers pin to a known schema and migrations stay explicit.</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 validator that reports all coherence violations in one pass: every obligationRef resolves, every fact and test exists, every schemaPath parses.</a:t>
            </a:r>
            <a:endParaRPr lang="en-US" sz="1250" dirty="0"/>
          </a:p>
        </p:txBody>
      </p:sp>
      <p:sp>
        <p:nvSpPr>
          <p:cNvPr id="11" name="Shape 9"/>
          <p:cNvSpPr/>
          <p:nvPr/>
        </p:nvSpPr>
        <p:spPr>
          <a:xfrm>
            <a:off x="548640" y="5212080"/>
            <a:ext cx="11064240" cy="1005840"/>
          </a:xfrm>
          <a:prstGeom prst="rect">
            <a:avLst/>
          </a:prstGeom>
          <a:solidFill>
            <a:srgbClr val="EEF7F0"/>
          </a:solidFill>
          <a:ln w="19050">
            <a:solidFill>
              <a:srgbClr val="00703C"/>
            </a:solidFill>
            <a:prstDash val="solid"/>
          </a:ln>
        </p:spPr>
        <p:txBody>
          <a:bodyPr/>
          <a:lstStyle/>
          <a:p>
            <a:endParaRPr lang="en-US"/>
          </a:p>
        </p:txBody>
      </p:sp>
      <p:sp>
        <p:nvSpPr>
          <p:cNvPr id="12" name="Text 10"/>
          <p:cNvSpPr/>
          <p:nvPr/>
        </p:nvSpPr>
        <p:spPr>
          <a:xfrm>
            <a:off x="777240" y="5212080"/>
            <a:ext cx="10607040" cy="1005840"/>
          </a:xfrm>
          <a:prstGeom prst="rect">
            <a:avLst/>
          </a:prstGeom>
          <a:noFill/>
          <a:ln/>
        </p:spPr>
        <p:txBody>
          <a:bodyPr wrap="square" lIns="0" tIns="0" rIns="0" bIns="0" rtlCol="0" anchor="ctr"/>
          <a:lstStyle/>
          <a:p>
            <a:pPr marL="0" indent="0">
              <a:buNone/>
            </a:pPr>
            <a:r>
              <a:rPr lang="en-US" sz="1300" b="1" dirty="0">
                <a:solidFill>
                  <a:srgbClr val="00703C"/>
                </a:solidFill>
                <a:latin typeface="Calibri" pitchFamily="34" charset="0"/>
                <a:ea typeface="Calibri" pitchFamily="34" charset="-122"/>
                <a:cs typeface="Calibri" pitchFamily="34" charset="-120"/>
              </a:rPr>
              <a:t xml:space="preserve">The replacement statement. </a:t>
            </a:r>
            <a:r>
              <a:rPr lang="en-US" sz="1300" dirty="0">
                <a:solidFill>
                  <a:srgbClr val="0B0C0C"/>
                </a:solidFill>
                <a:latin typeface="Calibri" pitchFamily="34" charset="0"/>
                <a:ea typeface="Calibri" pitchFamily="34" charset="-122"/>
                <a:cs typeface="Calibri" pitchFamily="34" charset="-120"/>
              </a:rPr>
              <a:t>Today, form structure lives in field config, reference data in other microservices, journey rules in frontend handler code: a change crossing two concerns crosses two systems. With this design they are co-located per journey behind one surface: the consumer asks one service what the user should see next and what submission requires.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sessions/relaxed-epic-ritchie/mnt/Field Config Analysis/slide-visuals/questions-answers-model.png"/>
          <p:cNvPicPr>
            <a:picLocks noChangeAspect="1"/>
          </p:cNvPicPr>
          <p:nvPr/>
        </p:nvPicPr>
        <p:blipFill>
          <a:blip r:embed="rId3"/>
          <a:stretch>
            <a:fillRect/>
          </a:stretch>
        </p:blipFill>
        <p:spPr>
          <a:xfrm>
            <a:off x="1592568" y="164592"/>
            <a:ext cx="9006864" cy="65294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616</TotalTime>
  <Words>3934</Words>
  <Application>Microsoft Macintosh PowerPoint</Application>
  <PresentationFormat>Widescreen</PresentationFormat>
  <Paragraphs>365</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 Config: origin, problems, and our goal</dc:title>
  <dc:subject>PptxGenJS Presentation</dc:subject>
  <dc:creator>Ben</dc:creator>
  <cp:lastModifiedBy>Ben Letton</cp:lastModifiedBy>
  <cp:revision>4</cp:revision>
  <dcterms:created xsi:type="dcterms:W3CDTF">2026-06-11T18:07:32Z</dcterms:created>
  <dcterms:modified xsi:type="dcterms:W3CDTF">2026-06-12T08:57:24Z</dcterms:modified>
</cp:coreProperties>
</file>